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2000" cy="6858000" type="screen16x9"/>
  <p:notesSz cx="6858000" cy="9144000"/>
  <p:defaultTextStyle>
    <a:defPPr>
      <a:defRPr lang="vi"/>
    </a:defPPr>
    <a:lvl1pPr marL="0" algn="l" defTabSz="457200" rtl="0" eaLnBrk="1" latinLnBrk="0" hangingPunct="1">
      <a:defRPr sz="1800" kern="1200" lang="vi">
        <a:solidFill>
          <a:schemeClr val="tx1"/>
        </a:solidFill>
        <a:latin typeface="+mn-lt"/>
        <a:ea typeface="+mn-ea"/>
        <a:cs typeface="+mn-cs"/>
      </a:defRPr>
    </a:lvl1pPr>
    <a:lvl2pPr marL="457200" algn="l" defTabSz="457200" rtl="0" eaLnBrk="1" latinLnBrk="0" hangingPunct="1">
      <a:defRPr sz="1800" kern="1200" lang="vi">
        <a:solidFill>
          <a:schemeClr val="tx1"/>
        </a:solidFill>
        <a:latin typeface="+mn-lt"/>
        <a:ea typeface="+mn-ea"/>
        <a:cs typeface="+mn-cs"/>
      </a:defRPr>
    </a:lvl2pPr>
    <a:lvl3pPr marL="914400" algn="l" defTabSz="457200" rtl="0" eaLnBrk="1" latinLnBrk="0" hangingPunct="1">
      <a:defRPr sz="1800" kern="1200" lang="vi">
        <a:solidFill>
          <a:schemeClr val="tx1"/>
        </a:solidFill>
        <a:latin typeface="+mn-lt"/>
        <a:ea typeface="+mn-ea"/>
        <a:cs typeface="+mn-cs"/>
      </a:defRPr>
    </a:lvl3pPr>
    <a:lvl4pPr marL="1371600" algn="l" defTabSz="457200" rtl="0" eaLnBrk="1" latinLnBrk="0" hangingPunct="1">
      <a:defRPr sz="1800" kern="1200" lang="vi">
        <a:solidFill>
          <a:schemeClr val="tx1"/>
        </a:solidFill>
        <a:latin typeface="+mn-lt"/>
        <a:ea typeface="+mn-ea"/>
        <a:cs typeface="+mn-cs"/>
      </a:defRPr>
    </a:lvl4pPr>
    <a:lvl5pPr marL="1828800" algn="l" defTabSz="457200" rtl="0" eaLnBrk="1" latinLnBrk="0" hangingPunct="1">
      <a:defRPr sz="1800" kern="1200" lang="vi">
        <a:solidFill>
          <a:schemeClr val="tx1"/>
        </a:solidFill>
        <a:latin typeface="+mn-lt"/>
        <a:ea typeface="+mn-ea"/>
        <a:cs typeface="+mn-cs"/>
      </a:defRPr>
    </a:lvl5pPr>
    <a:lvl6pPr marL="2286000" algn="l" defTabSz="457200" rtl="0" eaLnBrk="1" latinLnBrk="0" hangingPunct="1">
      <a:defRPr sz="1800" kern="1200" lang="vi">
        <a:solidFill>
          <a:schemeClr val="tx1"/>
        </a:solidFill>
        <a:latin typeface="+mn-lt"/>
        <a:ea typeface="+mn-ea"/>
        <a:cs typeface="+mn-cs"/>
      </a:defRPr>
    </a:lvl6pPr>
    <a:lvl7pPr marL="2743200" algn="l" defTabSz="457200" rtl="0" eaLnBrk="1" latinLnBrk="0" hangingPunct="1">
      <a:defRPr sz="1800" kern="1200" lang="vi">
        <a:solidFill>
          <a:schemeClr val="tx1"/>
        </a:solidFill>
        <a:latin typeface="+mn-lt"/>
        <a:ea typeface="+mn-ea"/>
        <a:cs typeface="+mn-cs"/>
      </a:defRPr>
    </a:lvl7pPr>
    <a:lvl8pPr marL="3200400" algn="l" defTabSz="457200" rtl="0" eaLnBrk="1" latinLnBrk="0" hangingPunct="1">
      <a:defRPr sz="1800" kern="1200" lang="vi">
        <a:solidFill>
          <a:schemeClr val="tx1"/>
        </a:solidFill>
        <a:latin typeface="+mn-lt"/>
        <a:ea typeface="+mn-ea"/>
        <a:cs typeface="+mn-cs"/>
      </a:defRPr>
    </a:lvl8pPr>
    <a:lvl9pPr marL="3657600" algn="l" defTabSz="457200" rtl="0" eaLnBrk="1" latinLnBrk="0" hangingPunct="1">
      <a:defRPr sz="1800" kern="1200" lang="vi">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  <Relationship Id="rId3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
          </a:p>
        </p:txBody>
      </p:sp>
    </p:spTree>
  </p:cSld>
  <p:clrMap bg1="lt1" tx1="dk1" bg2="lt2" tx2="dk2" accent1="accent1" accent2="accent2" accent3="accent3" accent4="accent4" accent5="accent5" accent6="accent6" hlink="hlink" folHlink="folHlink"/>
  <p:hf/>
  <p:notesStyle>
    <a:lvl1pPr marL="0" algn="l">
      <a:defRPr sz="1200" lang="vi"/>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Hôm nay chúng ta đọc Sparse Feature Circuits, của Marks, Rager, Michaud, Belinkov, Bau và Mueller, được nhận dạng oral tại ICLR 2025. Con số lớn bên trái là chỗ tôi muốn các bạn giữ trong đầu suốt buổi: để giải thích phần lớn hành vi chia động từ của Pythia-70M, paper cần khoảng một trăm node feature, trong khi làm cùng việc đó bằng neuron thì cần khoảng một nghìn năm trăm. Chênh lệch mười lăm lần này không đến từ một thuật toán tìm kiếm tốt hơn, mà đến từ việc đổi đơn vị phân tích. Toàn bộ buổi hôm nay là để hiểu vì sao đổi đơn vị lại quan trọng đến thế, và đổi xong thì làm được gì.</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Trước khi vào phương pháp, tôi muốn đặt một tình huống cụ thể, vì nó là thứ paper này cuối cùng giải quyết được. Giả sử bạn có một classifier đọc tiểu sử để đoán nghề nghiệp, và bạn phát hiện nó đang đoán theo giới tính chứ không theo nội dung nghề. Bạn muốn gỡ tín hiệu đó ra. Vấn đề nằm ở dòng thứ hai: dữ liệu train của bạn chỉ có nam giáo sư và nữ y tá, nên giới tính dự báo nhãn đúng một trăm phần trăm. Hai tín hiệu trùng khớp hoàn toàn. Và đây là chỗ mọi phương pháp debias tiêu chuẩn dừng lại, vì tất cả chúng đều cần dữ liệu trong đó tín hiệu không mong muốn dự báo kém hơn tín hiệu đích. Không có một mẫu nào để nói cho model biết nó đang sai. Paper này lấy tín hiệu phân định từ một chỗ khác hẳn, ghi ở khung dưới cùng: từ việc một người mở model ra, đọc xem bên trong có gì, và chỉ vào thứ không nên có. Muốn làm được như vậy thì bên trong model phải đọc được, và đó là lý do phần lớn buổi hôm nay nói về đơn vị phân tích.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Để thấy paper này mới ở chỗ nào, cần biết trước nó có hai dòng nghiên cứu. Dòng thứ nhất là circuit trên component thô: induction heads của Olsson năm 2022, ROME của Meng cùng năm, circuit IOI của Wang năm 2023, và ACDC của Conmy cũng năm 2023. Những công trình này quy hành vi về attention head hoặc module MLP, và chúng làm rất tốt việc chỉ ra bộ phận nào tham gia. Chỗ hỏng là các bộ phận đó polysemantic: một head tham gia nhiều chức năng khác nhau, nên cái nhãn bạn gán cho nó không dùng được vào việc gì tiếp theo. Bạn không thể tắt head số bảy để bỏ một thiên kiến, vì head đó còn làm việc khác. Dòng thứ hai đi theo hướng ngược lại, dùng đơn vị mịn hơn nhưng phải có giám sát: TCAV của Kim năm 2018, probing mà Belinkov tổng kết năm 2022, causal abstraction của Geiger, representation engineering của Zou. Nhóm này khớp nội bộ model vào một giả thuyết do người nghiên cứu nêu, trên dữ liệu do người nghiên cứu soạn, nên chỉ chạy được khi đã biết trước cần tìm gì. Ghép hai chỗ hỏng lại thì ra câu ở dưới: không dòng nào giải thích được nhiều hành vi không lường trước, ở quy mô lớn. Đó đúng là hai điều kiện mà paper đặt ra cho chính mình.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Bây giờ tôi giải thích vì sao neuron không phải đơn vị đúng, vì đây là nền của mọi thứ sau đó. Nhìn sơ đồ bên trái. Residual stream của Pythia-70M có năm trăm mười hai chiều, nhưng model cần biểu diễn số concept lớn hơn con số đó rất nhiều. Elhage và cộng sự năm 2022 chỉ ra mạng giải quyết bằng cách gán mỗi concept một hướng trong không gian đó, và các hướng ấy không trực giao với nhau. Hệ quả nằm ở mũi tên: mỗi trục toạ độ, tức mỗi neuron, nhận đóng góp từ nhiều concept, nên nó kích hoạt trên những ngữ cảnh chẳng liên quan gì nhau. Đó là polysemantic. Bảng bên phải là bằng chứng định lượng. Crowdworker chấm mức độ diễn giải được trên thang không tới một trăm. Neuron lấy ngẫu nhiên được ba mươi hai phẩy sáu, còn SAE feature lấy ngẫu nhiên được năm mươi hai phẩy tám, tức hơn khoảng hai mươi điểm. Nhưng chỗ đáng chú ý hơn nằm ở việc đọc bảng theo chiều dọc. Với neuron, những neuron có ảnh hưởng nhân quả lớn nhất lên tác vụ agreement chỉ được ba mươi phẩy hai, tức còn khó hiểu hơn cả neuron lấy ngẫu nhiên. Với feature thì ngược lại hoàn toàn: feature nằm trong circuit được sáu mươi hai phẩy ba trên agreement, và tám mươi mốt phẩy năm trên Bias in Bios. Nói cách khác, đây không phải chuyện chúng ta chưa cố đủ. Đơn vị phân tích sai.</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Từ đó paper nêu hai thách thức phải giải cùng lúc, và tôi nhấn mạnh chữ cùng lúc. Thách thức thứ nhất là đơn vị phân tích: phải mịn mà vẫn diễn giải được. Neuron thì mịn nhưng hiếm khi diễn giải được, như ta vừa thấy; còn hướng tìm bằng probing thì diễn giải được nhưng lại cần một giả thuyết có sẵn, nên không dùng cho hành vi chưa ai nghĩ tới. Thách thức thứ hai là chi phí. Riêng Pythia-70M đã có sáu layer, mỗi layer bốn submodule, mỗi submodule ba mươi hai nghìn bảy trăm sáu mươi tám feature, và còn nhân với từng vị trí token. Chạy patching riêng cho từng node là bất khả thi. Giải được một thách thức mà không giải cái kia thì không ra được phương pháp. Một chú thích nhỏ ở khung dưới: khi paper nói neuron, họ hiểu theo nghĩa rộng là một hướng trùng trục cơ sở trong không gian ẩn, không nhất thiết phải đứng sau một phi tuyến. Nói vậy để lát nữa khi so sánh feature với neuron thì phép so sánh là công bằng.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Trước khi vào phương pháp, tôi dành một phút cho bối cảnh, vì nó trả lời câu hỏi vì sao paper này xuất hiện đúng tháng ba năm 2024 chứ không sớm hơn. Có ba nhánh chạy song song. Nhánh circuit analysis đi từ Zoom In năm 2020, qua Mathematical Framework năm 2021, induction heads năm 2022, IOI và ACDC năm 2023. Nhánh đơn vị diễn giải được đi từ Toy Models of Superposition năm 2022, qua Towards Monosemanticity cuối 2023, tới Gemma Scope năm 2024. Nhánh thứ ba lo chi phí, từ Integrated Gradients năm 2017, attribution patching năm 2022, EAP năm 2023 và AtP sao năm 2024. Sparse Feature Circuits chính là chỗ ba nhánh gặp nhau, và đúng là ba điều kiện cùng chín một lúc như dòng dưới cùng ghi: SAE đã đủ tốt và công khai, attribution patching đã được chứng minh đủ chính xác, và có động lực từ AI safety về việc gỡ tín hiệu không mong muốn khi không có dữ liệu phân định. Nếu thiếu một trong ba thì paper này không viết được ở thời điểm đó.</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Bây giờ vào thành phần thứ nhất của lời giải, là sparse autoencoder. Công thức ở giữa nói rằng một activation x được tách thành ba phần cộng lại. Tôi gọi tên từng ký hiệu trước. v chỉ số i là feature vector, chính là một cột của ma trận giải mã và được ràng buộc là vector đơn vị, tức nó là một hướng. f chỉ số i của x là mức kích hoạt của feature đó trên input này, luôn không âm và bị ép phải thưa. b là bias. Và epsilon của x là phần mà SAE không tái tạo được, gọi là SAE error. Đọc lại cả công thức thì nó nói: activation bằng tổng có trọng số của các hướng học được, cộng bias, cộng phần dư. Hai bộ SAE được dùng trong paper khác nhau đáng kể. Với Pythia-70M, nhóm tự train, encoder là ReLU cộng phạt L1, bề rộng gấp sáu mươi bốn lần số chiều, và có SAE cho cả embedding, attention, MLP lẫn residual stream. Với Gemma-2-2B, họ dùng Gemma Scope có sẵn, encoder JumpReLU, bề rộng mười sáu nghìn ba trăm tám mươi tư, chọn bản có L0 gần một trăm nhất, và không dùng SAE cho embedding vì bản đó chỉ có bốn nghìn chiều. Một con số nên nhớ ở dòng cuối, vì nó là giới hạn thật của công cụ: trong bộ SAE mà chính nhóm train cho Pythia, chỉ mười hai tới bốn mươi bốn phần trăm feature còn sống, phần lớn còn lại là dead feature.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Trang này là quyết định thiết kế riêng của paper, và theo tôi là đóng góp đáng kể nhất về mặt phương pháp. Khi SAE tái tạo một activation thì luôn có sai số, phần dư đó là epsilon. Cách thông thường, bên trái, là vứt nó đi. Làm vậy thì circuit trông sạch, nhưng nó không trung thực, và sai số cộng dồn qua từng layer. Cách của paper, bên phải, là đưa epsilon vào graph như một loại node riêng, vẽ bằng hình tam giác và gán nhãn theo vị trí của nó. Đánh đổi rất rõ ràng. Cái phải trả là error node có năm trăm mười hai hoặc hai nghìn ba trăm lẻ tư chiều, không đọc được, không diễn giải được. Cái mua được là nếu error node có indirect effect lớn thì đó chính là một bằng chứng định lượng cho biết SAE còn thiếu bao nhiêu. Nói cách khác, paper biến phần chưa giải thích được thành một đại lượng đo được thay vì giấu nó đi. Và họ đo thật: Figure 3 cho thấy bỏ error node của residual stream là phá hỏng model, còn bỏ error node của attention và MLP thì ít ảnh hưởng hơn nhiều. Hàm ý là residual stream còn chứa rất nhiều thông tin mà SAE chưa mã hoá được, và paper vẽ điều đó thành một đường riêng trên đồ thị chứ không giấu.</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Thành phần thứ hai là cách đo ảnh hưởng của một node. Công thức ở giữa là định nghĩa indirect effect, nhập khẩu nguyên vẹn từ causal mediation analysis của Pearl năm 2001. Đọc nó như sau: chạy model trên input sạch, rồi ép node a mang giá trị mà nó có khi chạy input đối chứng, và lấy hiệu của metric giữa hai lần chạy. Ký hiệu do ngoặc đơn là toán tử can thiệp, và điểm quan trọng là nó khác điều kiện hoá: nó nói hãy ép a nhận giá trị này và cắt mọi nguyên nhân sinh ra a. Ví dụ cụ thể của paper ở dòng dưới công thức: input sạch là The teacher, input đối chứng là The teachers, và metric là log xác suất của are trừ log xác suất của is. Ba ô dưới cùng là ba cách vô hiệu hoá một node, và paper dùng cả ba ở ba chỗ khác nhau. Patching, tức thay bằng giá trị từ input khác, dùng khi có cặp tương phản, tức phần subject verb agreement. Zero ablation, tức ép về không, dùng khi chỉ có một input, tức phần SHIFT và phần quy mô lớn. Mean ablation, tức thay bằng giá trị trung bình tính riêng theo từng vị trí token, dùng để đo faithfulness. Lý do dùng mean cho faithfulness là nó biểu diễn hiệu năng của model khi nó biết về task nhưng không biết gì về input cụ thể, còn zero ablation sẽ đẩy model ra ngoài phân phối dữ liệu.</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Định nghĩa vừa rồi đẹp nhưng không chạy được, vì tính trực tiếp thì mỗi node cần một forward pass. Trang này là cách paper làm cho nó chạy được. Công thức là khai triển Taylor bậc nhất của indirect effect: lấy gradient của metric theo node, tại điểm sạch, rồi nhân với hiệu giữa giá trị đối chứng và giá trị sạch. Xuất xứ là blog của Nanda năm 2022, sau đó Syed năm 2023 và Kramár năm 2024 phân tích thêm. So sánh chi phí là chỗ cần nhấn. Patching chính xác tốn một forward pass cho mỗi node, và ACDC chạy đúng như vậy trên từng edge, nên chi phí của nó tỉ lệ với số edge. Attribution patching thì chỉ tốn hai forward cộng một backward pass cho toàn bộ node cùng lúc, không phụ thuộc vào số node. Đó là bước nhảy khiến việc quét ba mươi hai nghìn feature nhân bốn submodule nhân sáu layer nhân từng vị trí token trở thành khả thi. Dòng cuối là điều kiện để xấp xỉ đúng, và nó dẫn thẳng sang trang sau: khai triển bậc nhất chỉ đúng khi metric gần tuyến tính quanh điểm sạch, nên nó hỏng khi hiệu giữa hai giá trị lớn.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Điều tôi thích ở paper này là họ không giả định xấp xỉ đó đúng, họ đo. Hai hình đây là Figure 25, chạy trên ba mươi input của tập across relative clause. Cách đọc hình: trục ngang là indirect effect thật, trục dọc là giá trị xấp xỉ, mỗi điểm là một SAE feature hoặc một SAE error tại một vị trí token, và đường chéo là chỗ xấp xỉ khớp hoàn toàn. Nhìn hình bên trái trước, đó là attribution patching. Phần lớn các ô bám khá sát đường chéo, nhưng hãy nhìn ô tôi khoanh, là Layer 0 ở hàng residual stream. Các điểm nằm hẳn dưới đường chéo, tức xấp xỉ ước lượng thấp hơn giá trị thật. Điều tương tự xảy ra ở hàng MLP layer 0. Bây giờ nhìn sang hình bên phải, là integrated gradients trên đúng dữ liệu đó, và đúng ô ấy các điểm đã bám sát đường chéo trở lại. Vì sao lại hỏng đúng chỗ đó thì có lý do rõ ràng: layer đầu là nơi activation biến động mạnh nhất giữa các token khác nhau, tức hiệu giữa giá trị đối chứng và giá trị sạch lớn nhất, tức khai triển bậc nhất kém nhất. Integrated gradients lấy trung bình gradient trên mười điểm dọc đường nội suy giữa hai giá trị nên không bị bẫy đó. Chi phí gấp mười lần, và paper chọn trả, nên mọi thí nghiệm chính trong paper đều dùng integrated gradients.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Bây giờ ghép hết lại thành quy trình, và đây là hình quan trọng nhất của paper. Bước một, chạy model trên cả input sạch lẫn input đối chứng, và cache lại mọi giá trị f và epsilon tại mọi submodule có SAE, cùng với metric. Bước hai, backpropagate một lần và lưu gradient của metric theo từng f và từng epsilon. Chỉ một backward pass cho tất cả, đó là lý do quy trình này chạy nổi. Bước ba, tính effect cho từng node, lấy trung bình trên tập dữ liệu, rồi giữ lại những node có giá trị tuyệt đối vượt ngưỡng T chỉ số N. Bước bốn làm tương tự cho edge với ngưỡng T chỉ số E. Hai chi tiết đáng nói thêm ở cột phải. Thứ nhất, trọng số của một edge không phải là ảnh hưởng tổng của node trên lên metric, mà chỉ là ảnh hưởng đi qua đường trực tiếp tới node dưới, cắt bỏ mọi đường vòng qua node trung gian. Thứ hai, cách gộp qua vị trí token khác nhau tuỳ dữ liệu: với dữ liệu templatic, tức các câu cùng khuôn, họ giữ nguyên vị trí và coi cùng một feature ở hai vị trí là hai node khác nhau; với dữ liệu không templatic thì cộng effect qua các vị trí trước rồi mới lấy trung bình qua các ví dụ.</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Trang này là phần dễ bị bỏ qua khi đọc paper, nhưng không có nó thì phương pháp đơn giản là không chạy. Thủ thuật a: sau khi tính f và epsilon, họ gán lại x bằng chính tổng đó. Về mặt số học x không đổi gì cả, nhưng sau phép gán thì computation graph của PyTorch có chứa f và epsilon như biến, nên backward pass tự động sinh gradient cho chúng. Thủ thuật b giải quyết một cái bẫy: nếu tính epsilon bằng x trừ x mũ một cách trực tiếp thì khi lấy gradient theo f, hai số hạng triệt tiêu nhau và gradient bằng không hoàn toàn. Họ khắc phục bằng cách bọc phần dư trong stop gradient. Thủ thuật c sửa hệ quả của b: stop gradient lại chặn gradient chảy ngược lên các node phía trên, nên họ can thiệp vào backward pass để khôi phục đúng giá trị đó. Thủ thuật d là chuyện hiệu năng: khi node dưới là SAE error, tính trọng số edge theo cách ngây thơ tốn số backward pass bằng số chiều của model, nhưng dùng một đẳng thức về gradient thì chỉ cần hai. Hình bên phải là để các bạn thấy đầu ra thật của quy trình trông như thế nào: đây là circuit within relative clause đầy đủ của Gemma-2-2B, với T chỉ số N bằng không phẩy năm và T chỉ số E bằng không phẩy không năm. Không ai đọc được cái này bằng mắt, và đó chính là lý do hai ngưỡng kia phải được chỉnh bằng tay cho tới khi circuit đủ nhỏ để một người ngồi chú thích.</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Thí nghiệm đầu tiên kiểm phương pháp trên một tác vụ đã được nghiên cứu kỹ, là chia động từ theo số của chủ ngữ. Có bốn biến thể, xếp theo độ khó cú pháp tăng dần. Simple là trường hợp dễ nhất, chủ ngữ đứng ngay trước động từ, và metric là hiệu log xác suất giữa is và are. Within relative clause thì động từ nằm trong mệnh đề quan hệ. Across relative clause thì model phải nhớ số của chủ ngữ chính qua cả một mệnh đề quan hệ xen giữa. Across prepositional phrase thì qua một cụm giới từ. Điểm cần nhấn là mỗi cặp input chỉ khác nhau đúng một thứ, là số ngữ pháp của chủ ngữ, nên hiệu quả đo được quy về đúng thứ đó. Dữ liệu phỏng theo Finlayson và cộng sự năm 2021, và đó cũng chính là công trình phát hiện ra rằng model xử lý simple agreement theo cách khác với agreement qua mệnh đề quan hệ và cụm giới từ. Lát nữa chúng ta sẽ thấy paper này xác nhận lại điều đó ở mức feature.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Có circuit rồi thì phải trả lời được câu hỏi circuit này tốt hay không, và paper dùng ba tiêu chí. Thứ nhất là interpretability, đo bằng cách cho crowdworker chấm từ không tới một trăm trên các đoạn văn bản kích hoạt mạnh nhất từng đơn vị, đó chính là bảng số chúng ta đã xem ở trang bốn. Thứ hai là faithfulness, và công thức ở giữa nói rõ nó là gì: lấy giá trị metric khi chỉ giữ circuit và mean ablate mọi thứ ngoài nó, trừ đi giá trị khi ablate tất cả, rồi chia cho hiệu giữa full model và ablate tất cả. Đọc ra tiếng Việt thì đó là phần hiệu năng của model mà circuit giải thích được, lý tưởng bằng một. Một chi tiết nên biết là faithfulness có thể vượt quá một, nếu circuit chạy tốt hơn cả full model, và hiện tượng đó đã thấy trong các paper circuit khác. Thứ ba là completeness, đo bằng chính faithfulness của phần bù, tức phần còn lại sau khi bỏ circuit ra, và lý tưởng bằng không, nghĩa là phần còn lại không làm được task. Dòng cuối là chỗ tôi nghĩ nên nêu thẳng: khi đánh giá, paper bỏ một phần ba circuit ở các layer đầu. Lý do họ đưa ra là component ở layer đầu gắn với token cụ thể, mà train split và test split không dùng chung token nên phần đó không đánh giá được trên dữ liệu held out. Đây là một lựa chọn phương pháp luận hợp lý nhưng có thể chất vấn, và paper không báo cáo faithfulness khi giữ đủ cả circuit.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Đây là kết quả chính của thí nghiệm thứ nhất. Trục ngang của cả bốn ô là số node trong circuit, trục dọc là faithfulness ở cột trái và completeness ở cột phải, hàng trên là Pythia-70M và hàng dưới là Gemma-2-2B. Nhìn đường xanh dương, là feature circuit, và đường tím, là neuron circuit. Với Pythia, đường feature đã lên gần bão hoà ở khoảng một trăm node, trong khi đường neuron cần khoảng một nghìn năm trăm mới đạt mức tương đương, tức chênh khoảng mười lăm lần. Với Gemma thì khoảng cách rộng ra: khoảng năm trăm so với khoảng năm mươi nghìn, tức chênh khoảng một trăm lần. Cột completeness bên phải cũng đáng nhìn: chỉ cần ablate vài node trong feature circuit là xoá sạch khả năng làm task, và điều này đúng ngay cả khi giữ nguyên toàn bộ SAE error node, còn với neuron thì cần hàng trăm tới hàng nghìn node. Paper tự nêu một cảnh báo về phép so sánh, và tôi nghĩ nên nhắc lại: SAE error node là vector nhiều chiều và thô, không so trực tiếp với một neuron được. Vì thế họ vẽ thêm hai đường đối chứng, và đường đỏ, là circuit bỏ hết error node, tụt hẳn xuống. Đó lại là bằng chứng cho điều đã nói ở trang tám: residual stream chứa rất nhiều thứ mà SAE chưa mã hoá được.</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Con số thì thuyết phục, nhưng câu hỏi thật là circuit đó đọc ra được cái gì. Hai hình đây là bản tóm tắt của circuit across relative clause, bên trái là Pythia với tám mươi sáu node, bên phải là Gemma với hai trăm hai mươi ba node, cả hai ở mức faithfulness không phẩy hai mốt. Ngưỡng được chọn cố ý để circuit đủ nhỏ cho việc chú thích tay mà faithfulness vẫn trên không phẩy hai. Cách đọc hình: hình vuông là số node feature trong nhóm, hình tam giác là số node SAE error, và độ đậm thể hiện tổng indirect effect. Thuật toán đọc ra được là hai đường song song, và cả hai model đều dùng. Đường thứ nhất, các feature phát hiện số của chủ ngữ chính rồi thúc đẩy trực tiếp dạng động từ khớp. Đường thứ hai xuất phát từ cùng chỗ nhưng chuyển thông tin số tới cuối mệnh đề quan hệ bằng một nhóm feature phát hiện ranh giới cụm giới từ hoặc mệnh đề quan hệ. Gemma có thêm loại thứ ba mà Pythia không có, gọi là NP number tracker: nó phát hiện số của danh từ trung tâm trong một noun phrase và giữ kích hoạt trên mọi token cho tới hết noun phrase đó, mạnh nhất ở token cuối. Ví dụ cụ thể là feature resid mười hai gạch chéo mười ba nghìn năm trăm sáu mươi mốt, và điều hay là nó không kích hoạt trên danh từ số ít đóng vai trò gây nhiễu nằm bên trong một noun phrase số nhiều. Dòng cuối là một xác nhận lại Finlayson: across relative clause và across prepositional phrase chồng nhau rất nhiều, tức model xử lý hai cấu trúc cú pháp khác nhau bằng gần như cùng một cơ chế, trong khi simple và within relative clause thì ít chồng hơn.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Bây giờ sang phần mà theo tôi làm nên giá trị của paper, vì nó biến circuit từ một hình vẽ thành một công cụ. Quay lại tình huống mở đầu. Khái niệm then chốt ở khung trên là dữ liệu phân định: dữ liệu trong đó tín hiệu không mong muốn dự báo nhãn kém hơn tín hiệu đích. Gần như mọi phương pháp xử lý tương quan giả trước đây đều cần nó ở dạng nào đó. Paper nêu ba lý do giả định đó có thể sai. Thứ nhất, input của các class có thể đến từ những nguồn dữ liệu khác nhau, và ví dụ kinh điển là Zech và cộng sự năm 2018, khi một model phát hiện viêm phổi hoá ra học theo đặc điểm máy chụp X quang của từng bệnh viện. Thứ hai, trong huấn luyện bằng phản hồi người với dịch chuyển từ dễ sang khó, được người giám sát chấp thuận và hành vi đúng mong muốn dự báo reward label ngang nhau, nên không có gì phân định hai thứ đó. Thứ ba, và đây là lý do nguyên tắc, vấn đề của tín hiệu không mong muốn nằm ở chỗ nó không mong muốn, chứ không phải ở chỗ nó kém dự báo. Đây là câu tôi muốn các bạn giữ, vì nó là lý do SHIFT phải đi tìm nguồn tín hiệu phân định ở một chỗ hoàn toàn khác.</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SHIFT là viết tắt của Sparse Human interpretable Feature Trimming, và nó chỉ có bốn bước. Bước một, dùng đúng phương pháp ở phần hai để tính một feature circuit, nhưng lần này circuit giải thích độ chính xác của classifier trên dữ liệu, với metric là âm log xác suất mà classifier gán cho nhãn đúng. Bước hai, một người ngồi xem từng feature trong circuit và đánh giá xem nó có liên quan tới task hay không. Bước ba, ablate những feature bị đánh giá là không liên quan, thu được classifier mới. Bước bốn là tuỳ chọn, fine tune lại classifier mới trên chính dữ liệu ban đầu. Lý do có bước bốn là bước ba gỡ được phụ thuộc vào tín hiệu không mong muốn nhưng cũng có thể làm hỏng luôn hiệu năng cho tín hiệu mong muốn, và bước bốn khôi phục phần đó. Điều cần nhấn nằm ở khung dưới: bước hai là chỗ duy nhất cần con người, và cũng là nơi tín hiệu phân định đi vào. Người chú thích duyệt feature bằng giao diện Neuronpedia, tức họ có dùng thêm dữ liệu không nhãn, nhưng không dùng thêm bất kỳ dữ liệu có nhãn nào ngoài tập ambiguous.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Thí nghiệm dùng dataset Bias in Bios của De Arteaga năm 2019, gồm tiểu sử nghề nghiệp, nhãn đích là nghề và nhãn tương quan giả là giới tính. Paper cắt ra hai tập con. Tập ambiguous chỉ gồm tiểu sử của nam giáo sư mang nhãn không và nữ y tá mang nhãn một, nên giới tính dự báo nhãn đúng một trăm phần trăm, đây là trường hợp xấu nhất có thể dựng được. Tập balanced có số lượng bằng nhau của cả bốn nhóm, và chỉ được dùng để đo chứ không được dùng để tạo ra classifier. Luật chơi ở giữa trang là điều làm bài toán này khó: chỉ được dùng tập ambiguous, và phải tạo ra một classifier nghề nghiệp chạy đúng trên tập balanced. Về kỹ thuật, classifier được tạo bằng cách lấy trung bình residual stream ở một layer trên các token không phải padding, rồi train một linear head bằng hồi quy logistic. Pythia chọn layer bốn theo accuracy trên test split của chính tập ambiguous. Với Gemma thì nhiều layer cho hiệu năng ngang nhau, nên riêng lựa chọn này họ dùng tập balanced để chọn layer hai mươi hai, là layer mà baseline generalize tệ nhất, tức tạo dư địa cải thiện lớn nhất; và họ nói rõ là không bao giờ tune hyperparameter theo hiệu năng của SHIFT trên tập balanced. Cột phải là quy mô việc chú thích: circuit của Pythia có sáu mươi bảy feature và người chú thích loại năm mươi lăm, circuit của Gemma có bốn mươi sáu và loại bốn mươi ba. Riêng với Gemma Scope còn một vướng mắc là BOS feature, những feature chỉ kích hoạt trên token bắt đầu câu, có indirect effect lớn nhưng không diễn giải được, nên chúng bị loại khỏi việc chú thích, khỏi SHIFT và khỏi cả feature skyline.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Đây là bảng kết quả chính, và tôi đề nghị đừng đọc nó theo hàng. Đọc theo bốn phép so sánh. Trước hết, mọi con số đều đo trên tập balanced, và với cột Gender thì càng gần năm mươi càng tốt vì năm mươi nghĩa là classifier đoán ngẫu nhiên về giới tính. Phép so sánh thứ nhất, SHIFT cộng retrain với Oracle: chín mươi ba phẩy một so với chín mươi ba phẩy không ở Pythia, và chín mươi lăm phẩy không so với chín mươi lăm phẩy không ở Gemma. Oracle là classifier được train trên nhãn thật của tập balanced, còn SHIFT không thấy một nhãn nào ngoài tập ambiguous. Hai con số bằng nhau. Phép so sánh thứ hai, Random ablation với Original: sáu mươi mốt phẩy tám so với sáu mươi mốt phẩy chín. Ablate đúng bằng số lượng feature nhưng chọn ngẫu nhiên thì không thay đổi gì cả. Nghĩa là hiệu quả không đến từ việc ablate, mà đến từ việc chọn đúng cái để ablate. Phép so sánh thứ ba, SHIFT với Feature skyline ở cột worst group của Pythia: bảy mươi sáu phẩy không so với sáu mươi hai phẩy chín. Feature skyline được phép nhìn tập balanced để chọn feature nào ảnh hưởng nhiều nhất tới accuracy giới tính, còn người chú thích thì không được nhìn. Người thắng. Phép so sánh thứ tư, Neuron skyline ở cột worst group của Gemma: năm phẩy sáu, trong khi Original chưa làm gì là mười tám phẩy hai. Ablate neuron, kể cả neuron được chọn bằng cách xem đáp án, làm mọi thứ tệ hơn lúc chưa làm gì. Một ghi chú về baseline CBP: nó mạnh trên Gemma với chín mươi phẩy hai và tám mươi sáu phẩy bảy, nhưng nó cần biết trước task là gì để soạn hai mươi từ khoá, còn SHIFT thì không cần.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Trang này giải thích vì sao phép so sánh thứ tư lại ra kết quả như vậy, và tôi nghĩ đây là bằng chứng trực quan mạnh nhất của cả paper. Bên trái là một SAE feature, attention layer ba feature số hai hai không hai chín, lấy từ đúng tác vụ Bias in Bios. Những token được tô đậm là chỗ nó kích hoạt mạnh, và nhìn vào là thấy ngay: nó kích hoạt trên từ ngữ gắn với nữ giới trong tiểu sử phụ nữ, và nó còn thúc đẩy các từ như husband hay née. Người chú thích đọc xong thì kết luận được rằng nó góp phần vào tương quan giả về giới tính, nên ablate. Bên phải là một neuron, cũng từ tác vụ đó, cũng có ảnh hưởng nhân quả cao. Nó kích hoạt trên đầu và cuối câu, và mạnh hơn trên token nằm trong câu có chữ hoa hoặc chữ số. Bạn không suy ra được nó đóng góp gì cho việc phân loại giới tính hay nghề nghiệp. Hệ quả ghi ở dòng cuối: không có cơ sở nào để quyết định nên ablate neuron nào, nên paper bỏ hẳn phương án SHIFT với neuron và thay bằng neuron skyline, vốn có lợi thế không công bằng là được xem tập balanced. Mà vẫn thua, còn tệ hơn cả không làm gì. Lý do paper đưa ra là những neuron dính líu nhiều nhất vào phân loại giới tính cũng chính là những neuron cần cho phân loại nghề nghiệp, nên không tách được.</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Để thấy SHIFT khác về bản chất chứ không phải tốt hơn một chút, tôi đặt nó cạnh các phương pháp xử lý tương quan giả đã có. Group DRO của Sagawa tối ưu trực tiếp accuracy của nhóm kém nhất, nên cần nhãn nhóm và cần dữ liệu phân định. JTT của Liu không cần nhãn nhóm, nhưng cần trong dữ liệu có những mẫu mà tín hiệu spurious dự báo sai để mà upweight chúng ở vòng hai. DFR của Kirichenko train lại riêng layer cuối trên dữ liệu cân bằng. INLP và LEACE xoá concept bằng phép chiếu, nhưng cần nhãn của chính thuộc tính cần xoá, và ở đây thì chiếu bỏ hướng giới tính cũng chính là chiếu bỏ hướng nghề nghiệp vì hai nhãn trùng nhau hoàn toàn. Cân bằng lại dữ liệu cũng cần dữ liệu để mà cân bằng. CBP thì không cần dữ liệu phân định, nhưng phải soạn hai mươi từ khoá của task, tức phải biết trước task là gì. SHIFT là hàng duy nhất không cần cả ba điều kiện, và nguồn tín hiệu phân định của nó là phán đoán của một con người khi đọc feature. Đọc lại cột cuối theo chiều dọc thì thấy rõ: mọi phương pháp kia lấy tín hiệu phân định từ dữ liệu, SHIFT lấy từ con người.</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Phần cuối của paper là phần tham vọng nhất, và toàn bộ chạy trên Pythia-70M. Động lực là thế này: mọi công trình circuit trước đó đều cần một dataset do người soạn để định nghĩa hành vi cần giải thích, nhưng một mô hình ngôn ngữ có vô số hành vi mà con người không nghĩ ra nổi. Nên họ đảo ngược thứ tự: cluster trước, tìm circuit sau. Bước một, corpus là một tập con lớn của The Pile, và họ chỉ giữ lại những cặp gồm ngữ cảnh và token đáp án mà model dự đoán đúng và tự tin, với cross entropy dưới không phẩy một hoặc không phẩy ba nat tuỳ thí nghiệm. Họ còn chủ động bỏ các mẫu induction, tức mẫu mà cặp token cuối ngữ cảnh và token đáp án đã xuất hiện trước đó trong chính ngữ cảnh, vì model luôn đạt loss rất thấp trên induction nên nó sẽ lấn át mọi cluster khác. Mỗi mẫu được gán một vector, và họ thử nhiều lựa chọn khác nhau: dense activation, sparse activation, indirect effect của component dày, indirect effect thưa, và gradient theo tham số như Michaud đã làm. Bước hai, với mỗi cụm thu được, chạy biến thể zero ablation của đúng phương pháp ở phần hai. Về thuật toán, họ dùng spectral clustering trên tám nghìn một trăm chín mươi hai mẫu, và công thức dưới đây là bước chuẩn hoá: cosine similarity được đổi sang angular similarity để mọi phần tử nằm trong khoảng không tới một. Khi mở rộng lên một trăm nghìn mẫu thì spectral clustering không chạy nổi nữa nên họ chuyển sang k means trên một phép chiếu ngẫu nhiên thưa xuống ba mươi nghìn chiều. Ý tưởng gốc của toàn bộ bước một là của Michaud và cộng sự năm 2023, và Eric Michaud cũng là đồng tác giả của paper này.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Hai ví dụ cụ thể, và cả hai cho thấy cùng một điều. Cluster ba trăm tám mươi hai gom các trường hợp dự đoán số tiếp theo trong một dãy tăng dần, ví dụ như một mảng khai báo một, hai, ba rồi tới bốn, hoặc dãy Step một, Step hai, Step ba rồi Step bốn. Nhìn vào cluster thì tưởng đây là một cơ chế đếm. Nhưng circuit cho thấy nó là hợp của hai loại feature riêng biệt. Loại thứ nhất là succession feature, nó xử lý phép kế tiếp nói chung: Chapter một sang Chapter hai, A sang B sang C, hay số La Mã. Loại thứ hai là narrow induction feature, nó nhận ra mẫu A ba rồi A và copy thông tin từ token số ba. Hai cái kết hợp lại mới cho ra dự đoán bốn. Cluster bốn trăm bảy mươi lăm gom các trường hợp dự đoán từ to làm tân ngữ nguyên mẫu, và cũng tách thành hai đường không giao nhau hoàn toàn. Đường thứ nhất là một feature thúc đẩy to sau những từ nhận tân ngữ nguyên mẫu, như allowed to, would like to, asked to. Đường thứ hai là một feature khác, kích hoạt trên tân ngữ của động từ hoặc giới từ, và thúc đẩy to theo nghĩa object complement, như Direct the user to, It is up to you to, hay According to. Bài học chung ở dòng cuối: cluster cho ta biết đây là một hành vi, còn circuit mới cho ta biết cơ chế nào tạo ra hành vi đó.</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Câu hỏi đặt ra là làm sao biết pipeline không giám sát này cho kết quả đúng, khi không có dữ liệu chuẩn để so. Bằng chứng mà paper đưa ra là nó tự tìm lại được hai hiện tượng đã biết. Induction head được Olsson và cộng sự tìm ra năm 2022 ở mức attention head, bằng dữ liệu do người soạn cho đúng mục đích đó; ở đây nó xuất hiện lại ở mức feature một cách hoàn toàn tự động. Successor head được Gould và cộng sự tìm ra năm 2023, cũng ở mức attention head; ở đây nó xuất hiện lại bên trong cluster ba trăm tám mươi hai mà không ai soạn dữ liệu cho nó. Quy mô là hàng nghìn circuit, và có thể duyệt tại feature circuits chấm xyz. Nhưng tôi muốn kết phần này bằng đúng câu mà paper tự viết, ở khung dưới: đánh giá các cluster và circuit này là một bài toán mở chưa giải. Họ không tuyên bố hơn thế, và tôi nghĩ đó là cách viết trung thực.</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Chuyển sang phần đánh giá, và tôi bắt đầu bằng đúng bốn giới hạn mà chính tác giả ghi trong mục tám. Thứ nhất, phương pháp phụ thuộc vào việc có sẵn SAE cho model, và train SAE tốn compute lớn, dù chỉ phải làm một lần cho mỗi model. Thứ hai, component nào mà SAE không nắm bắt được thì sau khi áp dụng phương pháp vẫn không diễn giải được, tức phương pháp không tự sửa được khuyết điểm của công cụ nền. Thứ ba, và đây là giới hạn tôi muốn các bạn nhớ vì lát nữa nó quay lại, phần lớn đánh giá trong paper là định tính; chỉ riêng phần SHIFT cho bằng chứng định lượng rằng feature circuit hữu ích cho một tác vụ downstream. Thứ tư, việc gán nhãn cho feature là một quá trình định tính, nhãn có thể khác nhau giữa các annotator và thay đổi theo task đang quan tâm. Tôi thêm một giới hạn nữa không nằm trong mục tám nhưng nằm rải trong phụ lục: hai ngưỡng T chỉ số N và T chỉ số E được chỉnh bằng tay tuỳ mục đích, không có tiêu chí khách quan nào để chọn chúng.</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Paper này là một trong những ứng dụng mạnh nhất của SAE, nên số phận của nó gắn với số phận của SAE, và hai năm qua SAE bị phê bình ba đợt. Đợt một, tháng chín năm 2024, là feature absorption của Chanin và cộng sự. Với concept phân cấp, kiểu A kéo theo B, mục tiêu thưa khiến SAE học một latent cho A và một latent cho phần B trừ A để giảm dư thừa. Hệ quả cụ thể là một latent trông như bắt đầu bằng chữ S kích hoạt trên chín mươi lăm phần trăm token bắt đầu bằng S nhưng im lặng một cách tuỳ tiện trên năm phần trăm còn lại. Kết luận của họ là đổi bề rộng hay đổi mức thưa đều không giải quyết được. Đợt hai, đầu năm 2025, là SAE thua baseline trên tác vụ downstream. Kantamneni và cộng sự cho thấy SAE không vượt được hồi quy logistic hay prompting đơn giản ở sparse probing trong bốn chế độ khó. Nhóm mech interp của DeepMind đo linear probe đạt AUROC khoảng không phẩy chín chín chín trên dữ liệu ngoài phân phối, còn SAE probe thua rõ, và họ tuyên bố giảm ưu tiên nghiên cứu SAE nền tảng. Nhưng có một sắc thái phải giữ, và tôi nhấn mạnh vì nó liên quan trực tiếp tới paper hôm nay: chính nhóm đó vẫn ghi nhận SAE hữu ích cho việc debug thăm dò các lỗi chưa rõ nguyên nhân và phát hiện tương quan giả trong dataset, tức đúng hai việc mà phần bốn và phần năm của paper này làm. Đợt ba, tháng năm năm 2026, là chính benchmark bị đặt câu hỏi, và trang sau tôi sẽ nói kỹ. Câu ở dưới cùng là lập luận phản biện của một position paper năm 2025: mọi negative result đều đo SAE ở việc hành động trên một concept đã biết tên, chứ không phải ở việc phát hiện concept chưa biết, mà ở việc đầu thì baseline có giám sát đương nhiên mạnh hơn.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Trang này là phần tôi nghĩ đáng kể nhất khi đọc paper cùng với hai năm sau nó. Năm 2024, SHIFT chỉ là một ứng dụng bên trong paper. Cuối năm đó, Karvonen, Rager, Marks và Nanda chuyển chính SHIFT thành một thước đo tự động tên là SCR, bằng cách thay người chú thích ở bước hai bằng một mô hình ngôn ngữ, kèm theo TPP mở rộng sang dataset đa lớp. Chú ý là hai trong số tác giả của SHIFT tự tay làm việc này. Đầu năm 2025, SCR và TPP đi vào SAEBench và trở thành thước đo chuẩn mà cả cộng đồng dùng để so bảy kiến trúc SAE. Rồi tháng năm năm 2026, một phân tích kết luận rằng SCR và TPP ở cấu hình chuẩn trượt nhiều bài kiểm tra độ tin cậy và không nên dùng để đánh giá SAE. Mũi tên quay ngược ở dưới là ý đó: chính thước đo kế thừa từ SHIFT bị đặt câu hỏi. Tôi nói lại cho rõ, đây không phải để chê paper. Nó minh hoạ đúng điều mà mục tám Limitations đã nói: đánh giá dictionary và circuit khi không có một task downstream rõ ràng là bài toán khó, và sau hai năm bài toán đó vẫn chưa được giải.</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Vậy hiện tại người ta đi tiếp theo hướng nào. Có hai câu trả lời khác nhau cho cùng một vấn đề. Hướng thứ nhất là attribution graphs của Anthropic, công bố cuối tháng ba năm 2025 trên Claude 3.5 Haiku. Bảng này đối chiếu nó với paper hôm nay theo bảy chiều, và ba chiều đáng nói nhất là thế này. Về đơn vị, họ thay SAE của một layer bằng cross layer transcoder, tức một feature đọc residual stream tại một layer nhưng ghi vào output của mọi MLP layer sau đó. Về phạm vi, attribution graph giải thích một prompt cụ thể, còn paper hôm nay giải thích hành vi trung bình trên cả một dataset. Về xử lý phần dư, khác biệt rất rõ: ở họ error node chỉ là node đầu vào, không có cạnh vào, nên bạn không truy ngược qua nó được, còn ở đây error node có cả cạnh vào lẫn cạnh ra. Một lưu ý khi trình bày, ghi ở dòng dưới bảng: bản methods của Anthropic không trích Marks và cộng sự trong phần tôi đọc được, nên nên gọi đây là hướng kế nhiệm về mặt ý tưởng chứ đừng nói là xây trên. Hướng thứ hai đảo ngược hẳn cách tiếp cận. OpenAI, tháng mười một năm 2025, train luôn model với ràng buộc thưa ngay từ đầu, ép khoảng chín mươi chín phẩy chín phần trăm trọng số về không, để giảm superposition ngay tại gốc thay vì đi gỡ nó sau. Kết quả họ nêu là ở cùng mức pretraining loss, circuit trong model thưa nhỏ hơn khoảng mười sáu lần so với baseline dày đặc. Đánh đổi là thưa hơn thì năng lực kém hơn. Nói gọn thì paper hôm nay nhận model như nó vốn có rồi tìm cách đọc, còn hướng này đổi cách train để khỏi phải đọc khó.</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 dirty="0"/>
              <a:t>Tôi kết bằng ba câu. Thứ nhất, đóng góp về phương pháp của paper không phải là dùng SAE, cũng không phải là dùng attribution patching, vì cả hai đều đã có sẵn; nó là việc ghép hai thứ đó lại và giữ phần dư epsilon làm một node trong graph, nhờ đó circuit vừa đọc được vừa trung thực, và phần chưa giải thích được trở thành một đại lượng đo được. Thứ hai, phần SHIFT trả lời được câu hỏi khó nhất của interpretability, là circuit này rốt cuộc dùng được vào việc gì, và câu trả lời là một con số, chín mươi ba phẩy một so với Oracle chín mươi ba phẩy không, chứ không phải một hình vẽ đẹp. Thứ ba, hai năm sau, SAE đã mất vị trí trung tâm, nhưng bài toán mà paper này đặt ra thì không: làm sao gỡ một tín hiệu không mong muốn ra khỏi model khi dữ liệu không nói cho bạn biết tín hiệu đó sai. Chưa có phương pháp nào khác trả lời được câu đó mà không cần dữ liệu phân định. Và câu hỏi tôi muốn để lại cho phần thảo luận nằm ở dưới cùng: nếu bước hai của SHIFT được thay bằng một mô hình ngôn ngữ, mà độ tin cậy của thước đo đó sau đó bị đặt câu hỏi, thì phán đoán của con người còn là nguồn tín hiệu phân định hợp lệ tới đâu.</a:t>
            </a:r>
          </a:p>
          <a:p>
            <a:pPr/>
            <a:endParaRPr lang="vi" dirty="0"/>
          </a:p>
          <a:p>
            <a:pPr/>
            <a:r>
              <a:rPr lang="vi" dirty="0"/>
              <a:t>Nếu có người hỏi vì sao lại dùng Pythia-70M bé như vậy, câu trả lời là phần năm cần chạy circuit discovery hàng nghìn lần trên hàng nghìn cluster nên model lớn hơn không kham nổi ở thời điểm 2024, và Pythia là suite mở hoàn toàn với mọi checkpoint và dữ liệu train công khai; Gemma-2-2B có mặt chính là để trả lời câu hỏi này, và năm 2025 Kharlapenko và cộng sự đã đẩy tiếp lên Gemma-1 2B rồi Gemma 9B. Nếu có người hỏi faithfulness chỉ không phẩy hai mốt thì có nghĩa circuit chỉ giải thích được hai mươi mốt phần trăm thôi hay sao, trả lời rằng đúng, nhưng đó là ngưỡng họ cố ý chọn để circuit đủ nhỏ cho việc chú thích thủ công, và Figure 3 cho thấy tăng số node thì faithfulness lên cao hơn nhiều. Nếu có người chất vấn việc bỏ một phần ba circuit ở layer đầu, trả lời rằng lý do paper đưa ra là component layer đầu gắn với token cụ thể mà train split và test split không dùng chung token, nhưng cũng nên nói thẳng là paper không báo cáo faithfulness khi giữ đủ cả circuit nên không kiểm chứng được từ paper. Nếu có người hỏi SHIFT cần người đọc sáu mươi bảy feature thì scale được không, trả lời rằng ở dạng gốc thì không, nhưng đúng vấn đề này đã được xử lý bằng SCR năm 2024 thay người bằng mô hình ngôn ngữ, với lưu ý rằng độ tin cậy của SCR sau đó bị đặt câu hỏi. Nếu có người hỏi feature absorption có làm hỏng circuit không, trả lời rằng đây là mối lo có thật, vì nhãn con người gán ở bước hai có thể sai và circuit có thể bỏ sót đường đi, nhưng cần nói rõ đó là giới hạn của công cụ nền chứ không phải lỗi của phương pháp, và paper không biết vấn đề này ở thời điểm viết. Nếu có người hỏi vì sao không dùng LEACE hay INLP, trả lời rằng cả hai đều cần nhãn của thuộc tính cần xoá, mà trong tập ambiguous nhãn giới tính trùng hoàn toàn với nhãn nghề nghiệp nên chiếu bỏ hướng này cũng chính là chiếu bỏ hướng kia. Nếu có người hỏi SHIFT khác gì so với việc chỉ prompt model đừng dùng giới tính, trả lời rằng SHIFT can thiệp vào activation chứ không dựa vào việc model có nghe lời hay không, nhưng cũng nên thừa nhận rằng naive prompting là một baseline đáng lẽ nên có mà paper không làm. Nếu có người hỏi attribution graphs có thay thế được paper này không, trả lời rằng cùng hướng về ý tưởng nhưng khác ở đơn vị, ở phạm vi một prompt so với một dataset, và ở cách xử lý phần dư. Nếu có người hỏi SAE đang bị chê nhiều thì paper này còn giá trị gì, trả lời rằng mọi negative result đều đo SAE ở việc hành động trên concept đã biết, còn chỗ paper này làm khác là phát hiện concept chưa biết. Nếu có người hỏi hai ngưỡng chọn thế nào, trả lời rằng chỉnh bằng tay tuỳ mục đích, và đây là một hyperparameter tuỳ ý không có tiêu chí khách quan. Và nếu có người hỏi BOS feature là gì, trả lời rằng đó là những feature chỉ kích hoạt trên token bắt đầu câu, có indirect effect lớn nhưng không diễn giải được, nên bị loại khỏi phân tích, và đó là một vùng của model bị bỏ ngoài.</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parse_feature_circuit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vi" smtClean="0"/>
              <a:t>1/27/13</a:t>
            </a:fld>
            <a:endParaRPr lang="vi"/>
          </a:p>
        </p:txBody>
      </p:sp>
      <p:sp>
        <p:nvSpPr>
          <p:cNvPr id="3" name="Footer Placeholder 2"/>
          <p:cNvSpPr>
            <a:spLocks noGrp="1"/>
          </p:cNvSpPr>
          <p:nvPr>
            <p:ph type="ftr" sz="quarter" idx="11"/>
          </p:nvPr>
        </p:nvSpPr>
        <p:spPr/>
        <p:txBody>
          <a:bodyPr/>
          <a:lstStyle/>
          <a:p>
            <a:endParaRPr lang="vi"/>
          </a:p>
        </p:txBody>
      </p:sp>
      <p:sp>
        <p:nvSpPr>
          <p:cNvPr id="4" name="Slide Number Placeholder 3"/>
          <p:cNvSpPr>
            <a:spLocks noGrp="1"/>
          </p:cNvSpPr>
          <p:nvPr>
            <p:ph type="sldNum" sz="quarter" idx="12"/>
          </p:nvPr>
        </p:nvSpPr>
        <p:spPr/>
        <p:txBody>
          <a:bodyPr/>
          <a:lstStyle/>
          <a:p>
            <a:fld id="{C1FF6DA9-008F-8B48-92A6-B652298478BF}" type="slidenum">
              <a:rPr lang="vi" smtClean="0"/>
              <a:t>‹#›</a:t>
            </a:fld>
            <a:endParaRPr lang="vi"/>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parse_feature_circuit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vi">
                <a:solidFill>
                  <a:schemeClr val="tx1">
                    <a:tint val="75000"/>
                  </a:schemeClr>
                </a:solidFill>
              </a:defRPr>
            </a:lvl1pPr>
          </a:lstStyle>
          <a:p>
            <a:fld id="{5BCAD085-E8A6-8845-BD4E-CB4CCA059FC4}" type="datetimeFigureOut">
              <a:rPr lang="vi" smtClean="0"/>
              <a:t>1/27/13</a:t>
            </a:fld>
            <a:endParaRPr lang="vi"/>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vi">
                <a:solidFill>
                  <a:schemeClr val="tx1">
                    <a:tint val="75000"/>
                  </a:schemeClr>
                </a:solidFill>
              </a:defRPr>
            </a:lvl1pPr>
          </a:lstStyle>
          <a:p>
            <a:endParaRPr lang="vi"/>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vi">
                <a:solidFill>
                  <a:schemeClr val="tx1">
                    <a:tint val="75000"/>
                  </a:schemeClr>
                </a:solidFill>
              </a:defRPr>
            </a:lvl1pPr>
          </a:lstStyle>
          <a:p>
            <a:fld id="{C1FF6DA9-008F-8B48-92A6-B652298478BF}" type="slidenum">
              <a:rPr lang="vi" smtClean="0"/>
              <a:t>‹#›</a:t>
            </a:fld>
            <a:endParaRPr lang="vi"/>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vi">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vi">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vi">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vi">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vi">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vi">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vi">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vi">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vi">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vi">
          <a:solidFill>
            <a:schemeClr val="tx1"/>
          </a:solidFill>
          <a:latin typeface="+mn-lt"/>
          <a:ea typeface="+mn-ea"/>
          <a:cs typeface="+mn-cs"/>
        </a:defRPr>
      </a:lvl9pPr>
    </p:bodyStyle>
    <p:otherStyle>
      <a:defPPr>
        <a:defRPr lang="vi"/>
      </a:defPPr>
      <a:lvl1pPr marL="0" algn="l" defTabSz="457200" rtl="0" eaLnBrk="1" latinLnBrk="0" hangingPunct="1">
        <a:defRPr sz="1800" kern="1200" lang="vi">
          <a:solidFill>
            <a:schemeClr val="tx1"/>
          </a:solidFill>
          <a:latin typeface="+mn-lt"/>
          <a:ea typeface="+mn-ea"/>
          <a:cs typeface="+mn-cs"/>
        </a:defRPr>
      </a:lvl1pPr>
      <a:lvl2pPr marL="457200" algn="l" defTabSz="457200" rtl="0" eaLnBrk="1" latinLnBrk="0" hangingPunct="1">
        <a:defRPr sz="1700" kern="1200" lang="vi">
          <a:solidFill>
            <a:schemeClr val="tx1"/>
          </a:solidFill>
          <a:latin typeface="+mn-lt"/>
          <a:ea typeface="+mn-ea"/>
          <a:cs typeface="+mn-cs"/>
        </a:defRPr>
      </a:lvl2pPr>
      <a:lvl3pPr marL="914400" algn="l" defTabSz="457200" rtl="0" eaLnBrk="1" latinLnBrk="0" hangingPunct="1">
        <a:defRPr sz="1600" kern="1200" lang="vi">
          <a:solidFill>
            <a:schemeClr val="tx1"/>
          </a:solidFill>
          <a:latin typeface="+mn-lt"/>
          <a:ea typeface="+mn-ea"/>
          <a:cs typeface="+mn-cs"/>
        </a:defRPr>
      </a:lvl3pPr>
      <a:lvl4pPr marL="1371600" algn="l" defTabSz="457200" rtl="0" eaLnBrk="1" latinLnBrk="0" hangingPunct="1">
        <a:defRPr sz="1450" kern="1200" lang="vi">
          <a:solidFill>
            <a:schemeClr val="tx1"/>
          </a:solidFill>
          <a:latin typeface="+mn-lt"/>
          <a:ea typeface="+mn-ea"/>
          <a:cs typeface="+mn-cs"/>
        </a:defRPr>
      </a:lvl4pPr>
      <a:lvl5pPr marL="1828800" algn="l" defTabSz="457200" rtl="0" eaLnBrk="1" latinLnBrk="0" hangingPunct="1">
        <a:defRPr sz="1350" kern="1200" lang="vi">
          <a:solidFill>
            <a:schemeClr val="tx1"/>
          </a:solidFill>
          <a:latin typeface="+mn-lt"/>
          <a:ea typeface="+mn-ea"/>
          <a:cs typeface="+mn-cs"/>
        </a:defRPr>
      </a:lvl5pPr>
      <a:lvl6pPr marL="2286000" algn="l" defTabSz="457200" rtl="0" eaLnBrk="1" latinLnBrk="0" hangingPunct="1">
        <a:defRPr sz="1250" kern="1200" lang="vi">
          <a:solidFill>
            <a:schemeClr val="tx1"/>
          </a:solidFill>
          <a:latin typeface="+mn-lt"/>
          <a:ea typeface="+mn-ea"/>
          <a:cs typeface="+mn-cs"/>
        </a:defRPr>
      </a:lvl6pPr>
      <a:lvl7pPr marL="2743200" algn="l" defTabSz="457200" rtl="0" eaLnBrk="1" latinLnBrk="0" hangingPunct="1">
        <a:defRPr sz="1100" kern="1200" lang="vi">
          <a:solidFill>
            <a:schemeClr val="tx1"/>
          </a:solidFill>
          <a:latin typeface="+mn-lt"/>
          <a:ea typeface="+mn-ea"/>
          <a:cs typeface="+mn-cs"/>
        </a:defRPr>
      </a:lvl7pPr>
      <a:lvl8pPr marL="3200400" algn="l" defTabSz="457200" rtl="0" eaLnBrk="1" latinLnBrk="0" hangingPunct="1">
        <a:defRPr sz="1000" kern="1200" lang="vi">
          <a:solidFill>
            <a:schemeClr val="tx1"/>
          </a:solidFill>
          <a:latin typeface="+mn-lt"/>
          <a:ea typeface="+mn-ea"/>
          <a:cs typeface="+mn-cs"/>
        </a:defRPr>
      </a:lvl8pPr>
      <a:lvl9pPr marL="3657600" algn="l" defTabSz="457200" rtl="0" eaLnBrk="1" latinLnBrk="0" hangingPunct="1">
        <a:defRPr sz="900" kern="1200" lang="vi">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1bd0c66b1da18d5.png"/>
  <Relationship Id="rId3" Type="http://schemas.openxmlformats.org/officeDocument/2006/relationships/image" Target="../media/image_1148bd581721ce8a.pn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b6b3ccf53f0a53e.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592d5e6ad29ecf2.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b3fd820ca67c6a8.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c5fb2113aac6487.png"/>
  <Relationship Id="rId3" Type="http://schemas.openxmlformats.org/officeDocument/2006/relationships/image" Target="../media/image_206caa0cbe5cd25f.png"/>
  <Relationship Id="rId4"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sp>
        <p:nvSpPr>
          <p:cNvPr id="4" name="blob-br"/>
          <p:cNvSpPr/>
          <p:nvPr/>
        </p:nvSpPr>
        <p:spPr>
          <a:xfrm>
            <a:off x="10668000" y="5334000"/>
            <a:ext cx="1524000" cy="1524000"/>
          </a:xfrm>
          <a:custGeom>
            <a:avLst/>
            <a:gdLst/>
            <a:ahLst/>
            <a:cxnLst/>
            <a:rect l="l" t="t" r="r" b="b"/>
            <a:pathLst>
              <a:path w="1524000" h="1524000">
                <a:moveTo>
                  <a:pt x="1524000" y="1524000"/>
                </a:moveTo>
                <a:lnTo>
                  <a:pt x="1524000" y="0"/>
                </a:lnTo>
                <a:cubicBezTo>
                  <a:pt x="1028700" y="133350"/>
                  <a:pt x="895350" y="533400"/>
                  <a:pt x="571500" y="666750"/>
                </a:cubicBezTo>
                <a:cubicBezTo>
                  <a:pt x="247650" y="800100"/>
                  <a:pt x="19050" y="1085850"/>
                  <a:pt x="0" y="1524000"/>
                </a:cubicBezTo>
                <a:close/>
              </a:path>
            </a:pathLst>
          </a:custGeom>
          <a:solidFill>
            <a:schemeClr val="accent3"/>
          </a:solidFill>
          <a:ln>
            <a:noFill/>
          </a:ln>
        </p:spPr>
      </p:sp>
      <p:sp>
        <p:nvSpPr>
          <p:cNvPr id="5" name="blob-br-echo"/>
          <p:cNvSpPr/>
          <p:nvPr/>
        </p:nvSpPr>
        <p:spPr>
          <a:xfrm>
            <a:off x="10515600" y="5162550"/>
            <a:ext cx="1676400" cy="1695450"/>
          </a:xfrm>
          <a:custGeom>
            <a:avLst/>
            <a:gdLst/>
            <a:ahLst/>
            <a:cxnLst/>
            <a:rect l="l" t="t" r="r" b="b"/>
            <a:pathLst>
              <a:path w="1676400" h="1695450">
                <a:moveTo>
                  <a:pt x="1676400" y="0"/>
                </a:moveTo>
                <a:cubicBezTo>
                  <a:pt x="1143000" y="152400"/>
                  <a:pt x="1009650" y="552450"/>
                  <a:pt x="666750" y="704850"/>
                </a:cubicBezTo>
                <a:cubicBezTo>
                  <a:pt x="323850" y="857250"/>
                  <a:pt x="57150" y="1200150"/>
                  <a:pt x="0" y="1695450"/>
                </a:cubicBezTo>
              </a:path>
            </a:pathLst>
          </a:custGeom>
          <a:noFill/>
          <a:ln w="19050">
            <a:solidFill>
              <a:srgbClr val="1B2430"/>
            </a:solidFill>
          </a:ln>
        </p:spPr>
      </p:sp>
      <p:grpSp>
        <p:nvGrpSpPr>
          <p:cNvPr id="8" name="cover-title"/>
          <p:cNvGrpSpPr/>
          <p:nvPr/>
        </p:nvGrpSpPr>
        <p:grpSpPr>
          <a:xfrm>
            <a:off x="590550" y="1188720"/>
            <a:ext cx="7869228" cy="1707642"/>
            <a:chOff x="590550" y="1188720"/>
            <a:chExt cx="7869228" cy="1707642"/>
          </a:xfrm>
        </p:grpSpPr>
        <p:sp>
          <p:nvSpPr>
            <p:cNvPr id="6" name="TextBox 6"/>
            <p:cNvSpPr txBox="1"/>
            <p:nvPr/>
          </p:nvSpPr>
          <p:spPr>
            <a:xfrm>
              <a:off x="590550" y="1188720"/>
              <a:ext cx="7869228" cy="1047750"/>
            </a:xfrm>
            <a:prstGeom prst="rect">
              <a:avLst/>
            </a:prstGeom>
            <a:noFill/>
            <a:ln>
              <a:noFill/>
            </a:ln>
          </p:spPr>
          <p:txBody>
            <a:bodyPr wrap="none" lIns="0" tIns="0" rIns="0" bIns="0" anchor="t" anchorCtr="0">
              <a:spAutoFit/>
            </a:bodyPr>
            <a:lstStyle/>
            <a:p>
              <a:pPr algn="l"/>
              <a:r>
                <a:rPr lang="vi" sz="5400" b="1" dirty="0">
                  <a:solidFill>
                    <a:schemeClr val="dk1"/>
                  </a:solidFill>
                  <a:latin typeface="+mn-lt"/>
                  <a:ea typeface="+mn-ea"/>
                  <a:cs typeface="+mn-cs"/>
                </a:rPr>
                <a:t>Sparse Feature Circuits</a:t>
              </a:r>
            </a:p>
          </p:txBody>
        </p:sp>
        <p:sp>
          <p:nvSpPr>
            <p:cNvPr id="7" name="TextBox 7"/>
            <p:cNvSpPr txBox="1"/>
            <p:nvPr/>
          </p:nvSpPr>
          <p:spPr>
            <a:xfrm>
              <a:off x="597408" y="2026920"/>
              <a:ext cx="7022257" cy="869442"/>
            </a:xfrm>
            <a:prstGeom prst="rect">
              <a:avLst/>
            </a:prstGeom>
            <a:noFill/>
            <a:ln>
              <a:noFill/>
            </a:ln>
          </p:spPr>
          <p:txBody>
            <a:bodyPr wrap="none" lIns="0" tIns="0" rIns="0" bIns="0" anchor="t" anchorCtr="0">
              <a:spAutoFit/>
            </a:bodyPr>
            <a:lstStyle/>
            <a:p>
              <a:pPr algn="l">
                <a:lnSpc>
                  <a:spcPts val="3150"/>
                </a:lnSpc>
              </a:pPr>
              <a:r>
                <a:rPr lang="vi" sz="2400" dirty="0">
                  <a:solidFill>
                    <a:schemeClr val="accent5"/>
                  </a:solidFill>
                  <a:latin typeface="+mn-lt"/>
                  <a:ea typeface="+mn-ea"/>
                  <a:cs typeface="+mn-cs"/>
                </a:rPr>
                <a:t>Discovering and Editing Interpretable Causal Graphs</a:t>
              </a:r>
              <a:br/>
              <a:r>
                <a:rPr lang="vi" sz="2400" dirty="0">
                  <a:solidFill>
                    <a:schemeClr val="accent5"/>
                  </a:solidFill>
                  <a:latin typeface="+mn-lt"/>
                  <a:ea typeface="+mn-ea"/>
                  <a:cs typeface="+mn-cs"/>
                </a:rPr>
                <a:t>in Language Models</a:t>
              </a:r>
            </a:p>
          </p:txBody>
        </p:sp>
      </p:grpSp>
      <p:grpSp>
        <p:nvGrpSpPr>
          <p:cNvPr id="13" name="cover-hook"/>
          <p:cNvGrpSpPr/>
          <p:nvPr/>
        </p:nvGrpSpPr>
        <p:grpSpPr>
          <a:xfrm>
            <a:off x="1351598" y="2875598"/>
            <a:ext cx="3228022" cy="2789872"/>
            <a:chOff x="1351598" y="2875598"/>
            <a:chExt cx="3228022" cy="2789872"/>
          </a:xfrm>
        </p:grpSpPr>
        <p:sp>
          <p:nvSpPr>
            <p:cNvPr id="9" name="Freeform 9"/>
            <p:cNvSpPr/>
            <p:nvPr/>
          </p:nvSpPr>
          <p:spPr>
            <a:xfrm>
              <a:off x="1449705" y="2963228"/>
              <a:ext cx="3028950" cy="2616517"/>
            </a:xfrm>
            <a:custGeom>
              <a:avLst/>
              <a:gdLst/>
              <a:ahLst/>
              <a:cxnLst/>
              <a:rect l="l" t="t" r="r" b="b"/>
              <a:pathLst>
                <a:path w="3028950" h="2616517">
                  <a:moveTo>
                    <a:pt x="3015615" y="1399222"/>
                  </a:moveTo>
                  <a:cubicBezTo>
                    <a:pt x="3028950" y="1568768"/>
                    <a:pt x="2959418" y="1772602"/>
                    <a:pt x="2865120" y="1923097"/>
                  </a:cubicBezTo>
                  <a:cubicBezTo>
                    <a:pt x="2770823" y="2073592"/>
                    <a:pt x="2598420" y="2195512"/>
                    <a:pt x="2448878" y="2303145"/>
                  </a:cubicBezTo>
                  <a:cubicBezTo>
                    <a:pt x="2298382" y="2409825"/>
                    <a:pt x="2139315" y="2519362"/>
                    <a:pt x="1965960" y="2567940"/>
                  </a:cubicBezTo>
                  <a:cubicBezTo>
                    <a:pt x="1791653" y="2616517"/>
                    <a:pt x="1593532" y="2596515"/>
                    <a:pt x="1407795" y="2594610"/>
                  </a:cubicBezTo>
                  <a:cubicBezTo>
                    <a:pt x="1222058" y="2593657"/>
                    <a:pt x="1059180" y="2581275"/>
                    <a:pt x="853440" y="2560320"/>
                  </a:cubicBezTo>
                  <a:cubicBezTo>
                    <a:pt x="648653" y="2539365"/>
                    <a:pt x="313373" y="2580322"/>
                    <a:pt x="175260" y="2468880"/>
                  </a:cubicBezTo>
                  <a:cubicBezTo>
                    <a:pt x="37148" y="2358390"/>
                    <a:pt x="49530" y="2074545"/>
                    <a:pt x="24765" y="1896427"/>
                  </a:cubicBezTo>
                  <a:cubicBezTo>
                    <a:pt x="0" y="1718310"/>
                    <a:pt x="14288" y="1560195"/>
                    <a:pt x="27623" y="1399222"/>
                  </a:cubicBezTo>
                  <a:cubicBezTo>
                    <a:pt x="40005" y="1238250"/>
                    <a:pt x="52388" y="1085850"/>
                    <a:pt x="103823" y="930592"/>
                  </a:cubicBezTo>
                  <a:cubicBezTo>
                    <a:pt x="155258" y="775335"/>
                    <a:pt x="216218" y="595312"/>
                    <a:pt x="335280" y="468630"/>
                  </a:cubicBezTo>
                  <a:cubicBezTo>
                    <a:pt x="455295" y="341947"/>
                    <a:pt x="642938" y="249555"/>
                    <a:pt x="822008" y="171450"/>
                  </a:cubicBezTo>
                  <a:cubicBezTo>
                    <a:pt x="1001078" y="93345"/>
                    <a:pt x="1211580" y="1905"/>
                    <a:pt x="1407795" y="952"/>
                  </a:cubicBezTo>
                  <a:cubicBezTo>
                    <a:pt x="1604010" y="0"/>
                    <a:pt x="1850708" y="58102"/>
                    <a:pt x="1997392" y="163830"/>
                  </a:cubicBezTo>
                  <a:cubicBezTo>
                    <a:pt x="2144078" y="269557"/>
                    <a:pt x="2156460" y="511492"/>
                    <a:pt x="2287905" y="635317"/>
                  </a:cubicBezTo>
                  <a:cubicBezTo>
                    <a:pt x="2419350" y="758190"/>
                    <a:pt x="2664142" y="776288"/>
                    <a:pt x="2786062" y="903922"/>
                  </a:cubicBezTo>
                  <a:cubicBezTo>
                    <a:pt x="2907030" y="1031557"/>
                    <a:pt x="3002280" y="1229677"/>
                    <a:pt x="3015615" y="1399222"/>
                  </a:cubicBezTo>
                  <a:close/>
                </a:path>
              </a:pathLst>
            </a:custGeom>
            <a:solidFill>
              <a:schemeClr val="accent2"/>
            </a:solidFill>
            <a:ln>
              <a:noFill/>
            </a:ln>
          </p:spPr>
        </p:sp>
        <p:sp>
          <p:nvSpPr>
            <p:cNvPr id="10" name="Freeform 10"/>
            <p:cNvSpPr/>
            <p:nvPr/>
          </p:nvSpPr>
          <p:spPr>
            <a:xfrm>
              <a:off x="1351598" y="2875598"/>
              <a:ext cx="3228022" cy="2789872"/>
            </a:xfrm>
            <a:custGeom>
              <a:avLst/>
              <a:gdLst/>
              <a:ahLst/>
              <a:cxnLst/>
              <a:rect l="l" t="t" r="r" b="b"/>
              <a:pathLst>
                <a:path w="3228022" h="2789872">
                  <a:moveTo>
                    <a:pt x="3214688" y="1486853"/>
                  </a:moveTo>
                  <a:cubicBezTo>
                    <a:pt x="3228022" y="1667828"/>
                    <a:pt x="3155632" y="1883093"/>
                    <a:pt x="3056572" y="2044065"/>
                  </a:cubicBezTo>
                  <a:cubicBezTo>
                    <a:pt x="2957512" y="2205038"/>
                    <a:pt x="2777490" y="2336483"/>
                    <a:pt x="2618422" y="2452688"/>
                  </a:cubicBezTo>
                  <a:cubicBezTo>
                    <a:pt x="2459355" y="2567940"/>
                    <a:pt x="2287905" y="2683193"/>
                    <a:pt x="2102168" y="2736533"/>
                  </a:cubicBezTo>
                  <a:cubicBezTo>
                    <a:pt x="1917382" y="2789872"/>
                    <a:pt x="1704022" y="2771775"/>
                    <a:pt x="1505902" y="2769870"/>
                  </a:cubicBezTo>
                  <a:cubicBezTo>
                    <a:pt x="1307782" y="2768918"/>
                    <a:pt x="1130618" y="2753678"/>
                    <a:pt x="913448" y="2728912"/>
                  </a:cubicBezTo>
                  <a:cubicBezTo>
                    <a:pt x="696278" y="2703195"/>
                    <a:pt x="348615" y="2737485"/>
                    <a:pt x="201930" y="2618422"/>
                  </a:cubicBezTo>
                  <a:cubicBezTo>
                    <a:pt x="54292" y="2500312"/>
                    <a:pt x="59055" y="2205990"/>
                    <a:pt x="29527" y="2017395"/>
                  </a:cubicBezTo>
                  <a:cubicBezTo>
                    <a:pt x="0" y="1828800"/>
                    <a:pt x="11430" y="1659255"/>
                    <a:pt x="24765" y="1486853"/>
                  </a:cubicBezTo>
                  <a:cubicBezTo>
                    <a:pt x="37148" y="1314450"/>
                    <a:pt x="52388" y="1149668"/>
                    <a:pt x="108585" y="984885"/>
                  </a:cubicBezTo>
                  <a:cubicBezTo>
                    <a:pt x="165735" y="819150"/>
                    <a:pt x="233362" y="628650"/>
                    <a:pt x="361950" y="494348"/>
                  </a:cubicBezTo>
                  <a:cubicBezTo>
                    <a:pt x="490538" y="360045"/>
                    <a:pt x="690562" y="260033"/>
                    <a:pt x="881062" y="178118"/>
                  </a:cubicBezTo>
                  <a:cubicBezTo>
                    <a:pt x="1071562" y="96203"/>
                    <a:pt x="1297305" y="1905"/>
                    <a:pt x="1505902" y="953"/>
                  </a:cubicBezTo>
                  <a:cubicBezTo>
                    <a:pt x="1714500" y="0"/>
                    <a:pt x="1975485" y="60008"/>
                    <a:pt x="2134552" y="170498"/>
                  </a:cubicBezTo>
                  <a:cubicBezTo>
                    <a:pt x="2292668" y="280035"/>
                    <a:pt x="2317432" y="529590"/>
                    <a:pt x="2457450" y="661035"/>
                  </a:cubicBezTo>
                  <a:cubicBezTo>
                    <a:pt x="2598420" y="792480"/>
                    <a:pt x="2850832" y="820103"/>
                    <a:pt x="2977515" y="958215"/>
                  </a:cubicBezTo>
                  <a:cubicBezTo>
                    <a:pt x="3103245" y="1095375"/>
                    <a:pt x="3201352" y="1305878"/>
                    <a:pt x="3214688" y="1486853"/>
                  </a:cubicBezTo>
                  <a:close/>
                </a:path>
              </a:pathLst>
            </a:custGeom>
            <a:noFill/>
            <a:ln w="19050">
              <a:solidFill>
                <a:srgbClr val="1B2430"/>
              </a:solidFill>
            </a:ln>
          </p:spPr>
        </p:sp>
        <p:sp>
          <p:nvSpPr>
            <p:cNvPr id="11" name="TextBox 11"/>
            <p:cNvSpPr txBox="1"/>
            <p:nvPr/>
          </p:nvSpPr>
          <p:spPr>
            <a:xfrm>
              <a:off x="2249339" y="3874770"/>
              <a:ext cx="1292521" cy="1047750"/>
            </a:xfrm>
            <a:prstGeom prst="rect">
              <a:avLst/>
            </a:prstGeom>
            <a:noFill/>
            <a:ln>
              <a:noFill/>
            </a:ln>
          </p:spPr>
          <p:txBody>
            <a:bodyPr wrap="none" lIns="0" tIns="0" rIns="0" bIns="0" anchor="t" anchorCtr="0">
              <a:spAutoFit/>
            </a:bodyPr>
            <a:lstStyle/>
            <a:p>
              <a:pPr algn="ctr"/>
              <a:r>
                <a:rPr lang="vi" sz="5400" b="1" dirty="0">
                  <a:solidFill>
                    <a:srgbClr val="1B2430"/>
                  </a:solidFill>
                  <a:latin typeface="+mn-lt"/>
                  <a:ea typeface="+mn-ea"/>
                  <a:cs typeface="+mn-cs"/>
                </a:rPr>
                <a:t>100</a:t>
              </a:r>
            </a:p>
          </p:txBody>
        </p:sp>
        <p:sp>
          <p:nvSpPr>
            <p:cNvPr id="12" name="TextBox 12"/>
            <p:cNvSpPr txBox="1"/>
            <p:nvPr/>
          </p:nvSpPr>
          <p:spPr>
            <a:xfrm>
              <a:off x="2153705" y="4663440"/>
              <a:ext cx="1483791" cy="352044"/>
            </a:xfrm>
            <a:prstGeom prst="rect">
              <a:avLst/>
            </a:prstGeom>
            <a:noFill/>
            <a:ln>
              <a:noFill/>
            </a:ln>
          </p:spPr>
          <p:txBody>
            <a:bodyPr wrap="none" lIns="0" tIns="0" rIns="0" bIns="0" anchor="t" anchorCtr="0">
              <a:spAutoFit/>
            </a:bodyPr>
            <a:lstStyle/>
            <a:p>
              <a:pPr algn="ctr"/>
              <a:r>
                <a:rPr lang="vi" sz="1800" b="1" dirty="0">
                  <a:solidFill>
                    <a:srgbClr val="1B2430"/>
                  </a:solidFill>
                  <a:latin typeface="+mn-lt"/>
                  <a:ea typeface="+mn-ea"/>
                  <a:cs typeface="+mn-cs"/>
                </a:rPr>
                <a:t>node feature</a:t>
              </a:r>
            </a:p>
          </p:txBody>
        </p:sp>
      </p:grpSp>
      <p:grpSp>
        <p:nvGrpSpPr>
          <p:cNvPr id="18" name="cover-compare"/>
          <p:cNvGrpSpPr/>
          <p:nvPr/>
        </p:nvGrpSpPr>
        <p:grpSpPr>
          <a:xfrm>
            <a:off x="4857750" y="3996690"/>
            <a:ext cx="4826324" cy="1817561"/>
            <a:chOff x="4857750" y="3996690"/>
            <a:chExt cx="4826324" cy="1817561"/>
          </a:xfrm>
        </p:grpSpPr>
        <p:sp>
          <p:nvSpPr>
            <p:cNvPr id="14" name="TextBox 14"/>
            <p:cNvSpPr txBox="1"/>
            <p:nvPr/>
          </p:nvSpPr>
          <p:spPr>
            <a:xfrm>
              <a:off x="4867656" y="3996690"/>
              <a:ext cx="935478" cy="352044"/>
            </a:xfrm>
            <a:prstGeom prst="rect">
              <a:avLst/>
            </a:prstGeom>
            <a:noFill/>
            <a:ln>
              <a:noFill/>
            </a:ln>
          </p:spPr>
          <p:txBody>
            <a:bodyPr wrap="none" lIns="0" tIns="0" rIns="0" bIns="0" anchor="t" anchorCtr="0">
              <a:spAutoFit/>
            </a:bodyPr>
            <a:lstStyle/>
            <a:p>
              <a:pPr algn="l"/>
              <a:r>
                <a:rPr lang="vi" sz="1800" dirty="0">
                  <a:solidFill>
                    <a:schemeClr val="accent5"/>
                  </a:solidFill>
                  <a:latin typeface="+mn-lt"/>
                  <a:ea typeface="+mn-ea"/>
                  <a:cs typeface="+mn-cs"/>
                </a:rPr>
                <a:t>thay cho</a:t>
              </a:r>
            </a:p>
          </p:txBody>
        </p:sp>
        <p:sp>
          <p:nvSpPr>
            <p:cNvPr id="15" name="TextBox 15"/>
            <p:cNvSpPr txBox="1"/>
            <p:nvPr/>
          </p:nvSpPr>
          <p:spPr>
            <a:xfrm>
              <a:off x="4857750" y="4293870"/>
              <a:ext cx="1911227" cy="1047750"/>
            </a:xfrm>
            <a:prstGeom prst="rect">
              <a:avLst/>
            </a:prstGeom>
            <a:noFill/>
            <a:ln>
              <a:noFill/>
            </a:ln>
          </p:spPr>
          <p:txBody>
            <a:bodyPr wrap="none" lIns="0" tIns="0" rIns="0" bIns="0" anchor="t" anchorCtr="0">
              <a:spAutoFit/>
            </a:bodyPr>
            <a:lstStyle/>
            <a:p>
              <a:pPr algn="l"/>
              <a:r>
                <a:rPr lang="vi" sz="5400" b="1" dirty="0">
                  <a:solidFill>
                    <a:schemeClr val="accent5"/>
                  </a:solidFill>
                  <a:latin typeface="+mn-lt"/>
                  <a:ea typeface="+mn-ea"/>
                  <a:cs typeface="+mn-cs"/>
                </a:rPr>
                <a:t>1 500</a:t>
              </a:r>
            </a:p>
          </p:txBody>
        </p:sp>
        <p:sp>
          <p:nvSpPr>
            <p:cNvPr id="16" name="TextBox 16"/>
            <p:cNvSpPr txBox="1"/>
            <p:nvPr/>
          </p:nvSpPr>
          <p:spPr>
            <a:xfrm>
              <a:off x="4867656" y="5082540"/>
              <a:ext cx="833754" cy="352044"/>
            </a:xfrm>
            <a:prstGeom prst="rect">
              <a:avLst/>
            </a:prstGeom>
            <a:noFill/>
            <a:ln>
              <a:noFill/>
            </a:ln>
          </p:spPr>
          <p:txBody>
            <a:bodyPr wrap="none" lIns="0" tIns="0" rIns="0" bIns="0" anchor="t" anchorCtr="0">
              <a:spAutoFit/>
            </a:bodyPr>
            <a:lstStyle/>
            <a:p>
              <a:pPr algn="l"/>
              <a:r>
                <a:rPr lang="vi" sz="1800" b="1" dirty="0">
                  <a:solidFill>
                    <a:schemeClr val="dk1"/>
                  </a:solidFill>
                  <a:latin typeface="+mn-lt"/>
                  <a:ea typeface="+mn-ea"/>
                  <a:cs typeface="+mn-cs"/>
                </a:rPr>
                <a:t>neuron</a:t>
              </a:r>
            </a:p>
          </p:txBody>
        </p:sp>
        <p:sp>
          <p:nvSpPr>
            <p:cNvPr id="17" name="TextBox 17"/>
            <p:cNvSpPr txBox="1"/>
            <p:nvPr/>
          </p:nvSpPr>
          <p:spPr>
            <a:xfrm>
              <a:off x="4869942" y="5550218"/>
              <a:ext cx="4814132"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cùng giải thích phần lớn hành vi agreement của Pythia-70M</a:t>
              </a:r>
            </a:p>
          </p:txBody>
        </p:sp>
      </p:grpSp>
      <p:grpSp>
        <p:nvGrpSpPr>
          <p:cNvPr id="21" name="cover-credit"/>
          <p:cNvGrpSpPr/>
          <p:nvPr/>
        </p:nvGrpSpPr>
        <p:grpSpPr>
          <a:xfrm>
            <a:off x="601218" y="6070282"/>
            <a:ext cx="8551837" cy="549974"/>
            <a:chOff x="601218" y="6070282"/>
            <a:chExt cx="8551837" cy="549974"/>
          </a:xfrm>
        </p:grpSpPr>
        <p:sp>
          <p:nvSpPr>
            <p:cNvPr id="19" name="TextBox 19"/>
            <p:cNvSpPr txBox="1"/>
            <p:nvPr/>
          </p:nvSpPr>
          <p:spPr>
            <a:xfrm>
              <a:off x="601218" y="6070282"/>
              <a:ext cx="8551837" cy="322707"/>
            </a:xfrm>
            <a:prstGeom prst="rect">
              <a:avLst/>
            </a:prstGeom>
            <a:noFill/>
            <a:ln>
              <a:noFill/>
            </a:ln>
          </p:spPr>
          <p:txBody>
            <a:bodyPr wrap="none" lIns="0" tIns="0" rIns="0" bIns="0" anchor="t" anchorCtr="0">
              <a:spAutoFit/>
            </a:bodyPr>
            <a:lstStyle/>
            <a:p>
              <a:pPr algn="l"/>
              <a:r>
                <a:rPr lang="vi" sz="1650" dirty="0">
                  <a:solidFill>
                    <a:schemeClr val="dk1"/>
                  </a:solidFill>
                  <a:latin typeface="+mn-lt"/>
                  <a:ea typeface="+mn-ea"/>
                  <a:cs typeface="+mn-cs"/>
                </a:rPr>
                <a:t>Samuel Marks, Can Rager, Eric J. Michaud, Yonatan Belinkov, David Bau, Aaron Mueller</a:t>
              </a:r>
            </a:p>
          </p:txBody>
        </p:sp>
        <p:sp>
          <p:nvSpPr>
            <p:cNvPr id="20" name="TextBox 20"/>
            <p:cNvSpPr txBox="1"/>
            <p:nvPr/>
          </p:nvSpPr>
          <p:spPr>
            <a:xfrm>
              <a:off x="603504" y="6385560"/>
              <a:ext cx="6124369"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Northeastern University, MIT, Technion. ICLR 2025, nhận dạng oral. arXiv 2403.19647.</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8718412" cy="1523619"/>
            <a:chOff x="592836" y="651510"/>
            <a:chExt cx="8718412" cy="1523619"/>
          </a:xfrm>
        </p:grpSpPr>
        <p:sp>
          <p:nvSpPr>
            <p:cNvPr id="4" name="TextBox 4"/>
            <p:cNvSpPr txBox="1"/>
            <p:nvPr/>
          </p:nvSpPr>
          <p:spPr>
            <a:xfrm>
              <a:off x="603504" y="651510"/>
              <a:ext cx="571156"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Mở đầu</a:t>
              </a:r>
            </a:p>
          </p:txBody>
        </p:sp>
        <p:sp>
          <p:nvSpPr>
            <p:cNvPr id="5" name="TextBox 5"/>
            <p:cNvSpPr txBox="1"/>
            <p:nvPr/>
          </p:nvSpPr>
          <p:spPr>
            <a:xfrm>
              <a:off x="592836" y="1034415"/>
              <a:ext cx="8718412"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Bạn muốn gỡ giới tính khỏi classifier,</a:t>
              </a:r>
              <a:br/>
              <a:r>
                <a:rPr lang="vi" sz="3300" b="1" dirty="0">
                  <a:solidFill>
                    <a:schemeClr val="dk1"/>
                  </a:solidFill>
                  <a:latin typeface="+mn-lt"/>
                  <a:ea typeface="+mn-ea"/>
                  <a:cs typeface="+mn-cs"/>
                </a:rPr>
                <a:t>nhưng dữ liệu không nói cho bạn biết nó sai</a:t>
              </a:r>
            </a:p>
          </p:txBody>
        </p:sp>
      </p:grpSp>
      <p:grpSp>
        <p:nvGrpSpPr>
          <p:cNvPr id="12" name="p02-item-1"/>
          <p:cNvGrpSpPr/>
          <p:nvPr/>
        </p:nvGrpSpPr>
        <p:grpSpPr>
          <a:xfrm>
            <a:off x="609600" y="2362200"/>
            <a:ext cx="8932411" cy="697039"/>
            <a:chOff x="609600" y="2362200"/>
            <a:chExt cx="8932411" cy="697039"/>
          </a:xfrm>
        </p:grpSpPr>
        <p:sp>
          <p:nvSpPr>
            <p:cNvPr id="7" name="Rectangle 7"/>
            <p:cNvSpPr/>
            <p:nvPr/>
          </p:nvSpPr>
          <p:spPr>
            <a:xfrm>
              <a:off x="647700" y="2400300"/>
              <a:ext cx="552450" cy="552450"/>
            </a:xfrm>
            <a:prstGeom prst="roundRect">
              <a:avLst>
                <a:gd name="adj" fmla="val 17241"/>
              </a:avLst>
            </a:prstGeom>
            <a:noFill/>
            <a:ln w="14288">
              <a:solidFill>
                <a:srgbClr val="1B2430"/>
              </a:solidFill>
            </a:ln>
          </p:spPr>
        </p:sp>
        <p:sp>
          <p:nvSpPr>
            <p:cNvPr id="8" name="Rectangle 8"/>
            <p:cNvSpPr/>
            <p:nvPr/>
          </p:nvSpPr>
          <p:spPr>
            <a:xfrm>
              <a:off x="609600" y="2362200"/>
              <a:ext cx="552450" cy="552450"/>
            </a:xfrm>
            <a:prstGeom prst="roundRect">
              <a:avLst>
                <a:gd name="adj" fmla="val 17241"/>
              </a:avLst>
            </a:prstGeom>
            <a:solidFill>
              <a:schemeClr val="accent1"/>
            </a:solidFill>
            <a:ln w="14288">
              <a:solidFill>
                <a:srgbClr val="1B2430"/>
              </a:solidFill>
            </a:ln>
          </p:spPr>
        </p:sp>
        <p:sp>
          <p:nvSpPr>
            <p:cNvPr id="9" name="TextBox 9"/>
            <p:cNvSpPr txBox="1"/>
            <p:nvPr/>
          </p:nvSpPr>
          <p:spPr>
            <a:xfrm>
              <a:off x="724924" y="2523172"/>
              <a:ext cx="321802" cy="381381"/>
            </a:xfrm>
            <a:prstGeom prst="rect">
              <a:avLst/>
            </a:prstGeom>
            <a:noFill/>
            <a:ln>
              <a:noFill/>
            </a:ln>
          </p:spPr>
          <p:txBody>
            <a:bodyPr wrap="none" lIns="0" tIns="0" rIns="0" bIns="0" anchor="t" anchorCtr="0">
              <a:spAutoFit/>
            </a:bodyPr>
            <a:lstStyle/>
            <a:p>
              <a:pPr algn="ctr"/>
              <a:r>
                <a:rPr lang="vi" sz="1950" b="1" dirty="0">
                  <a:solidFill>
                    <a:srgbClr val="FFFFFF"/>
                  </a:solidFill>
                  <a:latin typeface="+mn-lt"/>
                  <a:ea typeface="+mn-ea"/>
                  <a:cs typeface="+mn-cs"/>
                </a:rPr>
                <a:t>01</a:t>
              </a:r>
            </a:p>
          </p:txBody>
        </p:sp>
        <p:sp>
          <p:nvSpPr>
            <p:cNvPr id="10" name="TextBox 10"/>
            <p:cNvSpPr txBox="1"/>
            <p:nvPr/>
          </p:nvSpPr>
          <p:spPr>
            <a:xfrm>
              <a:off x="1419606" y="2415540"/>
              <a:ext cx="3944853" cy="352044"/>
            </a:xfrm>
            <a:prstGeom prst="rect">
              <a:avLst/>
            </a:prstGeom>
            <a:noFill/>
            <a:ln>
              <a:noFill/>
            </a:ln>
          </p:spPr>
          <p:txBody>
            <a:bodyPr wrap="none" lIns="0" tIns="0" rIns="0" bIns="0" anchor="t" anchorCtr="0">
              <a:spAutoFit/>
            </a:bodyPr>
            <a:lstStyle/>
            <a:p>
              <a:pPr algn="l"/>
              <a:r>
                <a:rPr lang="vi" sz="1800" b="1" dirty="0">
                  <a:solidFill>
                    <a:schemeClr val="accent1"/>
                  </a:solidFill>
                  <a:latin typeface="+mn-lt"/>
                  <a:ea typeface="+mn-ea"/>
                  <a:cs typeface="+mn-cs"/>
                </a:rPr>
                <a:t>Classifier đang đoán theo giới tính</a:t>
              </a:r>
            </a:p>
          </p:txBody>
        </p:sp>
        <p:sp>
          <p:nvSpPr>
            <p:cNvPr id="11" name="TextBox 11"/>
            <p:cNvSpPr txBox="1"/>
            <p:nvPr/>
          </p:nvSpPr>
          <p:spPr>
            <a:xfrm>
              <a:off x="1420368" y="2736532"/>
              <a:ext cx="8121643" cy="322707"/>
            </a:xfrm>
            <a:prstGeom prst="rect">
              <a:avLst/>
            </a:prstGeom>
            <a:noFill/>
            <a:ln>
              <a:noFill/>
            </a:ln>
          </p:spPr>
          <p:txBody>
            <a:bodyPr wrap="none" lIns="0" tIns="0" rIns="0" bIns="0" anchor="t" anchorCtr="0">
              <a:spAutoFit/>
            </a:bodyPr>
            <a:lstStyle/>
            <a:p>
              <a:pPr algn="l"/>
              <a:r>
                <a:rPr lang="vi" sz="1650" dirty="0">
                  <a:solidFill>
                    <a:schemeClr val="accent5"/>
                  </a:solidFill>
                  <a:latin typeface="+mn-lt"/>
                  <a:ea typeface="+mn-ea"/>
                  <a:cs typeface="+mn-cs"/>
                </a:rPr>
                <a:t>Một classifier đọc tiểu sử để đoán nghề nghiệp, và tín hiệu nó bám vào là giới tính.</a:t>
              </a:r>
            </a:p>
          </p:txBody>
        </p:sp>
      </p:grpSp>
      <p:grpSp>
        <p:nvGrpSpPr>
          <p:cNvPr id="18" name="p02-item-2"/>
          <p:cNvGrpSpPr/>
          <p:nvPr/>
        </p:nvGrpSpPr>
        <p:grpSpPr>
          <a:xfrm>
            <a:off x="609600" y="3314700"/>
            <a:ext cx="9450318" cy="697039"/>
            <a:chOff x="609600" y="3314700"/>
            <a:chExt cx="9450318" cy="697039"/>
          </a:xfrm>
        </p:grpSpPr>
        <p:sp>
          <p:nvSpPr>
            <p:cNvPr id="13" name="Rectangle 13"/>
            <p:cNvSpPr/>
            <p:nvPr/>
          </p:nvSpPr>
          <p:spPr>
            <a:xfrm>
              <a:off x="647700" y="3352800"/>
              <a:ext cx="552450" cy="552450"/>
            </a:xfrm>
            <a:prstGeom prst="roundRect">
              <a:avLst>
                <a:gd name="adj" fmla="val 17241"/>
              </a:avLst>
            </a:prstGeom>
            <a:noFill/>
            <a:ln w="14288">
              <a:solidFill>
                <a:srgbClr val="1B2430"/>
              </a:solidFill>
            </a:ln>
          </p:spPr>
        </p:sp>
        <p:sp>
          <p:nvSpPr>
            <p:cNvPr id="14" name="Rectangle 14"/>
            <p:cNvSpPr/>
            <p:nvPr/>
          </p:nvSpPr>
          <p:spPr>
            <a:xfrm>
              <a:off x="609600" y="3314700"/>
              <a:ext cx="552450" cy="552450"/>
            </a:xfrm>
            <a:prstGeom prst="roundRect">
              <a:avLst>
                <a:gd name="adj" fmla="val 17241"/>
              </a:avLst>
            </a:prstGeom>
            <a:solidFill>
              <a:schemeClr val="accent3"/>
            </a:solidFill>
            <a:ln w="14288">
              <a:solidFill>
                <a:srgbClr val="1B2430"/>
              </a:solidFill>
            </a:ln>
          </p:spPr>
        </p:sp>
        <p:sp>
          <p:nvSpPr>
            <p:cNvPr id="15" name="TextBox 15"/>
            <p:cNvSpPr txBox="1"/>
            <p:nvPr/>
          </p:nvSpPr>
          <p:spPr>
            <a:xfrm>
              <a:off x="724924" y="3475672"/>
              <a:ext cx="321802" cy="381381"/>
            </a:xfrm>
            <a:prstGeom prst="rect">
              <a:avLst/>
            </a:prstGeom>
            <a:noFill/>
            <a:ln>
              <a:noFill/>
            </a:ln>
          </p:spPr>
          <p:txBody>
            <a:bodyPr wrap="none" lIns="0" tIns="0" rIns="0" bIns="0" anchor="t" anchorCtr="0">
              <a:spAutoFit/>
            </a:bodyPr>
            <a:lstStyle/>
            <a:p>
              <a:pPr algn="ctr"/>
              <a:r>
                <a:rPr lang="vi" sz="1950" b="1" dirty="0">
                  <a:solidFill>
                    <a:srgbClr val="FFFFFF"/>
                  </a:solidFill>
                  <a:latin typeface="+mn-lt"/>
                  <a:ea typeface="+mn-ea"/>
                  <a:cs typeface="+mn-cs"/>
                </a:rPr>
                <a:t>02</a:t>
              </a:r>
            </a:p>
          </p:txBody>
        </p:sp>
        <p:sp>
          <p:nvSpPr>
            <p:cNvPr id="16" name="TextBox 16"/>
            <p:cNvSpPr txBox="1"/>
            <p:nvPr/>
          </p:nvSpPr>
          <p:spPr>
            <a:xfrm>
              <a:off x="1419606" y="3368040"/>
              <a:ext cx="3859897" cy="352044"/>
            </a:xfrm>
            <a:prstGeom prst="rect">
              <a:avLst/>
            </a:prstGeom>
            <a:noFill/>
            <a:ln>
              <a:noFill/>
            </a:ln>
          </p:spPr>
          <p:txBody>
            <a:bodyPr wrap="none" lIns="0" tIns="0" rIns="0" bIns="0" anchor="t" anchorCtr="0">
              <a:spAutoFit/>
            </a:bodyPr>
            <a:lstStyle/>
            <a:p>
              <a:pPr algn="l"/>
              <a:r>
                <a:rPr lang="vi" sz="1800" b="1" dirty="0">
                  <a:solidFill>
                    <a:schemeClr val="accent3"/>
                  </a:solidFill>
                  <a:latin typeface="+mn-lt"/>
                  <a:ea typeface="+mn-ea"/>
                  <a:cs typeface="+mn-cs"/>
                </a:rPr>
                <a:t>Giới tính dự báo nhãn đúng 100%</a:t>
              </a:r>
            </a:p>
          </p:txBody>
        </p:sp>
        <p:sp>
          <p:nvSpPr>
            <p:cNvPr id="17" name="TextBox 17"/>
            <p:cNvSpPr txBox="1"/>
            <p:nvPr/>
          </p:nvSpPr>
          <p:spPr>
            <a:xfrm>
              <a:off x="1420368" y="3689032"/>
              <a:ext cx="8639550" cy="322707"/>
            </a:xfrm>
            <a:prstGeom prst="rect">
              <a:avLst/>
            </a:prstGeom>
            <a:noFill/>
            <a:ln>
              <a:noFill/>
            </a:ln>
          </p:spPr>
          <p:txBody>
            <a:bodyPr wrap="none" lIns="0" tIns="0" rIns="0" bIns="0" anchor="t" anchorCtr="0">
              <a:spAutoFit/>
            </a:bodyPr>
            <a:lstStyle/>
            <a:p>
              <a:pPr algn="l"/>
              <a:r>
                <a:rPr lang="vi" sz="1650" dirty="0">
                  <a:solidFill>
                    <a:schemeClr val="accent5"/>
                  </a:solidFill>
                  <a:latin typeface="+mn-lt"/>
                  <a:ea typeface="+mn-ea"/>
                  <a:cs typeface="+mn-cs"/>
                </a:rPr>
                <a:t>Dữ liệu train chỉ có nam giáo sư và nữ y tá, nên giới tính trùng khớp hoàn toàn với nhãn.</a:t>
              </a:r>
            </a:p>
          </p:txBody>
        </p:sp>
      </p:grpSp>
      <p:grpSp>
        <p:nvGrpSpPr>
          <p:cNvPr id="24" name="p02-item-3"/>
          <p:cNvGrpSpPr/>
          <p:nvPr/>
        </p:nvGrpSpPr>
        <p:grpSpPr>
          <a:xfrm>
            <a:off x="609600" y="4267200"/>
            <a:ext cx="8123602" cy="963739"/>
            <a:chOff x="609600" y="4267200"/>
            <a:chExt cx="8123602" cy="963739"/>
          </a:xfrm>
        </p:grpSpPr>
        <p:sp>
          <p:nvSpPr>
            <p:cNvPr id="19" name="Rectangle 19"/>
            <p:cNvSpPr/>
            <p:nvPr/>
          </p:nvSpPr>
          <p:spPr>
            <a:xfrm>
              <a:off x="647700" y="4305300"/>
              <a:ext cx="552450" cy="552450"/>
            </a:xfrm>
            <a:prstGeom prst="roundRect">
              <a:avLst>
                <a:gd name="adj" fmla="val 17241"/>
              </a:avLst>
            </a:prstGeom>
            <a:noFill/>
            <a:ln w="14288">
              <a:solidFill>
                <a:srgbClr val="1B2430"/>
              </a:solidFill>
            </a:ln>
          </p:spPr>
        </p:sp>
        <p:sp>
          <p:nvSpPr>
            <p:cNvPr id="20" name="Rectangle 20"/>
            <p:cNvSpPr/>
            <p:nvPr/>
          </p:nvSpPr>
          <p:spPr>
            <a:xfrm>
              <a:off x="609600" y="4267200"/>
              <a:ext cx="552450" cy="552450"/>
            </a:xfrm>
            <a:prstGeom prst="roundRect">
              <a:avLst>
                <a:gd name="adj" fmla="val 17241"/>
              </a:avLst>
            </a:prstGeom>
            <a:solidFill>
              <a:srgbClr val="8B5A5F"/>
            </a:solidFill>
            <a:ln w="14288">
              <a:solidFill>
                <a:srgbClr val="1B2430"/>
              </a:solidFill>
            </a:ln>
          </p:spPr>
        </p:sp>
        <p:sp>
          <p:nvSpPr>
            <p:cNvPr id="21" name="TextBox 21"/>
            <p:cNvSpPr txBox="1"/>
            <p:nvPr/>
          </p:nvSpPr>
          <p:spPr>
            <a:xfrm>
              <a:off x="724924" y="4428172"/>
              <a:ext cx="321802" cy="381381"/>
            </a:xfrm>
            <a:prstGeom prst="rect">
              <a:avLst/>
            </a:prstGeom>
            <a:noFill/>
            <a:ln>
              <a:noFill/>
            </a:ln>
          </p:spPr>
          <p:txBody>
            <a:bodyPr wrap="none" lIns="0" tIns="0" rIns="0" bIns="0" anchor="t" anchorCtr="0">
              <a:spAutoFit/>
            </a:bodyPr>
            <a:lstStyle/>
            <a:p>
              <a:pPr algn="ctr"/>
              <a:r>
                <a:rPr lang="vi" sz="1950" b="1" dirty="0">
                  <a:solidFill>
                    <a:srgbClr val="FFFFFF"/>
                  </a:solidFill>
                  <a:latin typeface="+mn-lt"/>
                  <a:ea typeface="+mn-ea"/>
                  <a:cs typeface="+mn-cs"/>
                </a:rPr>
                <a:t>03</a:t>
              </a:r>
            </a:p>
          </p:txBody>
        </p:sp>
        <p:sp>
          <p:nvSpPr>
            <p:cNvPr id="22" name="TextBox 22"/>
            <p:cNvSpPr txBox="1"/>
            <p:nvPr/>
          </p:nvSpPr>
          <p:spPr>
            <a:xfrm>
              <a:off x="1419606" y="4320540"/>
              <a:ext cx="4266640" cy="352044"/>
            </a:xfrm>
            <a:prstGeom prst="rect">
              <a:avLst/>
            </a:prstGeom>
            <a:noFill/>
            <a:ln>
              <a:noFill/>
            </a:ln>
          </p:spPr>
          <p:txBody>
            <a:bodyPr wrap="none" lIns="0" tIns="0" rIns="0" bIns="0" anchor="t" anchorCtr="0">
              <a:spAutoFit/>
            </a:bodyPr>
            <a:lstStyle/>
            <a:p>
              <a:pPr algn="l"/>
              <a:r>
                <a:rPr lang="vi" sz="1800" b="1" dirty="0">
                  <a:solidFill>
                    <a:srgbClr val="8B5A5F"/>
                  </a:solidFill>
                  <a:latin typeface="+mn-lt"/>
                  <a:ea typeface="+mn-ea"/>
                  <a:cs typeface="+mn-cs"/>
                </a:rPr>
                <a:t>Không có mẫu nào để nói rằng nó sai</a:t>
              </a:r>
            </a:p>
          </p:txBody>
        </p:sp>
        <p:sp>
          <p:nvSpPr>
            <p:cNvPr id="23" name="TextBox 23"/>
            <p:cNvSpPr txBox="1"/>
            <p:nvPr/>
          </p:nvSpPr>
          <p:spPr>
            <a:xfrm>
              <a:off x="1420368" y="4641532"/>
              <a:ext cx="7312834" cy="589407"/>
            </a:xfrm>
            <a:prstGeom prst="rect">
              <a:avLst/>
            </a:prstGeom>
            <a:noFill/>
            <a:ln>
              <a:noFill/>
            </a:ln>
          </p:spPr>
          <p:txBody>
            <a:bodyPr wrap="none" lIns="0" tIns="0" rIns="0" bIns="0" anchor="t" anchorCtr="0">
              <a:spAutoFit/>
            </a:bodyPr>
            <a:lstStyle/>
            <a:p>
              <a:pPr algn="l">
                <a:lnSpc>
                  <a:spcPts val="2100"/>
                </a:lnSpc>
              </a:pPr>
              <a:r>
                <a:rPr lang="vi" sz="1650" dirty="0">
                  <a:solidFill>
                    <a:schemeClr val="accent5"/>
                  </a:solidFill>
                  <a:latin typeface="+mn-lt"/>
                  <a:ea typeface="+mn-ea"/>
                  <a:cs typeface="+mn-cs"/>
                </a:rPr>
                <a:t>Mọi phương pháp debias tiêu chuẩn đều cần dữ liệu trong đó tín hiệu spurious</a:t>
              </a:r>
              <a:br/>
              <a:r>
                <a:rPr lang="vi" sz="1650" dirty="0">
                  <a:solidFill>
                    <a:schemeClr val="accent5"/>
                  </a:solidFill>
                  <a:latin typeface="+mn-lt"/>
                  <a:ea typeface="+mn-ea"/>
                  <a:cs typeface="+mn-cs"/>
                </a:rPr>
                <a:t>dự báo kém hơn tín hiệu đích. Ở đây không tồn tại một mẫu như vậy.</a:t>
              </a:r>
            </a:p>
          </p:txBody>
        </p:sp>
      </p:grpSp>
      <p:grpSp>
        <p:nvGrpSpPr>
          <p:cNvPr id="27" name="p02-loi-giai"/>
          <p:cNvGrpSpPr/>
          <p:nvPr/>
        </p:nvGrpSpPr>
        <p:grpSpPr>
          <a:xfrm>
            <a:off x="609600" y="5524500"/>
            <a:ext cx="10972800" cy="844867"/>
            <a:chOff x="609600" y="5524500"/>
            <a:chExt cx="10972800" cy="844867"/>
          </a:xfrm>
        </p:grpSpPr>
        <p:sp>
          <p:nvSpPr>
            <p:cNvPr id="25" name="Rectangle 25"/>
            <p:cNvSpPr/>
            <p:nvPr/>
          </p:nvSpPr>
          <p:spPr>
            <a:xfrm>
              <a:off x="609600" y="5524500"/>
              <a:ext cx="10972800" cy="781050"/>
            </a:xfrm>
            <a:prstGeom prst="roundRect">
              <a:avLst>
                <a:gd name="adj" fmla="val 14634"/>
              </a:avLst>
            </a:prstGeom>
            <a:solidFill>
              <a:schemeClr val="lt2"/>
            </a:solidFill>
            <a:ln>
              <a:noFill/>
            </a:ln>
          </p:spPr>
        </p:sp>
        <p:sp>
          <p:nvSpPr>
            <p:cNvPr id="26" name="TextBox 26"/>
            <p:cNvSpPr txBox="1"/>
            <p:nvPr/>
          </p:nvSpPr>
          <p:spPr>
            <a:xfrm>
              <a:off x="941070" y="5605462"/>
              <a:ext cx="9207694" cy="763905"/>
            </a:xfrm>
            <a:prstGeom prst="rect">
              <a:avLst/>
            </a:prstGeom>
            <a:noFill/>
            <a:ln>
              <a:noFill/>
            </a:ln>
          </p:spPr>
          <p:txBody>
            <a:bodyPr wrap="none" lIns="0" tIns="0" rIns="0" bIns="0" anchor="t" anchorCtr="0">
              <a:spAutoFit/>
            </a:bodyPr>
            <a:lstStyle/>
            <a:p>
              <a:pPr algn="l">
                <a:lnSpc>
                  <a:spcPts val="2550"/>
                </a:lnSpc>
              </a:pPr>
              <a:r>
                <a:rPr lang="vi" sz="2250" dirty="0">
                  <a:solidFill>
                    <a:schemeClr val="dk1"/>
                  </a:solidFill>
                  <a:latin typeface="+mn-lt"/>
                  <a:ea typeface="+mn-ea"/>
                  <a:cs typeface="+mn-cs"/>
                </a:rPr>
                <a:t>Paper lấy tín hiệu phân định từ chỗ khác: từ việc một người mở model ra,</a:t>
              </a:r>
              <a:br/>
              <a:r>
                <a:rPr lang="vi" sz="2250" dirty="0">
                  <a:solidFill>
                    <a:schemeClr val="dk1"/>
                  </a:solidFill>
                  <a:latin typeface="+mn-lt"/>
                  <a:ea typeface="+mn-ea"/>
                  <a:cs typeface="+mn-cs"/>
                </a:rPr>
                <a:t>đọc xem bên trong có gì, và chỉ vào thứ không nên có.</a:t>
              </a:r>
            </a:p>
          </p:txBody>
        </p:sp>
      </p:grpSp>
      <p:sp>
        <p:nvSpPr>
          <p:cNvPr id="28" name="TextBox 2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02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7319414" cy="1523619"/>
            <a:chOff x="592836" y="651510"/>
            <a:chExt cx="7319414" cy="1523619"/>
          </a:xfrm>
        </p:grpSpPr>
        <p:sp>
          <p:nvSpPr>
            <p:cNvPr id="4" name="TextBox 4"/>
            <p:cNvSpPr txBox="1"/>
            <p:nvPr/>
          </p:nvSpPr>
          <p:spPr>
            <a:xfrm>
              <a:off x="603504" y="651510"/>
              <a:ext cx="108950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1. Vấn đề</a:t>
              </a:r>
            </a:p>
          </p:txBody>
        </p:sp>
        <p:sp>
          <p:nvSpPr>
            <p:cNvPr id="5" name="TextBox 5"/>
            <p:cNvSpPr txBox="1"/>
            <p:nvPr/>
          </p:nvSpPr>
          <p:spPr>
            <a:xfrm>
              <a:off x="592836" y="1034415"/>
              <a:ext cx="7319414"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Hai dòng nghiên cứu trước,</a:t>
              </a:r>
              <a:br/>
              <a:r>
                <a:rPr lang="vi" sz="3300" b="1" dirty="0">
                  <a:solidFill>
                    <a:schemeClr val="dk1"/>
                  </a:solidFill>
                  <a:latin typeface="+mn-lt"/>
                  <a:ea typeface="+mn-ea"/>
                  <a:cs typeface="+mn-cs"/>
                </a:rPr>
                <a:t>mỗi dòng hỏng ở một chỗ khác nhau</a:t>
              </a:r>
            </a:p>
          </p:txBody>
        </p:sp>
      </p:grpSp>
      <p:grpSp>
        <p:nvGrpSpPr>
          <p:cNvPr id="13" name="p03-dong-1"/>
          <p:cNvGrpSpPr/>
          <p:nvPr/>
        </p:nvGrpSpPr>
        <p:grpSpPr>
          <a:xfrm>
            <a:off x="609600" y="2381250"/>
            <a:ext cx="10569451" cy="1020889"/>
            <a:chOff x="609600" y="2381250"/>
            <a:chExt cx="10569451" cy="1020889"/>
          </a:xfrm>
        </p:grpSpPr>
        <p:sp>
          <p:nvSpPr>
            <p:cNvPr id="7" name="Rectangle 7"/>
            <p:cNvSpPr/>
            <p:nvPr/>
          </p:nvSpPr>
          <p:spPr>
            <a:xfrm>
              <a:off x="647700" y="2419350"/>
              <a:ext cx="552450" cy="552450"/>
            </a:xfrm>
            <a:prstGeom prst="roundRect">
              <a:avLst>
                <a:gd name="adj" fmla="val 17241"/>
              </a:avLst>
            </a:prstGeom>
            <a:noFill/>
            <a:ln w="14288">
              <a:solidFill>
                <a:srgbClr val="1B2430"/>
              </a:solidFill>
            </a:ln>
          </p:spPr>
        </p:sp>
        <p:sp>
          <p:nvSpPr>
            <p:cNvPr id="8" name="Rectangle 8"/>
            <p:cNvSpPr/>
            <p:nvPr/>
          </p:nvSpPr>
          <p:spPr>
            <a:xfrm>
              <a:off x="609600" y="2381250"/>
              <a:ext cx="552450" cy="552450"/>
            </a:xfrm>
            <a:prstGeom prst="roundRect">
              <a:avLst>
                <a:gd name="adj" fmla="val 17241"/>
              </a:avLst>
            </a:prstGeom>
            <a:solidFill>
              <a:schemeClr val="accent1"/>
            </a:solidFill>
            <a:ln w="14288">
              <a:solidFill>
                <a:srgbClr val="1B2430"/>
              </a:solidFill>
            </a:ln>
          </p:spPr>
        </p:sp>
        <p:sp>
          <p:nvSpPr>
            <p:cNvPr id="9" name="TextBox 9"/>
            <p:cNvSpPr txBox="1"/>
            <p:nvPr/>
          </p:nvSpPr>
          <p:spPr>
            <a:xfrm>
              <a:off x="724924" y="2542222"/>
              <a:ext cx="321802" cy="381381"/>
            </a:xfrm>
            <a:prstGeom prst="rect">
              <a:avLst/>
            </a:prstGeom>
            <a:noFill/>
            <a:ln>
              <a:noFill/>
            </a:ln>
          </p:spPr>
          <p:txBody>
            <a:bodyPr wrap="none" lIns="0" tIns="0" rIns="0" bIns="0" anchor="t" anchorCtr="0">
              <a:spAutoFit/>
            </a:bodyPr>
            <a:lstStyle/>
            <a:p>
              <a:pPr algn="ctr"/>
              <a:r>
                <a:rPr lang="vi" sz="1950" b="1" dirty="0">
                  <a:solidFill>
                    <a:srgbClr val="FFFFFF"/>
                  </a:solidFill>
                  <a:latin typeface="+mn-lt"/>
                  <a:ea typeface="+mn-ea"/>
                  <a:cs typeface="+mn-cs"/>
                </a:rPr>
                <a:t>01</a:t>
              </a:r>
            </a:p>
          </p:txBody>
        </p:sp>
        <p:sp>
          <p:nvSpPr>
            <p:cNvPr id="10" name="TextBox 10"/>
            <p:cNvSpPr txBox="1"/>
            <p:nvPr/>
          </p:nvSpPr>
          <p:spPr>
            <a:xfrm>
              <a:off x="1419606" y="2434590"/>
              <a:ext cx="4477964" cy="352044"/>
            </a:xfrm>
            <a:prstGeom prst="rect">
              <a:avLst/>
            </a:prstGeom>
            <a:noFill/>
            <a:ln>
              <a:noFill/>
            </a:ln>
          </p:spPr>
          <p:txBody>
            <a:bodyPr wrap="none" lIns="0" tIns="0" rIns="0" bIns="0" anchor="t" anchorCtr="0">
              <a:spAutoFit/>
            </a:bodyPr>
            <a:lstStyle/>
            <a:p>
              <a:pPr algn="l"/>
              <a:r>
                <a:rPr lang="vi" sz="1800" b="1" dirty="0">
                  <a:solidFill>
                    <a:schemeClr val="accent1"/>
                  </a:solidFill>
                  <a:latin typeface="+mn-lt"/>
                  <a:ea typeface="+mn-ea"/>
                  <a:cs typeface="+mn-cs"/>
                </a:rPr>
                <a:t>Circuit trên component thô, 2022-2023</a:t>
              </a:r>
            </a:p>
          </p:txBody>
        </p:sp>
        <p:sp>
          <p:nvSpPr>
            <p:cNvPr id="11" name="TextBox 11"/>
            <p:cNvSpPr txBox="1"/>
            <p:nvPr/>
          </p:nvSpPr>
          <p:spPr>
            <a:xfrm>
              <a:off x="1420368" y="2774632"/>
              <a:ext cx="9700048" cy="322707"/>
            </a:xfrm>
            <a:prstGeom prst="rect">
              <a:avLst/>
            </a:prstGeom>
            <a:noFill/>
            <a:ln>
              <a:noFill/>
            </a:ln>
          </p:spPr>
          <p:txBody>
            <a:bodyPr wrap="none" lIns="0" tIns="0" rIns="0" bIns="0" anchor="t" anchorCtr="0">
              <a:spAutoFit/>
            </a:bodyPr>
            <a:lstStyle/>
            <a:p>
              <a:pPr algn="l"/>
              <a:r>
                <a:rPr lang="vi" sz="1650" dirty="0">
                  <a:solidFill>
                    <a:schemeClr val="accent5"/>
                  </a:solidFill>
                  <a:latin typeface="+mn-lt"/>
                  <a:ea typeface="+mn-ea"/>
                  <a:cs typeface="+mn-cs"/>
                </a:rPr>
                <a:t>Induction heads (Olsson 2022), ROME (Meng 2022), IOI circuit (Wang 2023), ACDC (Conmy 2023).</a:t>
              </a:r>
            </a:p>
          </p:txBody>
        </p:sp>
        <p:sp>
          <p:nvSpPr>
            <p:cNvPr id="12" name="TextBox 12"/>
            <p:cNvSpPr txBox="1"/>
            <p:nvPr/>
          </p:nvSpPr>
          <p:spPr>
            <a:xfrm>
              <a:off x="1420368" y="3079432"/>
              <a:ext cx="9758683" cy="322707"/>
            </a:xfrm>
            <a:prstGeom prst="rect">
              <a:avLst/>
            </a:prstGeom>
            <a:noFill/>
            <a:ln>
              <a:noFill/>
            </a:ln>
          </p:spPr>
          <p:txBody>
            <a:bodyPr wrap="none" lIns="0" tIns="0" rIns="0" bIns="0" anchor="t" anchorCtr="0">
              <a:spAutoFit/>
            </a:bodyPr>
            <a:lstStyle/>
            <a:p>
              <a:pPr algn="l"/>
              <a:r>
                <a:rPr lang="vi" sz="1650" b="1" dirty="0">
                  <a:solidFill>
                    <a:schemeClr val="dk1"/>
                  </a:solidFill>
                  <a:latin typeface="+mn-lt"/>
                  <a:ea typeface="+mn-ea"/>
                  <a:cs typeface="+mn-cs"/>
                </a:rPr>
                <a:t>Chỗ hỏng.</a:t>
              </a:r>
              <a:r>
                <a:rPr lang="vi" sz="1650" dirty="0">
                  <a:solidFill>
                    <a:schemeClr val="dk1"/>
                  </a:solidFill>
                  <a:latin typeface="+mn-lt"/>
                  <a:ea typeface="+mn-ea"/>
                  <a:cs typeface="+mn-cs"/>
                </a:rPr>
                <a:t xml:space="preserve"> Head và neuron polysemantic, nên nhãn gán cho chúng không dùng được downstream.</a:t>
              </a:r>
            </a:p>
          </p:txBody>
        </p:sp>
      </p:grpSp>
      <p:grpSp>
        <p:nvGrpSpPr>
          <p:cNvPr id="20" name="p03-dong-2"/>
          <p:cNvGrpSpPr/>
          <p:nvPr/>
        </p:nvGrpSpPr>
        <p:grpSpPr>
          <a:xfrm>
            <a:off x="609600" y="3752850"/>
            <a:ext cx="10590657" cy="1287589"/>
            <a:chOff x="609600" y="3752850"/>
            <a:chExt cx="10590657" cy="1287589"/>
          </a:xfrm>
        </p:grpSpPr>
        <p:sp>
          <p:nvSpPr>
            <p:cNvPr id="14" name="Rectangle 14"/>
            <p:cNvSpPr/>
            <p:nvPr/>
          </p:nvSpPr>
          <p:spPr>
            <a:xfrm>
              <a:off x="647700" y="3790950"/>
              <a:ext cx="552450" cy="552450"/>
            </a:xfrm>
            <a:prstGeom prst="roundRect">
              <a:avLst>
                <a:gd name="adj" fmla="val 17241"/>
              </a:avLst>
            </a:prstGeom>
            <a:noFill/>
            <a:ln w="14288">
              <a:solidFill>
                <a:srgbClr val="1B2430"/>
              </a:solidFill>
            </a:ln>
          </p:spPr>
        </p:sp>
        <p:sp>
          <p:nvSpPr>
            <p:cNvPr id="15" name="Rectangle 15"/>
            <p:cNvSpPr/>
            <p:nvPr/>
          </p:nvSpPr>
          <p:spPr>
            <a:xfrm>
              <a:off x="609600" y="3752850"/>
              <a:ext cx="552450" cy="552450"/>
            </a:xfrm>
            <a:prstGeom prst="roundRect">
              <a:avLst>
                <a:gd name="adj" fmla="val 17241"/>
              </a:avLst>
            </a:prstGeom>
            <a:solidFill>
              <a:schemeClr val="accent3"/>
            </a:solidFill>
            <a:ln w="14288">
              <a:solidFill>
                <a:srgbClr val="1B2430"/>
              </a:solidFill>
            </a:ln>
          </p:spPr>
        </p:sp>
        <p:sp>
          <p:nvSpPr>
            <p:cNvPr id="16" name="TextBox 16"/>
            <p:cNvSpPr txBox="1"/>
            <p:nvPr/>
          </p:nvSpPr>
          <p:spPr>
            <a:xfrm>
              <a:off x="724924" y="3913822"/>
              <a:ext cx="321802" cy="381381"/>
            </a:xfrm>
            <a:prstGeom prst="rect">
              <a:avLst/>
            </a:prstGeom>
            <a:noFill/>
            <a:ln>
              <a:noFill/>
            </a:ln>
          </p:spPr>
          <p:txBody>
            <a:bodyPr wrap="none" lIns="0" tIns="0" rIns="0" bIns="0" anchor="t" anchorCtr="0">
              <a:spAutoFit/>
            </a:bodyPr>
            <a:lstStyle/>
            <a:p>
              <a:pPr algn="ctr"/>
              <a:r>
                <a:rPr lang="vi" sz="1950" b="1" dirty="0">
                  <a:solidFill>
                    <a:srgbClr val="FFFFFF"/>
                  </a:solidFill>
                  <a:latin typeface="+mn-lt"/>
                  <a:ea typeface="+mn-ea"/>
                  <a:cs typeface="+mn-cs"/>
                </a:rPr>
                <a:t>02</a:t>
              </a:r>
            </a:p>
          </p:txBody>
        </p:sp>
        <p:sp>
          <p:nvSpPr>
            <p:cNvPr id="17" name="TextBox 17"/>
            <p:cNvSpPr txBox="1"/>
            <p:nvPr/>
          </p:nvSpPr>
          <p:spPr>
            <a:xfrm>
              <a:off x="1419606" y="3806190"/>
              <a:ext cx="4919530" cy="352044"/>
            </a:xfrm>
            <a:prstGeom prst="rect">
              <a:avLst/>
            </a:prstGeom>
            <a:noFill/>
            <a:ln>
              <a:noFill/>
            </a:ln>
          </p:spPr>
          <p:txBody>
            <a:bodyPr wrap="none" lIns="0" tIns="0" rIns="0" bIns="0" anchor="t" anchorCtr="0">
              <a:spAutoFit/>
            </a:bodyPr>
            <a:lstStyle/>
            <a:p>
              <a:pPr algn="l"/>
              <a:r>
                <a:rPr lang="vi" sz="1800" b="1" dirty="0">
                  <a:solidFill>
                    <a:schemeClr val="accent3"/>
                  </a:solidFill>
                  <a:latin typeface="+mn-lt"/>
                  <a:ea typeface="+mn-ea"/>
                  <a:cs typeface="+mn-cs"/>
                </a:rPr>
                <a:t>Đơn vị mịn nhưng cần giám sát, 2018-2023</a:t>
              </a:r>
            </a:p>
          </p:txBody>
        </p:sp>
        <p:sp>
          <p:nvSpPr>
            <p:cNvPr id="18" name="TextBox 18"/>
            <p:cNvSpPr txBox="1"/>
            <p:nvPr/>
          </p:nvSpPr>
          <p:spPr>
            <a:xfrm>
              <a:off x="1420368" y="4146232"/>
              <a:ext cx="6981598" cy="589407"/>
            </a:xfrm>
            <a:prstGeom prst="rect">
              <a:avLst/>
            </a:prstGeom>
            <a:noFill/>
            <a:ln>
              <a:noFill/>
            </a:ln>
          </p:spPr>
          <p:txBody>
            <a:bodyPr wrap="none" lIns="0" tIns="0" rIns="0" bIns="0" anchor="t" anchorCtr="0">
              <a:spAutoFit/>
            </a:bodyPr>
            <a:lstStyle/>
            <a:p>
              <a:pPr algn="l">
                <a:lnSpc>
                  <a:spcPts val="2100"/>
                </a:lnSpc>
              </a:pPr>
              <a:r>
                <a:rPr lang="vi" sz="1650" dirty="0">
                  <a:solidFill>
                    <a:schemeClr val="accent5"/>
                  </a:solidFill>
                  <a:latin typeface="+mn-lt"/>
                  <a:ea typeface="+mn-ea"/>
                  <a:cs typeface="+mn-cs"/>
                </a:rPr>
                <a:t>TCAV (Kim 2018), probing (Belinkov 2022), causal abstraction (Geiger 2023),</a:t>
              </a:r>
              <a:br/>
              <a:r>
                <a:rPr lang="vi" sz="1650" dirty="0">
                  <a:solidFill>
                    <a:schemeClr val="accent5"/>
                  </a:solidFill>
                  <a:latin typeface="+mn-lt"/>
                  <a:ea typeface="+mn-ea"/>
                  <a:cs typeface="+mn-cs"/>
                </a:rPr>
                <a:t>representation engineering (Zou 2023).</a:t>
              </a:r>
            </a:p>
          </p:txBody>
        </p:sp>
        <p:sp>
          <p:nvSpPr>
            <p:cNvPr id="19" name="TextBox 19"/>
            <p:cNvSpPr txBox="1"/>
            <p:nvPr/>
          </p:nvSpPr>
          <p:spPr>
            <a:xfrm>
              <a:off x="1420368" y="4717732"/>
              <a:ext cx="9779889" cy="322707"/>
            </a:xfrm>
            <a:prstGeom prst="rect">
              <a:avLst/>
            </a:prstGeom>
            <a:noFill/>
            <a:ln>
              <a:noFill/>
            </a:ln>
          </p:spPr>
          <p:txBody>
            <a:bodyPr wrap="none" lIns="0" tIns="0" rIns="0" bIns="0" anchor="t" anchorCtr="0">
              <a:spAutoFit/>
            </a:bodyPr>
            <a:lstStyle/>
            <a:p>
              <a:pPr algn="l"/>
              <a:r>
                <a:rPr lang="vi" sz="1650" b="1" dirty="0">
                  <a:solidFill>
                    <a:schemeClr val="dk1"/>
                  </a:solidFill>
                  <a:latin typeface="+mn-lt"/>
                  <a:ea typeface="+mn-ea"/>
                  <a:cs typeface="+mn-cs"/>
                </a:rPr>
                <a:t>Chỗ hỏng.</a:t>
              </a:r>
              <a:r>
                <a:rPr lang="vi" sz="1650" dirty="0">
                  <a:solidFill>
                    <a:schemeClr val="dk1"/>
                  </a:solidFill>
                  <a:latin typeface="+mn-lt"/>
                  <a:ea typeface="+mn-ea"/>
                  <a:cs typeface="+mn-cs"/>
                </a:rPr>
                <a:t xml:space="preserve"> Chỉ chạy được khi đã biết trước cần tìm gì, nên không dùng cho hành vi chưa ai nghĩ tới.</a:t>
              </a:r>
            </a:p>
          </p:txBody>
        </p:sp>
      </p:grpSp>
      <p:grpSp>
        <p:nvGrpSpPr>
          <p:cNvPr id="23" name="p03-he-qua"/>
          <p:cNvGrpSpPr/>
          <p:nvPr/>
        </p:nvGrpSpPr>
        <p:grpSpPr>
          <a:xfrm>
            <a:off x="609600" y="5562600"/>
            <a:ext cx="10395476" cy="507873"/>
            <a:chOff x="609600" y="5562600"/>
            <a:chExt cx="10395476" cy="507873"/>
          </a:xfrm>
        </p:grpSpPr>
        <p:sp>
          <p:nvSpPr>
            <p:cNvPr id="21" name="Rectangle 21"/>
            <p:cNvSpPr/>
            <p:nvPr/>
          </p:nvSpPr>
          <p:spPr>
            <a:xfrm>
              <a:off x="609600" y="5562600"/>
              <a:ext cx="76200" cy="419100"/>
            </a:xfrm>
            <a:prstGeom prst="roundRect">
              <a:avLst>
                <a:gd name="adj" fmla="val 50000"/>
              </a:avLst>
            </a:prstGeom>
            <a:solidFill>
              <a:schemeClr val="accent2"/>
            </a:solidFill>
            <a:ln>
              <a:noFill/>
            </a:ln>
          </p:spPr>
        </p:sp>
        <p:sp>
          <p:nvSpPr>
            <p:cNvPr id="22" name="TextBox 22"/>
            <p:cNvSpPr txBox="1"/>
            <p:nvPr/>
          </p:nvSpPr>
          <p:spPr>
            <a:xfrm>
              <a:off x="941832" y="5659755"/>
              <a:ext cx="10063244" cy="410718"/>
            </a:xfrm>
            <a:prstGeom prst="rect">
              <a:avLst/>
            </a:prstGeom>
            <a:noFill/>
            <a:ln>
              <a:noFill/>
            </a:ln>
          </p:spPr>
          <p:txBody>
            <a:bodyPr wrap="none" lIns="0" tIns="0" rIns="0" bIns="0" anchor="t" anchorCtr="0">
              <a:spAutoFit/>
            </a:bodyPr>
            <a:lstStyle/>
            <a:p>
              <a:pPr algn="l"/>
              <a:r>
                <a:rPr lang="vi" sz="2100" dirty="0">
                  <a:solidFill>
                    <a:schemeClr val="dk1"/>
                  </a:solidFill>
                  <a:latin typeface="+mn-lt"/>
                  <a:ea typeface="+mn-ea"/>
                  <a:cs typeface="+mn-cs"/>
                </a:rPr>
                <a:t>Không dòng nào giải thích được nhiều hành vi không lường trước, ở quy mô lớn.</a:t>
              </a:r>
            </a:p>
          </p:txBody>
        </p:sp>
      </p:grpSp>
      <p:sp>
        <p:nvSpPr>
          <p:cNvPr id="24" name="TextBox 24"/>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03</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8041272" cy="1523619"/>
            <a:chOff x="592836" y="651510"/>
            <a:chExt cx="8041272" cy="1523619"/>
          </a:xfrm>
        </p:grpSpPr>
        <p:sp>
          <p:nvSpPr>
            <p:cNvPr id="4" name="TextBox 4"/>
            <p:cNvSpPr txBox="1"/>
            <p:nvPr/>
          </p:nvSpPr>
          <p:spPr>
            <a:xfrm>
              <a:off x="603504" y="651510"/>
              <a:ext cx="108950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1. Vấn đề</a:t>
              </a:r>
            </a:p>
          </p:txBody>
        </p:sp>
        <p:sp>
          <p:nvSpPr>
            <p:cNvPr id="5" name="TextBox 5"/>
            <p:cNvSpPr txBox="1"/>
            <p:nvPr/>
          </p:nvSpPr>
          <p:spPr>
            <a:xfrm>
              <a:off x="592836" y="1034415"/>
              <a:ext cx="8041272"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Neuron có ảnh hưởng nhân quả lớn nhất</a:t>
              </a:r>
              <a:br/>
              <a:r>
                <a:rPr lang="vi" sz="3300" b="1" dirty="0">
                  <a:solidFill>
                    <a:schemeClr val="dk1"/>
                  </a:solidFill>
                  <a:latin typeface="+mn-lt"/>
                  <a:ea typeface="+mn-ea"/>
                  <a:cs typeface="+mn-cs"/>
                </a:rPr>
                <a:t>lại khó hiểu hơn neuron lấy ngẫu nhiên</a:t>
              </a:r>
            </a:p>
          </p:txBody>
        </p:sp>
      </p:grpSp>
      <p:grpSp>
        <p:nvGrpSpPr>
          <p:cNvPr id="25" name="p04-superposition"/>
          <p:cNvGrpSpPr/>
          <p:nvPr/>
        </p:nvGrpSpPr>
        <p:grpSpPr>
          <a:xfrm>
            <a:off x="602742" y="2197418"/>
            <a:ext cx="5103686" cy="3336988"/>
            <a:chOff x="602742" y="2197418"/>
            <a:chExt cx="5103686" cy="3336988"/>
          </a:xfrm>
        </p:grpSpPr>
        <p:sp>
          <p:nvSpPr>
            <p:cNvPr id="7" name="TextBox 7"/>
            <p:cNvSpPr txBox="1"/>
            <p:nvPr/>
          </p:nvSpPr>
          <p:spPr>
            <a:xfrm>
              <a:off x="602742" y="2197418"/>
              <a:ext cx="4659882"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Residual stream có d = 512 chiều, số concept nhiều hơn d</a:t>
              </a:r>
            </a:p>
          </p:txBody>
        </p:sp>
        <p:sp>
          <p:nvSpPr>
            <p:cNvPr id="8" name="Rectangle 8"/>
            <p:cNvSpPr/>
            <p:nvPr/>
          </p:nvSpPr>
          <p:spPr>
            <a:xfrm>
              <a:off x="685800" y="2724150"/>
              <a:ext cx="1676400" cy="419100"/>
            </a:xfrm>
            <a:prstGeom prst="roundRect">
              <a:avLst>
                <a:gd name="adj" fmla="val 27273"/>
              </a:avLst>
            </a:prstGeom>
            <a:noFill/>
            <a:ln w="19050">
              <a:solidFill>
                <a:schemeClr val="accent3"/>
              </a:solidFill>
            </a:ln>
          </p:spPr>
        </p:sp>
        <p:sp>
          <p:nvSpPr>
            <p:cNvPr id="9" name="TextBox 9"/>
            <p:cNvSpPr txBox="1"/>
            <p:nvPr/>
          </p:nvSpPr>
          <p:spPr>
            <a:xfrm>
              <a:off x="1110438" y="2854642"/>
              <a:ext cx="827125" cy="264033"/>
            </a:xfrm>
            <a:prstGeom prst="rect">
              <a:avLst/>
            </a:prstGeom>
            <a:noFill/>
            <a:ln>
              <a:noFill/>
            </a:ln>
          </p:spPr>
          <p:txBody>
            <a:bodyPr wrap="none" lIns="0" tIns="0" rIns="0" bIns="0" anchor="t" anchorCtr="0">
              <a:spAutoFit/>
            </a:bodyPr>
            <a:lstStyle/>
            <a:p>
              <a:pPr algn="ctr"/>
              <a:r>
                <a:rPr lang="vi" sz="1350" dirty="0">
                  <a:solidFill>
                    <a:schemeClr val="dk1"/>
                  </a:solidFill>
                  <a:latin typeface="+mn-lt"/>
                  <a:ea typeface="+mn-ea"/>
                  <a:cs typeface="+mn-cs"/>
                </a:rPr>
                <a:t>concept A</a:t>
              </a:r>
            </a:p>
          </p:txBody>
        </p:sp>
        <p:sp>
          <p:nvSpPr>
            <p:cNvPr id="10" name="Rectangle 10"/>
            <p:cNvSpPr/>
            <p:nvPr/>
          </p:nvSpPr>
          <p:spPr>
            <a:xfrm>
              <a:off x="685800" y="3295650"/>
              <a:ext cx="1676400" cy="419100"/>
            </a:xfrm>
            <a:prstGeom prst="roundRect">
              <a:avLst>
                <a:gd name="adj" fmla="val 27273"/>
              </a:avLst>
            </a:prstGeom>
            <a:noFill/>
            <a:ln w="19050">
              <a:solidFill>
                <a:schemeClr val="accent3"/>
              </a:solidFill>
            </a:ln>
          </p:spPr>
        </p:sp>
        <p:sp>
          <p:nvSpPr>
            <p:cNvPr id="11" name="TextBox 11"/>
            <p:cNvSpPr txBox="1"/>
            <p:nvPr/>
          </p:nvSpPr>
          <p:spPr>
            <a:xfrm>
              <a:off x="1116999" y="3426142"/>
              <a:ext cx="814002" cy="264033"/>
            </a:xfrm>
            <a:prstGeom prst="rect">
              <a:avLst/>
            </a:prstGeom>
            <a:noFill/>
            <a:ln>
              <a:noFill/>
            </a:ln>
          </p:spPr>
          <p:txBody>
            <a:bodyPr wrap="none" lIns="0" tIns="0" rIns="0" bIns="0" anchor="t" anchorCtr="0">
              <a:spAutoFit/>
            </a:bodyPr>
            <a:lstStyle/>
            <a:p>
              <a:pPr algn="ctr"/>
              <a:r>
                <a:rPr lang="vi" sz="1350" dirty="0">
                  <a:solidFill>
                    <a:schemeClr val="dk1"/>
                  </a:solidFill>
                  <a:latin typeface="+mn-lt"/>
                  <a:ea typeface="+mn-ea"/>
                  <a:cs typeface="+mn-cs"/>
                </a:rPr>
                <a:t>concept B</a:t>
              </a:r>
            </a:p>
          </p:txBody>
        </p:sp>
        <p:sp>
          <p:nvSpPr>
            <p:cNvPr id="12" name="Rectangle 12"/>
            <p:cNvSpPr/>
            <p:nvPr/>
          </p:nvSpPr>
          <p:spPr>
            <a:xfrm>
              <a:off x="685800" y="3867150"/>
              <a:ext cx="1676400" cy="419100"/>
            </a:xfrm>
            <a:prstGeom prst="roundRect">
              <a:avLst>
                <a:gd name="adj" fmla="val 27273"/>
              </a:avLst>
            </a:prstGeom>
            <a:noFill/>
            <a:ln w="19050">
              <a:solidFill>
                <a:schemeClr val="accent3"/>
              </a:solidFill>
            </a:ln>
          </p:spPr>
        </p:sp>
        <p:sp>
          <p:nvSpPr>
            <p:cNvPr id="13" name="TextBox 13"/>
            <p:cNvSpPr txBox="1"/>
            <p:nvPr/>
          </p:nvSpPr>
          <p:spPr>
            <a:xfrm>
              <a:off x="1112808" y="3997642"/>
              <a:ext cx="822384" cy="264033"/>
            </a:xfrm>
            <a:prstGeom prst="rect">
              <a:avLst/>
            </a:prstGeom>
            <a:noFill/>
            <a:ln>
              <a:noFill/>
            </a:ln>
          </p:spPr>
          <p:txBody>
            <a:bodyPr wrap="none" lIns="0" tIns="0" rIns="0" bIns="0" anchor="t" anchorCtr="0">
              <a:spAutoFit/>
            </a:bodyPr>
            <a:lstStyle/>
            <a:p>
              <a:pPr algn="ctr"/>
              <a:r>
                <a:rPr lang="vi" sz="1350" dirty="0">
                  <a:solidFill>
                    <a:schemeClr val="dk1"/>
                  </a:solidFill>
                  <a:latin typeface="+mn-lt"/>
                  <a:ea typeface="+mn-ea"/>
                  <a:cs typeface="+mn-cs"/>
                </a:rPr>
                <a:t>concept C</a:t>
              </a:r>
            </a:p>
          </p:txBody>
        </p:sp>
        <p:sp>
          <p:nvSpPr>
            <p:cNvPr id="14" name="Line 14"/>
            <p:cNvSpPr/>
            <p:nvPr/>
          </p:nvSpPr>
          <p:spPr>
            <a:xfrm>
              <a:off x="2362200" y="2933700"/>
              <a:ext cx="504825" cy="609600"/>
            </a:xfrm>
            <a:custGeom>
              <a:avLst/>
              <a:gdLst/>
              <a:ahLst/>
              <a:cxnLst/>
              <a:rect l="l" t="t" r="r" b="b"/>
              <a:pathLst>
                <a:path w="504825" h="609600">
                  <a:moveTo>
                    <a:pt x="0" y="0"/>
                  </a:moveTo>
                  <a:lnTo>
                    <a:pt x="504825" y="609600"/>
                  </a:lnTo>
                </a:path>
              </a:pathLst>
            </a:custGeom>
            <a:noFill/>
            <a:ln w="19050">
              <a:solidFill>
                <a:schemeClr val="accent3"/>
              </a:solidFill>
            </a:ln>
          </p:spPr>
        </p:sp>
        <p:sp>
          <p:nvSpPr>
            <p:cNvPr id="15" name="Line 15"/>
            <p:cNvSpPr/>
            <p:nvPr/>
          </p:nvSpPr>
          <p:spPr>
            <a:xfrm>
              <a:off x="2362200" y="3505200"/>
              <a:ext cx="504825" cy="38100"/>
            </a:xfrm>
            <a:custGeom>
              <a:avLst/>
              <a:gdLst/>
              <a:ahLst/>
              <a:cxnLst/>
              <a:rect l="l" t="t" r="r" b="b"/>
              <a:pathLst>
                <a:path w="504825" h="38100">
                  <a:moveTo>
                    <a:pt x="0" y="0"/>
                  </a:moveTo>
                  <a:lnTo>
                    <a:pt x="504825" y="38100"/>
                  </a:lnTo>
                </a:path>
              </a:pathLst>
            </a:custGeom>
            <a:noFill/>
            <a:ln w="19050">
              <a:solidFill>
                <a:schemeClr val="accent3"/>
              </a:solidFill>
            </a:ln>
          </p:spPr>
        </p:sp>
        <p:sp>
          <p:nvSpPr>
            <p:cNvPr id="16" name="Line 16"/>
            <p:cNvSpPr/>
            <p:nvPr/>
          </p:nvSpPr>
          <p:spPr>
            <a:xfrm>
              <a:off x="2362200" y="3543300"/>
              <a:ext cx="504825" cy="533400"/>
            </a:xfrm>
            <a:custGeom>
              <a:avLst/>
              <a:gdLst/>
              <a:ahLst/>
              <a:cxnLst/>
              <a:rect l="l" t="t" r="r" b="b"/>
              <a:pathLst>
                <a:path w="504825" h="533400">
                  <a:moveTo>
                    <a:pt x="0" y="533400"/>
                  </a:moveTo>
                  <a:lnTo>
                    <a:pt x="504825" y="0"/>
                  </a:lnTo>
                </a:path>
              </a:pathLst>
            </a:custGeom>
            <a:noFill/>
            <a:ln w="19050">
              <a:solidFill>
                <a:schemeClr val="accent3"/>
              </a:solidFill>
            </a:ln>
          </p:spPr>
        </p:sp>
        <p:sp>
          <p:nvSpPr>
            <p:cNvPr id="17" name="Ellipse 17"/>
            <p:cNvSpPr/>
            <p:nvPr/>
          </p:nvSpPr>
          <p:spPr>
            <a:xfrm>
              <a:off x="2867025" y="3476625"/>
              <a:ext cx="133350" cy="133350"/>
            </a:xfrm>
            <a:prstGeom prst="ellipse">
              <a:avLst/>
            </a:prstGeom>
            <a:solidFill>
              <a:schemeClr val="accent1"/>
            </a:solidFill>
            <a:ln>
              <a:noFill/>
            </a:ln>
          </p:spPr>
        </p:sp>
        <p:sp>
          <p:nvSpPr>
            <p:cNvPr id="18" name="Line 18"/>
            <p:cNvSpPr/>
            <p:nvPr/>
          </p:nvSpPr>
          <p:spPr>
            <a:xfrm>
              <a:off x="3000375" y="3543300"/>
              <a:ext cx="542925" cy="1"/>
            </a:xfrm>
            <a:prstGeom prst="line">
              <a:avLst/>
            </a:prstGeom>
            <a:noFill/>
            <a:ln w="19050">
              <a:solidFill>
                <a:schemeClr val="accent1"/>
              </a:solidFill>
              <a:tailEnd type="triangle" w="lg" len="lg"/>
            </a:ln>
          </p:spPr>
        </p:sp>
        <p:sp>
          <p:nvSpPr>
            <p:cNvPr id="19" name="Freeform 19"/>
            <p:cNvSpPr/>
            <p:nvPr/>
          </p:nvSpPr>
          <p:spPr>
            <a:xfrm>
              <a:off x="3494722" y="2721292"/>
              <a:ext cx="2119312" cy="1896428"/>
            </a:xfrm>
            <a:custGeom>
              <a:avLst/>
              <a:gdLst/>
              <a:ahLst/>
              <a:cxnLst/>
              <a:rect l="l" t="t" r="r" b="b"/>
              <a:pathLst>
                <a:path w="2119312" h="1896428">
                  <a:moveTo>
                    <a:pt x="2108835" y="974408"/>
                  </a:moveTo>
                  <a:cubicBezTo>
                    <a:pt x="2099310" y="1092518"/>
                    <a:pt x="2001203" y="1213485"/>
                    <a:pt x="1931670" y="1317308"/>
                  </a:cubicBezTo>
                  <a:cubicBezTo>
                    <a:pt x="1863090" y="1420178"/>
                    <a:pt x="1790700" y="1521142"/>
                    <a:pt x="1693545" y="1593532"/>
                  </a:cubicBezTo>
                  <a:cubicBezTo>
                    <a:pt x="1596390" y="1665923"/>
                    <a:pt x="1469708" y="1713548"/>
                    <a:pt x="1351598" y="1749742"/>
                  </a:cubicBezTo>
                  <a:cubicBezTo>
                    <a:pt x="1232535" y="1785938"/>
                    <a:pt x="1115378" y="1790700"/>
                    <a:pt x="982028" y="1811655"/>
                  </a:cubicBezTo>
                  <a:cubicBezTo>
                    <a:pt x="848678" y="1832610"/>
                    <a:pt x="688658" y="1896428"/>
                    <a:pt x="553403" y="1874520"/>
                  </a:cubicBezTo>
                  <a:cubicBezTo>
                    <a:pt x="418148" y="1852612"/>
                    <a:pt x="248603" y="1776412"/>
                    <a:pt x="172403" y="1679258"/>
                  </a:cubicBezTo>
                  <a:cubicBezTo>
                    <a:pt x="95250" y="1583055"/>
                    <a:pt x="111443" y="1412558"/>
                    <a:pt x="91440" y="1295400"/>
                  </a:cubicBezTo>
                  <a:cubicBezTo>
                    <a:pt x="71438" y="1178242"/>
                    <a:pt x="61912" y="1084898"/>
                    <a:pt x="51435" y="974408"/>
                  </a:cubicBezTo>
                  <a:cubicBezTo>
                    <a:pt x="41910" y="863917"/>
                    <a:pt x="0" y="739140"/>
                    <a:pt x="31433" y="631508"/>
                  </a:cubicBezTo>
                  <a:cubicBezTo>
                    <a:pt x="62865" y="523875"/>
                    <a:pt x="149543" y="417195"/>
                    <a:pt x="239078" y="327660"/>
                  </a:cubicBezTo>
                  <a:cubicBezTo>
                    <a:pt x="327660" y="238125"/>
                    <a:pt x="440055" y="146685"/>
                    <a:pt x="563880" y="95250"/>
                  </a:cubicBezTo>
                  <a:cubicBezTo>
                    <a:pt x="687705" y="44767"/>
                    <a:pt x="852488" y="0"/>
                    <a:pt x="982028" y="20955"/>
                  </a:cubicBezTo>
                  <a:cubicBezTo>
                    <a:pt x="1111568" y="41910"/>
                    <a:pt x="1233488" y="155258"/>
                    <a:pt x="1341120" y="220028"/>
                  </a:cubicBezTo>
                  <a:cubicBezTo>
                    <a:pt x="1448753" y="285750"/>
                    <a:pt x="1518285" y="348615"/>
                    <a:pt x="1626870" y="413385"/>
                  </a:cubicBezTo>
                  <a:cubicBezTo>
                    <a:pt x="1735455" y="478155"/>
                    <a:pt x="1911668" y="516255"/>
                    <a:pt x="1991678" y="610553"/>
                  </a:cubicBezTo>
                  <a:cubicBezTo>
                    <a:pt x="2072640" y="703898"/>
                    <a:pt x="2119312" y="856298"/>
                    <a:pt x="2108835" y="974408"/>
                  </a:cubicBezTo>
                  <a:close/>
                </a:path>
              </a:pathLst>
            </a:custGeom>
            <a:solidFill>
              <a:schemeClr val="accent2"/>
            </a:solidFill>
            <a:ln>
              <a:noFill/>
            </a:ln>
          </p:spPr>
        </p:sp>
        <p:sp>
          <p:nvSpPr>
            <p:cNvPr id="20" name="Freeform 20"/>
            <p:cNvSpPr/>
            <p:nvPr/>
          </p:nvSpPr>
          <p:spPr>
            <a:xfrm>
              <a:off x="3405188" y="2641282"/>
              <a:ext cx="2301240" cy="2055495"/>
            </a:xfrm>
            <a:custGeom>
              <a:avLst/>
              <a:gdLst/>
              <a:ahLst/>
              <a:cxnLst/>
              <a:rect l="l" t="t" r="r" b="b"/>
              <a:pathLst>
                <a:path w="2301240" h="2055495">
                  <a:moveTo>
                    <a:pt x="2291715" y="1054418"/>
                  </a:moveTo>
                  <a:cubicBezTo>
                    <a:pt x="2281238" y="1182052"/>
                    <a:pt x="2181225" y="1315402"/>
                    <a:pt x="2106930" y="1427797"/>
                  </a:cubicBezTo>
                  <a:cubicBezTo>
                    <a:pt x="2033588" y="1540192"/>
                    <a:pt x="1953578" y="1651635"/>
                    <a:pt x="1848803" y="1730692"/>
                  </a:cubicBezTo>
                  <a:cubicBezTo>
                    <a:pt x="1743075" y="1809750"/>
                    <a:pt x="1605915" y="1864042"/>
                    <a:pt x="1476375" y="1904047"/>
                  </a:cubicBezTo>
                  <a:cubicBezTo>
                    <a:pt x="1346835" y="1945005"/>
                    <a:pt x="1216342" y="1951672"/>
                    <a:pt x="1071562" y="1972627"/>
                  </a:cubicBezTo>
                  <a:cubicBezTo>
                    <a:pt x="926783" y="1993582"/>
                    <a:pt x="753428" y="2055495"/>
                    <a:pt x="607695" y="2028825"/>
                  </a:cubicBezTo>
                  <a:cubicBezTo>
                    <a:pt x="461962" y="2003108"/>
                    <a:pt x="281940" y="1920240"/>
                    <a:pt x="196215" y="1816418"/>
                  </a:cubicBezTo>
                  <a:cubicBezTo>
                    <a:pt x="110490" y="1712595"/>
                    <a:pt x="120015" y="1533525"/>
                    <a:pt x="95250" y="1405890"/>
                  </a:cubicBezTo>
                  <a:cubicBezTo>
                    <a:pt x="70485" y="1279208"/>
                    <a:pt x="59055" y="1175385"/>
                    <a:pt x="48578" y="1054418"/>
                  </a:cubicBezTo>
                  <a:cubicBezTo>
                    <a:pt x="39053" y="933450"/>
                    <a:pt x="0" y="798195"/>
                    <a:pt x="35242" y="681038"/>
                  </a:cubicBezTo>
                  <a:cubicBezTo>
                    <a:pt x="70485" y="563880"/>
                    <a:pt x="165735" y="446722"/>
                    <a:pt x="262890" y="350520"/>
                  </a:cubicBezTo>
                  <a:cubicBezTo>
                    <a:pt x="360045" y="254317"/>
                    <a:pt x="482917" y="156210"/>
                    <a:pt x="618172" y="100965"/>
                  </a:cubicBezTo>
                  <a:cubicBezTo>
                    <a:pt x="752475" y="46672"/>
                    <a:pt x="930592" y="0"/>
                    <a:pt x="1071562" y="20002"/>
                  </a:cubicBezTo>
                  <a:cubicBezTo>
                    <a:pt x="1212532" y="40958"/>
                    <a:pt x="1347788" y="157162"/>
                    <a:pt x="1465897" y="225742"/>
                  </a:cubicBezTo>
                  <a:cubicBezTo>
                    <a:pt x="1584007" y="295275"/>
                    <a:pt x="1664970" y="363855"/>
                    <a:pt x="1782128" y="436245"/>
                  </a:cubicBezTo>
                  <a:cubicBezTo>
                    <a:pt x="1898332" y="508635"/>
                    <a:pt x="2082165" y="556260"/>
                    <a:pt x="2166938" y="659130"/>
                  </a:cubicBezTo>
                  <a:cubicBezTo>
                    <a:pt x="2251710" y="762000"/>
                    <a:pt x="2301240" y="926783"/>
                    <a:pt x="2291715" y="1054418"/>
                  </a:cubicBezTo>
                  <a:close/>
                </a:path>
              </a:pathLst>
            </a:custGeom>
            <a:noFill/>
            <a:ln w="19050">
              <a:solidFill>
                <a:srgbClr val="1B2430"/>
              </a:solidFill>
            </a:ln>
          </p:spPr>
        </p:sp>
        <p:sp>
          <p:nvSpPr>
            <p:cNvPr id="21" name="TextBox 21"/>
            <p:cNvSpPr txBox="1"/>
            <p:nvPr/>
          </p:nvSpPr>
          <p:spPr>
            <a:xfrm>
              <a:off x="3998747" y="3441382"/>
              <a:ext cx="994105" cy="322707"/>
            </a:xfrm>
            <a:prstGeom prst="rect">
              <a:avLst/>
            </a:prstGeom>
            <a:noFill/>
            <a:ln>
              <a:noFill/>
            </a:ln>
          </p:spPr>
          <p:txBody>
            <a:bodyPr wrap="none" lIns="0" tIns="0" rIns="0" bIns="0" anchor="t" anchorCtr="0">
              <a:spAutoFit/>
            </a:bodyPr>
            <a:lstStyle/>
            <a:p>
              <a:pPr algn="ctr"/>
              <a:r>
                <a:rPr lang="vi" sz="1650" b="1" dirty="0">
                  <a:solidFill>
                    <a:srgbClr val="1B2430"/>
                  </a:solidFill>
                  <a:latin typeface="Consolas"/>
                  <a:ea typeface="Consolas"/>
                  <a:cs typeface="Consolas"/>
                </a:rPr>
                <a:t>neuron 7</a:t>
              </a:r>
            </a:p>
          </p:txBody>
        </p:sp>
        <p:sp>
          <p:nvSpPr>
            <p:cNvPr id="22" name="TextBox 22"/>
            <p:cNvSpPr txBox="1"/>
            <p:nvPr/>
          </p:nvSpPr>
          <p:spPr>
            <a:xfrm>
              <a:off x="3959524" y="3778568"/>
              <a:ext cx="1072552" cy="264033"/>
            </a:xfrm>
            <a:prstGeom prst="rect">
              <a:avLst/>
            </a:prstGeom>
            <a:noFill/>
            <a:ln>
              <a:noFill/>
            </a:ln>
          </p:spPr>
          <p:txBody>
            <a:bodyPr wrap="none" lIns="0" tIns="0" rIns="0" bIns="0" anchor="t" anchorCtr="0">
              <a:spAutoFit/>
            </a:bodyPr>
            <a:lstStyle/>
            <a:p>
              <a:pPr algn="ctr"/>
              <a:r>
                <a:rPr lang="vi" sz="1350" dirty="0">
                  <a:solidFill>
                    <a:srgbClr val="1B2430"/>
                  </a:solidFill>
                  <a:latin typeface="+mn-lt"/>
                  <a:ea typeface="+mn-ea"/>
                  <a:cs typeface="+mn-cs"/>
                </a:rPr>
                <a:t>polysemantic</a:t>
              </a:r>
            </a:p>
          </p:txBody>
        </p:sp>
        <p:sp>
          <p:nvSpPr>
            <p:cNvPr id="23" name="TextBox 23"/>
            <p:cNvSpPr txBox="1"/>
            <p:nvPr/>
          </p:nvSpPr>
          <p:spPr>
            <a:xfrm>
              <a:off x="602742" y="4731068"/>
              <a:ext cx="4103039"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dk1"/>
                  </a:solidFill>
                  <a:latin typeface="+mn-lt"/>
                  <a:ea typeface="+mn-ea"/>
                  <a:cs typeface="+mn-cs"/>
                </a:rPr>
                <a:t>Mỗi trục toạ độ nhận đóng góp từ nhiều concept, nên</a:t>
              </a:r>
              <a:br/>
              <a:r>
                <a:rPr lang="vi" sz="1350" dirty="0">
                  <a:solidFill>
                    <a:schemeClr val="dk1"/>
                  </a:solidFill>
                  <a:latin typeface="+mn-lt"/>
                  <a:ea typeface="+mn-ea"/>
                  <a:cs typeface="+mn-cs"/>
                </a:rPr>
                <a:t>kích hoạt trên các ngữ cảnh không liên quan gì nhau.</a:t>
              </a:r>
            </a:p>
          </p:txBody>
        </p:sp>
        <p:sp>
          <p:nvSpPr>
            <p:cNvPr id="24" name="TextBox 24"/>
            <p:cNvSpPr txBox="1"/>
            <p:nvPr/>
          </p:nvSpPr>
          <p:spPr>
            <a:xfrm>
              <a:off x="603504" y="5299710"/>
              <a:ext cx="3417238"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Elhage et al. 2022, Toy Models of Superposition</a:t>
              </a:r>
            </a:p>
          </p:txBody>
        </p:sp>
      </p:grpSp>
      <p:grpSp>
        <p:nvGrpSpPr>
          <p:cNvPr id="42" name="p04-diem-interpretability"/>
          <p:cNvGrpSpPr/>
          <p:nvPr/>
        </p:nvGrpSpPr>
        <p:grpSpPr>
          <a:xfrm>
            <a:off x="6086856" y="2540318"/>
            <a:ext cx="5504688" cy="1888807"/>
            <a:chOff x="6086856" y="2540318"/>
            <a:chExt cx="5504688" cy="1888807"/>
          </a:xfrm>
        </p:grpSpPr>
        <p:sp>
          <p:nvSpPr>
            <p:cNvPr id="26" name="TextBox 26"/>
            <p:cNvSpPr txBox="1"/>
            <p:nvPr/>
          </p:nvSpPr>
          <p:spPr>
            <a:xfrm>
              <a:off x="6089142" y="2540318"/>
              <a:ext cx="1087355"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Cách lấy mẫu</a:t>
              </a:r>
            </a:p>
          </p:txBody>
        </p:sp>
        <p:sp>
          <p:nvSpPr>
            <p:cNvPr id="27" name="TextBox 27"/>
            <p:cNvSpPr txBox="1"/>
            <p:nvPr/>
          </p:nvSpPr>
          <p:spPr>
            <a:xfrm>
              <a:off x="9553774" y="2540318"/>
              <a:ext cx="625784" cy="264033"/>
            </a:xfrm>
            <a:prstGeom prst="rect">
              <a:avLst/>
            </a:prstGeom>
            <a:noFill/>
            <a:ln>
              <a:noFill/>
            </a:ln>
          </p:spPr>
          <p:txBody>
            <a:bodyPr wrap="none" lIns="0" tIns="0" rIns="0" bIns="0" anchor="t" anchorCtr="0">
              <a:spAutoFit/>
            </a:bodyPr>
            <a:lstStyle/>
            <a:p>
              <a:pPr algn="r"/>
              <a:r>
                <a:rPr lang="vi" sz="1350" dirty="0">
                  <a:solidFill>
                    <a:schemeClr val="accent5"/>
                  </a:solidFill>
                  <a:latin typeface="+mn-lt"/>
                  <a:ea typeface="+mn-ea"/>
                  <a:cs typeface="+mn-cs"/>
                </a:rPr>
                <a:t>Neuron</a:t>
              </a:r>
            </a:p>
          </p:txBody>
        </p:sp>
        <p:sp>
          <p:nvSpPr>
            <p:cNvPr id="28" name="TextBox 28"/>
            <p:cNvSpPr txBox="1"/>
            <p:nvPr/>
          </p:nvSpPr>
          <p:spPr>
            <a:xfrm>
              <a:off x="10637324" y="2540318"/>
              <a:ext cx="951934" cy="264033"/>
            </a:xfrm>
            <a:prstGeom prst="rect">
              <a:avLst/>
            </a:prstGeom>
            <a:noFill/>
            <a:ln>
              <a:noFill/>
            </a:ln>
          </p:spPr>
          <p:txBody>
            <a:bodyPr wrap="none" lIns="0" tIns="0" rIns="0" bIns="0" anchor="t" anchorCtr="0">
              <a:spAutoFit/>
            </a:bodyPr>
            <a:lstStyle/>
            <a:p>
              <a:pPr algn="r"/>
              <a:r>
                <a:rPr lang="vi" sz="1350" dirty="0">
                  <a:solidFill>
                    <a:schemeClr val="accent5"/>
                  </a:solidFill>
                  <a:latin typeface="+mn-lt"/>
                  <a:ea typeface="+mn-ea"/>
                  <a:cs typeface="+mn-cs"/>
                </a:rPr>
                <a:t>SAE feature</a:t>
              </a:r>
            </a:p>
          </p:txBody>
        </p:sp>
        <p:sp>
          <p:nvSpPr>
            <p:cNvPr id="29" name="Line 29"/>
            <p:cNvSpPr/>
            <p:nvPr/>
          </p:nvSpPr>
          <p:spPr>
            <a:xfrm>
              <a:off x="6096000" y="2819400"/>
              <a:ext cx="5486400" cy="9525"/>
            </a:xfrm>
            <a:custGeom>
              <a:avLst/>
              <a:gdLst/>
              <a:ahLst/>
              <a:cxnLst/>
              <a:rect l="l" t="t" r="r" b="b"/>
              <a:pathLst>
                <a:path w="5486400" h="9525">
                  <a:moveTo>
                    <a:pt x="0" y="0"/>
                  </a:moveTo>
                  <a:lnTo>
                    <a:pt x="5486400" y="0"/>
                  </a:lnTo>
                </a:path>
              </a:pathLst>
            </a:custGeom>
            <a:noFill/>
            <a:ln w="19050">
              <a:solidFill>
                <a:schemeClr val="accent1"/>
              </a:solidFill>
            </a:ln>
          </p:spPr>
        </p:sp>
        <p:sp>
          <p:nvSpPr>
            <p:cNvPr id="30" name="TextBox 30"/>
            <p:cNvSpPr txBox="1"/>
            <p:nvPr/>
          </p:nvSpPr>
          <p:spPr>
            <a:xfrm>
              <a:off x="6086856" y="2967990"/>
              <a:ext cx="1273674"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Ngẫu nhiên</a:t>
              </a:r>
            </a:p>
          </p:txBody>
        </p:sp>
        <p:sp>
          <p:nvSpPr>
            <p:cNvPr id="31" name="TextBox 31"/>
            <p:cNvSpPr txBox="1"/>
            <p:nvPr/>
          </p:nvSpPr>
          <p:spPr>
            <a:xfrm>
              <a:off x="9719124" y="2967990"/>
              <a:ext cx="462720" cy="352044"/>
            </a:xfrm>
            <a:prstGeom prst="rect">
              <a:avLst/>
            </a:prstGeom>
            <a:noFill/>
            <a:ln>
              <a:noFill/>
            </a:ln>
          </p:spPr>
          <p:txBody>
            <a:bodyPr wrap="none" lIns="0" tIns="0" rIns="0" bIns="0" anchor="t" anchorCtr="0">
              <a:spAutoFit/>
            </a:bodyPr>
            <a:lstStyle/>
            <a:p>
              <a:pPr algn="r"/>
              <a:r>
                <a:rPr lang="vi" sz="1800" dirty="0">
                  <a:solidFill>
                    <a:schemeClr val="dk1"/>
                  </a:solidFill>
                  <a:latin typeface="+mn-lt"/>
                  <a:ea typeface="+mn-ea"/>
                  <a:cs typeface="+mn-cs"/>
                </a:rPr>
                <a:t>32.6</a:t>
              </a:r>
            </a:p>
          </p:txBody>
        </p:sp>
        <p:sp>
          <p:nvSpPr>
            <p:cNvPr id="32" name="TextBox 32"/>
            <p:cNvSpPr txBox="1"/>
            <p:nvPr/>
          </p:nvSpPr>
          <p:spPr>
            <a:xfrm>
              <a:off x="11128824" y="2967990"/>
              <a:ext cx="462720" cy="352044"/>
            </a:xfrm>
            <a:prstGeom prst="rect">
              <a:avLst/>
            </a:prstGeom>
            <a:noFill/>
            <a:ln>
              <a:noFill/>
            </a:ln>
          </p:spPr>
          <p:txBody>
            <a:bodyPr wrap="none" lIns="0" tIns="0" rIns="0" bIns="0" anchor="t" anchorCtr="0">
              <a:spAutoFit/>
            </a:bodyPr>
            <a:lstStyle/>
            <a:p>
              <a:pPr algn="r"/>
              <a:r>
                <a:rPr lang="vi" sz="1800" dirty="0">
                  <a:solidFill>
                    <a:schemeClr val="dk1"/>
                  </a:solidFill>
                  <a:latin typeface="+mn-lt"/>
                  <a:ea typeface="+mn-ea"/>
                  <a:cs typeface="+mn-cs"/>
                </a:rPr>
                <a:t>52.8</a:t>
              </a:r>
            </a:p>
          </p:txBody>
        </p:sp>
        <p:sp>
          <p:nvSpPr>
            <p:cNvPr id="33" name="Line 33"/>
            <p:cNvSpPr/>
            <p:nvPr/>
          </p:nvSpPr>
          <p:spPr>
            <a:xfrm>
              <a:off x="6096000" y="335280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34" name="TextBox 34"/>
            <p:cNvSpPr txBox="1"/>
            <p:nvPr/>
          </p:nvSpPr>
          <p:spPr>
            <a:xfrm>
              <a:off x="6086856" y="3501390"/>
              <a:ext cx="2518012"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Top-30 trên agreement</a:t>
              </a:r>
            </a:p>
          </p:txBody>
        </p:sp>
        <p:sp>
          <p:nvSpPr>
            <p:cNvPr id="35" name="TextBox 35"/>
            <p:cNvSpPr txBox="1"/>
            <p:nvPr/>
          </p:nvSpPr>
          <p:spPr>
            <a:xfrm>
              <a:off x="9679748" y="3501390"/>
              <a:ext cx="502096" cy="352044"/>
            </a:xfrm>
            <a:prstGeom prst="rect">
              <a:avLst/>
            </a:prstGeom>
            <a:noFill/>
            <a:ln>
              <a:noFill/>
            </a:ln>
          </p:spPr>
          <p:txBody>
            <a:bodyPr wrap="none" lIns="0" tIns="0" rIns="0" bIns="0" anchor="t" anchorCtr="0">
              <a:spAutoFit/>
            </a:bodyPr>
            <a:lstStyle/>
            <a:p>
              <a:pPr algn="r"/>
              <a:r>
                <a:rPr lang="vi" sz="1800" b="1" dirty="0">
                  <a:solidFill>
                    <a:srgbClr val="8B5A5F"/>
                  </a:solidFill>
                  <a:latin typeface="+mn-lt"/>
                  <a:ea typeface="+mn-ea"/>
                  <a:cs typeface="+mn-cs"/>
                </a:rPr>
                <a:t>30.2</a:t>
              </a:r>
            </a:p>
          </p:txBody>
        </p:sp>
        <p:sp>
          <p:nvSpPr>
            <p:cNvPr id="36" name="TextBox 36"/>
            <p:cNvSpPr txBox="1"/>
            <p:nvPr/>
          </p:nvSpPr>
          <p:spPr>
            <a:xfrm>
              <a:off x="11128824" y="3501390"/>
              <a:ext cx="462720" cy="352044"/>
            </a:xfrm>
            <a:prstGeom prst="rect">
              <a:avLst/>
            </a:prstGeom>
            <a:noFill/>
            <a:ln>
              <a:noFill/>
            </a:ln>
          </p:spPr>
          <p:txBody>
            <a:bodyPr wrap="none" lIns="0" tIns="0" rIns="0" bIns="0" anchor="t" anchorCtr="0">
              <a:spAutoFit/>
            </a:bodyPr>
            <a:lstStyle/>
            <a:p>
              <a:pPr algn="r"/>
              <a:r>
                <a:rPr lang="vi" sz="1800" dirty="0">
                  <a:solidFill>
                    <a:schemeClr val="dk1"/>
                  </a:solidFill>
                  <a:latin typeface="+mn-lt"/>
                  <a:ea typeface="+mn-ea"/>
                  <a:cs typeface="+mn-cs"/>
                </a:rPr>
                <a:t>62.3</a:t>
              </a:r>
            </a:p>
          </p:txBody>
        </p:sp>
        <p:sp>
          <p:nvSpPr>
            <p:cNvPr id="37" name="Line 37"/>
            <p:cNvSpPr/>
            <p:nvPr/>
          </p:nvSpPr>
          <p:spPr>
            <a:xfrm>
              <a:off x="6096000" y="388620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38" name="TextBox 38"/>
            <p:cNvSpPr txBox="1"/>
            <p:nvPr/>
          </p:nvSpPr>
          <p:spPr>
            <a:xfrm>
              <a:off x="6086856" y="4034790"/>
              <a:ext cx="2570718"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Top-30 trên Bias in Bios</a:t>
              </a:r>
            </a:p>
          </p:txBody>
        </p:sp>
        <p:sp>
          <p:nvSpPr>
            <p:cNvPr id="39" name="TextBox 39"/>
            <p:cNvSpPr txBox="1"/>
            <p:nvPr/>
          </p:nvSpPr>
          <p:spPr>
            <a:xfrm>
              <a:off x="9719124" y="4034790"/>
              <a:ext cx="462720" cy="352044"/>
            </a:xfrm>
            <a:prstGeom prst="rect">
              <a:avLst/>
            </a:prstGeom>
            <a:noFill/>
            <a:ln>
              <a:noFill/>
            </a:ln>
          </p:spPr>
          <p:txBody>
            <a:bodyPr wrap="none" lIns="0" tIns="0" rIns="0" bIns="0" anchor="t" anchorCtr="0">
              <a:spAutoFit/>
            </a:bodyPr>
            <a:lstStyle/>
            <a:p>
              <a:pPr algn="r"/>
              <a:r>
                <a:rPr lang="vi" sz="1800" dirty="0">
                  <a:solidFill>
                    <a:schemeClr val="dk1"/>
                  </a:solidFill>
                  <a:latin typeface="+mn-lt"/>
                  <a:ea typeface="+mn-ea"/>
                  <a:cs typeface="+mn-cs"/>
                </a:rPr>
                <a:t>36.0</a:t>
              </a:r>
            </a:p>
          </p:txBody>
        </p:sp>
        <p:sp>
          <p:nvSpPr>
            <p:cNvPr id="40" name="TextBox 40"/>
            <p:cNvSpPr txBox="1"/>
            <p:nvPr/>
          </p:nvSpPr>
          <p:spPr>
            <a:xfrm>
              <a:off x="11089448" y="4034790"/>
              <a:ext cx="502096" cy="352044"/>
            </a:xfrm>
            <a:prstGeom prst="rect">
              <a:avLst/>
            </a:prstGeom>
            <a:noFill/>
            <a:ln>
              <a:noFill/>
            </a:ln>
          </p:spPr>
          <p:txBody>
            <a:bodyPr wrap="none" lIns="0" tIns="0" rIns="0" bIns="0" anchor="t" anchorCtr="0">
              <a:spAutoFit/>
            </a:bodyPr>
            <a:lstStyle/>
            <a:p>
              <a:pPr algn="r"/>
              <a:r>
                <a:rPr lang="vi" sz="1800" b="1" dirty="0">
                  <a:solidFill>
                    <a:schemeClr val="accent1"/>
                  </a:solidFill>
                  <a:latin typeface="+mn-lt"/>
                  <a:ea typeface="+mn-ea"/>
                  <a:cs typeface="+mn-cs"/>
                </a:rPr>
                <a:t>81.5</a:t>
              </a:r>
            </a:p>
          </p:txBody>
        </p:sp>
        <p:sp>
          <p:nvSpPr>
            <p:cNvPr id="41" name="Line 41"/>
            <p:cNvSpPr/>
            <p:nvPr/>
          </p:nvSpPr>
          <p:spPr>
            <a:xfrm>
              <a:off x="6096000" y="4419600"/>
              <a:ext cx="5486400" cy="9525"/>
            </a:xfrm>
            <a:custGeom>
              <a:avLst/>
              <a:gdLst/>
              <a:ahLst/>
              <a:cxnLst/>
              <a:rect l="l" t="t" r="r" b="b"/>
              <a:pathLst>
                <a:path w="5486400" h="9525">
                  <a:moveTo>
                    <a:pt x="0" y="0"/>
                  </a:moveTo>
                  <a:lnTo>
                    <a:pt x="5486400" y="0"/>
                  </a:lnTo>
                </a:path>
              </a:pathLst>
            </a:custGeom>
            <a:noFill/>
            <a:ln w="9525">
              <a:solidFill>
                <a:schemeClr val="accent6"/>
              </a:solidFill>
            </a:ln>
          </p:spPr>
        </p:sp>
      </p:grpSp>
      <p:grpSp>
        <p:nvGrpSpPr>
          <p:cNvPr id="44" name="p04-doc-bang"/>
          <p:cNvGrpSpPr/>
          <p:nvPr/>
        </p:nvGrpSpPr>
        <p:grpSpPr>
          <a:xfrm>
            <a:off x="6089142" y="4769168"/>
            <a:ext cx="4024052" cy="511683"/>
            <a:chOff x="6089142" y="4769168"/>
            <a:chExt cx="4024052" cy="511683"/>
          </a:xfrm>
        </p:grpSpPr>
        <p:sp>
          <p:nvSpPr>
            <p:cNvPr id="43" name="TextBox 43"/>
            <p:cNvSpPr txBox="1"/>
            <p:nvPr/>
          </p:nvSpPr>
          <p:spPr>
            <a:xfrm>
              <a:off x="6089142" y="4769168"/>
              <a:ext cx="4024052"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Crowdworker chấm 0-100 trên các đoạn kích hoạt</a:t>
              </a:r>
              <a:br/>
              <a:r>
                <a:rPr lang="vi" sz="1350" dirty="0">
                  <a:solidFill>
                    <a:schemeClr val="accent5"/>
                  </a:solidFill>
                  <a:latin typeface="+mn-lt"/>
                  <a:ea typeface="+mn-ea"/>
                  <a:cs typeface="+mn-cs"/>
                </a:rPr>
                <a:t>mạnh nhất của từng đơn vị. Marks et al. 2024, App. F.</a:t>
              </a:r>
            </a:p>
          </p:txBody>
        </p:sp>
      </p:grpSp>
      <p:grpSp>
        <p:nvGrpSpPr>
          <p:cNvPr id="47" name="p04-ket-luan"/>
          <p:cNvGrpSpPr/>
          <p:nvPr/>
        </p:nvGrpSpPr>
        <p:grpSpPr>
          <a:xfrm>
            <a:off x="609600" y="5753100"/>
            <a:ext cx="9930919" cy="424434"/>
            <a:chOff x="609600" y="5753100"/>
            <a:chExt cx="9930919" cy="424434"/>
          </a:xfrm>
        </p:grpSpPr>
        <p:sp>
          <p:nvSpPr>
            <p:cNvPr id="45" name="Rectangle 45"/>
            <p:cNvSpPr/>
            <p:nvPr/>
          </p:nvSpPr>
          <p:spPr>
            <a:xfrm>
              <a:off x="609600" y="5753100"/>
              <a:ext cx="76200" cy="381000"/>
            </a:xfrm>
            <a:prstGeom prst="roundRect">
              <a:avLst>
                <a:gd name="adj" fmla="val 50000"/>
              </a:avLst>
            </a:prstGeom>
            <a:solidFill>
              <a:schemeClr val="accent2"/>
            </a:solidFill>
            <a:ln>
              <a:noFill/>
            </a:ln>
          </p:spPr>
        </p:sp>
        <p:sp>
          <p:nvSpPr>
            <p:cNvPr id="46" name="TextBox 46"/>
            <p:cNvSpPr txBox="1"/>
            <p:nvPr/>
          </p:nvSpPr>
          <p:spPr>
            <a:xfrm>
              <a:off x="943356" y="5825490"/>
              <a:ext cx="9597163"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 xml:space="preserve">Với feature, đơn vị quan trọng nhất về nhân quả lại </a:t>
              </a:r>
              <a:r>
                <a:rPr lang="vi" sz="1800" b="1" dirty="0">
                  <a:solidFill>
                    <a:schemeClr val="accent1"/>
                  </a:solidFill>
                  <a:latin typeface="+mn-lt"/>
                  <a:ea typeface="+mn-ea"/>
                  <a:cs typeface="+mn-cs"/>
                </a:rPr>
                <a:t>dễ hiểu hơn</a:t>
              </a:r>
              <a:r>
                <a:rPr lang="vi" sz="1800" dirty="0">
                  <a:solidFill>
                    <a:schemeClr val="dk1"/>
                  </a:solidFill>
                  <a:latin typeface="+mn-lt"/>
                  <a:ea typeface="+mn-ea"/>
                  <a:cs typeface="+mn-cs"/>
                </a:rPr>
                <a:t>; với neuron thì ngược lại.</a:t>
              </a:r>
            </a:p>
          </p:txBody>
        </p:sp>
      </p:grpSp>
      <p:sp>
        <p:nvSpPr>
          <p:cNvPr id="48" name="TextBox 4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04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6880177" cy="1028319"/>
            <a:chOff x="592836" y="651510"/>
            <a:chExt cx="6880177" cy="1028319"/>
          </a:xfrm>
        </p:grpSpPr>
        <p:sp>
          <p:nvSpPr>
            <p:cNvPr id="4" name="TextBox 4"/>
            <p:cNvSpPr txBox="1"/>
            <p:nvPr/>
          </p:nvSpPr>
          <p:spPr>
            <a:xfrm>
              <a:off x="603504" y="651510"/>
              <a:ext cx="108950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1. Vấn đề</a:t>
              </a:r>
            </a:p>
          </p:txBody>
        </p:sp>
        <p:sp>
          <p:nvSpPr>
            <p:cNvPr id="5" name="TextBox 5"/>
            <p:cNvSpPr txBox="1"/>
            <p:nvPr/>
          </p:nvSpPr>
          <p:spPr>
            <a:xfrm>
              <a:off x="592836" y="1034415"/>
              <a:ext cx="6880177" cy="645414"/>
            </a:xfrm>
            <a:prstGeom prst="rect">
              <a:avLst/>
            </a:prstGeom>
            <a:noFill/>
            <a:ln>
              <a:noFill/>
            </a:ln>
          </p:spPr>
          <p:txBody>
            <a:bodyPr wrap="none" lIns="0" tIns="0" rIns="0" bIns="0" anchor="t" anchorCtr="0">
              <a:spAutoFit/>
            </a:bodyPr>
            <a:lstStyle/>
            <a:p>
              <a:pPr algn="l"/>
              <a:r>
                <a:rPr lang="vi" sz="3300" b="1" dirty="0">
                  <a:solidFill>
                    <a:schemeClr val="dk1"/>
                  </a:solidFill>
                  <a:latin typeface="+mn-lt"/>
                  <a:ea typeface="+mn-ea"/>
                  <a:cs typeface="+mn-cs"/>
                </a:rPr>
                <a:t>Hai thách thức phải giải cùng lúc</a:t>
              </a:r>
            </a:p>
          </p:txBody>
        </p:sp>
      </p:grpSp>
      <p:grpSp>
        <p:nvGrpSpPr>
          <p:cNvPr id="12" name="p05-thach-thuc-1"/>
          <p:cNvGrpSpPr/>
          <p:nvPr/>
        </p:nvGrpSpPr>
        <p:grpSpPr>
          <a:xfrm>
            <a:off x="609600" y="2476500"/>
            <a:ext cx="7379368" cy="1224534"/>
            <a:chOff x="609600" y="2476500"/>
            <a:chExt cx="7379368" cy="1224534"/>
          </a:xfrm>
        </p:grpSpPr>
        <p:sp>
          <p:nvSpPr>
            <p:cNvPr id="7" name="Rectangle 7"/>
            <p:cNvSpPr/>
            <p:nvPr/>
          </p:nvSpPr>
          <p:spPr>
            <a:xfrm>
              <a:off x="647700" y="2514600"/>
              <a:ext cx="685800" cy="685800"/>
            </a:xfrm>
            <a:prstGeom prst="roundRect">
              <a:avLst>
                <a:gd name="adj" fmla="val 16667"/>
              </a:avLst>
            </a:prstGeom>
            <a:noFill/>
            <a:ln w="14288">
              <a:solidFill>
                <a:srgbClr val="1B2430"/>
              </a:solidFill>
            </a:ln>
          </p:spPr>
        </p:sp>
        <p:sp>
          <p:nvSpPr>
            <p:cNvPr id="8" name="Rectangle 8"/>
            <p:cNvSpPr/>
            <p:nvPr/>
          </p:nvSpPr>
          <p:spPr>
            <a:xfrm>
              <a:off x="609600" y="2476500"/>
              <a:ext cx="685800" cy="685800"/>
            </a:xfrm>
            <a:prstGeom prst="roundRect">
              <a:avLst>
                <a:gd name="adj" fmla="val 16667"/>
              </a:avLst>
            </a:prstGeom>
            <a:solidFill>
              <a:schemeClr val="accent1"/>
            </a:solidFill>
            <a:ln w="14288">
              <a:solidFill>
                <a:srgbClr val="1B2430"/>
              </a:solidFill>
            </a:ln>
          </p:spPr>
        </p:sp>
        <p:sp>
          <p:nvSpPr>
            <p:cNvPr id="9" name="TextBox 9"/>
            <p:cNvSpPr txBox="1"/>
            <p:nvPr/>
          </p:nvSpPr>
          <p:spPr>
            <a:xfrm>
              <a:off x="754468" y="2674620"/>
              <a:ext cx="396064" cy="469392"/>
            </a:xfrm>
            <a:prstGeom prst="rect">
              <a:avLst/>
            </a:prstGeom>
            <a:noFill/>
            <a:ln>
              <a:noFill/>
            </a:ln>
          </p:spPr>
          <p:txBody>
            <a:bodyPr wrap="none" lIns="0" tIns="0" rIns="0" bIns="0" anchor="t" anchorCtr="0">
              <a:spAutoFit/>
            </a:bodyPr>
            <a:lstStyle/>
            <a:p>
              <a:pPr algn="ctr"/>
              <a:r>
                <a:rPr lang="vi" sz="2400" b="1" dirty="0">
                  <a:solidFill>
                    <a:srgbClr val="FFFFFF"/>
                  </a:solidFill>
                  <a:latin typeface="+mn-lt"/>
                  <a:ea typeface="+mn-ea"/>
                  <a:cs typeface="+mn-cs"/>
                </a:rPr>
                <a:t>01</a:t>
              </a:r>
            </a:p>
          </p:txBody>
        </p:sp>
        <p:sp>
          <p:nvSpPr>
            <p:cNvPr id="10" name="TextBox 10"/>
            <p:cNvSpPr txBox="1"/>
            <p:nvPr/>
          </p:nvSpPr>
          <p:spPr>
            <a:xfrm>
              <a:off x="1626870" y="2595562"/>
              <a:ext cx="2373855" cy="440055"/>
            </a:xfrm>
            <a:prstGeom prst="rect">
              <a:avLst/>
            </a:prstGeom>
            <a:noFill/>
            <a:ln>
              <a:noFill/>
            </a:ln>
          </p:spPr>
          <p:txBody>
            <a:bodyPr wrap="none" lIns="0" tIns="0" rIns="0" bIns="0" anchor="t" anchorCtr="0">
              <a:spAutoFit/>
            </a:bodyPr>
            <a:lstStyle/>
            <a:p>
              <a:pPr algn="l"/>
              <a:r>
                <a:rPr lang="vi" sz="2250" b="1" dirty="0">
                  <a:solidFill>
                    <a:schemeClr val="accent1"/>
                  </a:solidFill>
                  <a:latin typeface="+mn-lt"/>
                  <a:ea typeface="+mn-ea"/>
                  <a:cs typeface="+mn-cs"/>
                </a:rPr>
                <a:t>Đơn vị phân tích</a:t>
              </a:r>
            </a:p>
          </p:txBody>
        </p:sp>
        <p:sp>
          <p:nvSpPr>
            <p:cNvPr id="11" name="TextBox 11"/>
            <p:cNvSpPr txBox="1"/>
            <p:nvPr/>
          </p:nvSpPr>
          <p:spPr>
            <a:xfrm>
              <a:off x="1629156" y="3025140"/>
              <a:ext cx="6359812" cy="675894"/>
            </a:xfrm>
            <a:prstGeom prst="rect">
              <a:avLst/>
            </a:prstGeom>
            <a:noFill/>
            <a:ln>
              <a:noFill/>
            </a:ln>
          </p:spPr>
          <p:txBody>
            <a:bodyPr wrap="none" lIns="0" tIns="0" rIns="0" bIns="0" anchor="t" anchorCtr="0">
              <a:spAutoFit/>
            </a:bodyPr>
            <a:lstStyle/>
            <a:p>
              <a:pPr algn="l">
                <a:lnSpc>
                  <a:spcPts val="2550"/>
                </a:lnSpc>
              </a:pPr>
              <a:r>
                <a:rPr lang="vi" sz="1800" dirty="0">
                  <a:solidFill>
                    <a:schemeClr val="accent5"/>
                  </a:solidFill>
                  <a:latin typeface="+mn-lt"/>
                  <a:ea typeface="+mn-ea"/>
                  <a:cs typeface="+mn-cs"/>
                </a:rPr>
                <a:t>Mịn mà vẫn diễn giải được. Neuron thì hiếm khi diễn giải được;</a:t>
              </a:r>
              <a:br/>
              <a:r>
                <a:rPr lang="vi" sz="1800" dirty="0">
                  <a:solidFill>
                    <a:schemeClr val="accent5"/>
                  </a:solidFill>
                  <a:latin typeface="+mn-lt"/>
                  <a:ea typeface="+mn-ea"/>
                  <a:cs typeface="+mn-cs"/>
                </a:rPr>
                <a:t>hướng tìm bằng probing thì lại cần giả thuyết có sẵn.</a:t>
              </a:r>
            </a:p>
          </p:txBody>
        </p:sp>
      </p:grpSp>
      <p:grpSp>
        <p:nvGrpSpPr>
          <p:cNvPr id="18" name="p05-thach-thuc-2"/>
          <p:cNvGrpSpPr/>
          <p:nvPr/>
        </p:nvGrpSpPr>
        <p:grpSpPr>
          <a:xfrm>
            <a:off x="609600" y="4000500"/>
            <a:ext cx="8420801" cy="1224534"/>
            <a:chOff x="609600" y="4000500"/>
            <a:chExt cx="8420801" cy="1224534"/>
          </a:xfrm>
        </p:grpSpPr>
        <p:sp>
          <p:nvSpPr>
            <p:cNvPr id="13" name="Rectangle 13"/>
            <p:cNvSpPr/>
            <p:nvPr/>
          </p:nvSpPr>
          <p:spPr>
            <a:xfrm>
              <a:off x="647700" y="4038600"/>
              <a:ext cx="685800" cy="685800"/>
            </a:xfrm>
            <a:prstGeom prst="roundRect">
              <a:avLst>
                <a:gd name="adj" fmla="val 16667"/>
              </a:avLst>
            </a:prstGeom>
            <a:noFill/>
            <a:ln w="14288">
              <a:solidFill>
                <a:srgbClr val="1B2430"/>
              </a:solidFill>
            </a:ln>
          </p:spPr>
        </p:sp>
        <p:sp>
          <p:nvSpPr>
            <p:cNvPr id="14" name="Rectangle 14"/>
            <p:cNvSpPr/>
            <p:nvPr/>
          </p:nvSpPr>
          <p:spPr>
            <a:xfrm>
              <a:off x="609600" y="4000500"/>
              <a:ext cx="685800" cy="685800"/>
            </a:xfrm>
            <a:prstGeom prst="roundRect">
              <a:avLst>
                <a:gd name="adj" fmla="val 16667"/>
              </a:avLst>
            </a:prstGeom>
            <a:solidFill>
              <a:schemeClr val="accent3"/>
            </a:solidFill>
            <a:ln w="14288">
              <a:solidFill>
                <a:srgbClr val="1B2430"/>
              </a:solidFill>
            </a:ln>
          </p:spPr>
        </p:sp>
        <p:sp>
          <p:nvSpPr>
            <p:cNvPr id="15" name="TextBox 15"/>
            <p:cNvSpPr txBox="1"/>
            <p:nvPr/>
          </p:nvSpPr>
          <p:spPr>
            <a:xfrm>
              <a:off x="754468" y="4198620"/>
              <a:ext cx="396064" cy="469392"/>
            </a:xfrm>
            <a:prstGeom prst="rect">
              <a:avLst/>
            </a:prstGeom>
            <a:noFill/>
            <a:ln>
              <a:noFill/>
            </a:ln>
          </p:spPr>
          <p:txBody>
            <a:bodyPr wrap="none" lIns="0" tIns="0" rIns="0" bIns="0" anchor="t" anchorCtr="0">
              <a:spAutoFit/>
            </a:bodyPr>
            <a:lstStyle/>
            <a:p>
              <a:pPr algn="ctr"/>
              <a:r>
                <a:rPr lang="vi" sz="2400" b="1" dirty="0">
                  <a:solidFill>
                    <a:srgbClr val="FFFFFF"/>
                  </a:solidFill>
                  <a:latin typeface="+mn-lt"/>
                  <a:ea typeface="+mn-ea"/>
                  <a:cs typeface="+mn-cs"/>
                </a:rPr>
                <a:t>02</a:t>
              </a:r>
            </a:p>
          </p:txBody>
        </p:sp>
        <p:sp>
          <p:nvSpPr>
            <p:cNvPr id="16" name="TextBox 16"/>
            <p:cNvSpPr txBox="1"/>
            <p:nvPr/>
          </p:nvSpPr>
          <p:spPr>
            <a:xfrm>
              <a:off x="1626870" y="4119562"/>
              <a:ext cx="2375619" cy="440055"/>
            </a:xfrm>
            <a:prstGeom prst="rect">
              <a:avLst/>
            </a:prstGeom>
            <a:noFill/>
            <a:ln>
              <a:noFill/>
            </a:ln>
          </p:spPr>
          <p:txBody>
            <a:bodyPr wrap="none" lIns="0" tIns="0" rIns="0" bIns="0" anchor="t" anchorCtr="0">
              <a:spAutoFit/>
            </a:bodyPr>
            <a:lstStyle/>
            <a:p>
              <a:pPr algn="l"/>
              <a:r>
                <a:rPr lang="vi" sz="2250" b="1" dirty="0">
                  <a:solidFill>
                    <a:schemeClr val="accent3"/>
                  </a:solidFill>
                  <a:latin typeface="+mn-lt"/>
                  <a:ea typeface="+mn-ea"/>
                  <a:cs typeface="+mn-cs"/>
                </a:rPr>
                <a:t>Chi phí tìm kiếm</a:t>
              </a:r>
            </a:p>
          </p:txBody>
        </p:sp>
        <p:sp>
          <p:nvSpPr>
            <p:cNvPr id="17" name="TextBox 17"/>
            <p:cNvSpPr txBox="1"/>
            <p:nvPr/>
          </p:nvSpPr>
          <p:spPr>
            <a:xfrm>
              <a:off x="1629156" y="4549140"/>
              <a:ext cx="7401245" cy="675894"/>
            </a:xfrm>
            <a:prstGeom prst="rect">
              <a:avLst/>
            </a:prstGeom>
            <a:noFill/>
            <a:ln>
              <a:noFill/>
            </a:ln>
          </p:spPr>
          <p:txBody>
            <a:bodyPr wrap="none" lIns="0" tIns="0" rIns="0" bIns="0" anchor="t" anchorCtr="0">
              <a:spAutoFit/>
            </a:bodyPr>
            <a:lstStyle/>
            <a:p>
              <a:pPr algn="l">
                <a:lnSpc>
                  <a:spcPts val="2550"/>
                </a:lnSpc>
              </a:pPr>
              <a:r>
                <a:rPr lang="vi" sz="1800" dirty="0">
                  <a:solidFill>
                    <a:schemeClr val="accent5"/>
                  </a:solidFill>
                  <a:latin typeface="+mn-lt"/>
                  <a:ea typeface="+mn-ea"/>
                  <a:cs typeface="+mn-cs"/>
                </a:rPr>
                <a:t>Pythia-70M có 6 layer × 4 submodule × 32 768 feature × mỗi vị trí token.</a:t>
              </a:r>
              <a:br/>
              <a:r>
                <a:rPr lang="vi" sz="1800" dirty="0">
                  <a:solidFill>
                    <a:schemeClr val="accent5"/>
                  </a:solidFill>
                  <a:latin typeface="+mn-lt"/>
                  <a:ea typeface="+mn-ea"/>
                  <a:cs typeface="+mn-cs"/>
                </a:rPr>
                <a:t>Patching từng node một là bất khả thi.</a:t>
              </a:r>
            </a:p>
          </p:txBody>
        </p:sp>
      </p:grpSp>
      <p:grpSp>
        <p:nvGrpSpPr>
          <p:cNvPr id="22" name="p05-dinh-nghia"/>
          <p:cNvGrpSpPr/>
          <p:nvPr/>
        </p:nvGrpSpPr>
        <p:grpSpPr>
          <a:xfrm>
            <a:off x="609600" y="5524500"/>
            <a:ext cx="10972800" cy="781050"/>
            <a:chOff x="609600" y="5524500"/>
            <a:chExt cx="10972800" cy="781050"/>
          </a:xfrm>
        </p:grpSpPr>
        <p:sp>
          <p:nvSpPr>
            <p:cNvPr id="19" name="Rectangle 19"/>
            <p:cNvSpPr/>
            <p:nvPr/>
          </p:nvSpPr>
          <p:spPr>
            <a:xfrm>
              <a:off x="609600" y="5524500"/>
              <a:ext cx="10972800" cy="781050"/>
            </a:xfrm>
            <a:prstGeom prst="roundRect">
              <a:avLst>
                <a:gd name="adj" fmla="val 14634"/>
              </a:avLst>
            </a:prstGeom>
            <a:solidFill>
              <a:schemeClr val="lt2"/>
            </a:solidFill>
            <a:ln>
              <a:noFill/>
            </a:ln>
          </p:spPr>
        </p:sp>
        <p:sp>
          <p:nvSpPr>
            <p:cNvPr id="20" name="TextBox 20"/>
            <p:cNvSpPr txBox="1"/>
            <p:nvPr/>
          </p:nvSpPr>
          <p:spPr>
            <a:xfrm>
              <a:off x="946404" y="5699760"/>
              <a:ext cx="1545568"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Định nghĩa của paper</a:t>
              </a:r>
            </a:p>
          </p:txBody>
        </p:sp>
        <p:sp>
          <p:nvSpPr>
            <p:cNvPr id="21" name="TextBox 21"/>
            <p:cNvSpPr txBox="1"/>
            <p:nvPr/>
          </p:nvSpPr>
          <p:spPr>
            <a:xfrm>
              <a:off x="944118" y="5975032"/>
              <a:ext cx="10195097" cy="322707"/>
            </a:xfrm>
            <a:prstGeom prst="rect">
              <a:avLst/>
            </a:prstGeom>
            <a:noFill/>
            <a:ln>
              <a:noFill/>
            </a:ln>
          </p:spPr>
          <p:txBody>
            <a:bodyPr wrap="none" lIns="0" tIns="0" rIns="0" bIns="0" anchor="t" anchorCtr="0">
              <a:spAutoFit/>
            </a:bodyPr>
            <a:lstStyle/>
            <a:p>
              <a:pPr algn="l"/>
              <a:r>
                <a:rPr lang="vi" sz="1650" dirty="0">
                  <a:solidFill>
                    <a:schemeClr val="dk1"/>
                  </a:solidFill>
                  <a:latin typeface="+mn-lt"/>
                  <a:ea typeface="+mn-ea"/>
                  <a:cs typeface="+mn-cs"/>
                </a:rPr>
                <a:t>“Neuron” là một hướng trùng trục cơ sở trong không gian ẩn, không nhất thiết đứng sau một phi tuyến.</a:t>
              </a:r>
            </a:p>
          </p:txBody>
        </p:sp>
      </p:grpSp>
      <p:sp>
        <p:nvSpPr>
          <p:cNvPr id="23" name="TextBox 23"/>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05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5330156" cy="1523619"/>
            <a:chOff x="592836" y="651510"/>
            <a:chExt cx="5330156" cy="1523619"/>
          </a:xfrm>
        </p:grpSpPr>
        <p:sp>
          <p:nvSpPr>
            <p:cNvPr id="4" name="TextBox 4"/>
            <p:cNvSpPr txBox="1"/>
            <p:nvPr/>
          </p:nvSpPr>
          <p:spPr>
            <a:xfrm>
              <a:off x="603504" y="651510"/>
              <a:ext cx="108950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1. Vấn đề</a:t>
              </a:r>
            </a:p>
          </p:txBody>
        </p:sp>
        <p:sp>
          <p:nvSpPr>
            <p:cNvPr id="5" name="TextBox 5"/>
            <p:cNvSpPr txBox="1"/>
            <p:nvPr/>
          </p:nvSpPr>
          <p:spPr>
            <a:xfrm>
              <a:off x="592836" y="1034415"/>
              <a:ext cx="5330156"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Ba nhánh chín cùng lúc,</a:t>
              </a:r>
              <a:br/>
              <a:r>
                <a:rPr lang="vi" sz="3300" b="1" dirty="0">
                  <a:solidFill>
                    <a:schemeClr val="dk1"/>
                  </a:solidFill>
                  <a:latin typeface="+mn-lt"/>
                  <a:ea typeface="+mn-ea"/>
                  <a:cs typeface="+mn-cs"/>
                </a:rPr>
                <a:t>SFC là chỗ chúng gặp nhau</a:t>
              </a:r>
            </a:p>
          </p:txBody>
        </p:sp>
      </p:grpSp>
      <p:grpSp>
        <p:nvGrpSpPr>
          <p:cNvPr id="10" name="p06-nhanh-a"/>
          <p:cNvGrpSpPr/>
          <p:nvPr/>
        </p:nvGrpSpPr>
        <p:grpSpPr>
          <a:xfrm>
            <a:off x="601218" y="2260282"/>
            <a:ext cx="8352282" cy="682943"/>
            <a:chOff x="601218" y="2260282"/>
            <a:chExt cx="8352282" cy="682943"/>
          </a:xfrm>
        </p:grpSpPr>
        <p:sp>
          <p:nvSpPr>
            <p:cNvPr id="7" name="TextBox 7"/>
            <p:cNvSpPr txBox="1"/>
            <p:nvPr/>
          </p:nvSpPr>
          <p:spPr>
            <a:xfrm>
              <a:off x="601218" y="2260282"/>
              <a:ext cx="1579276"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Circuit analysis</a:t>
              </a:r>
            </a:p>
          </p:txBody>
        </p:sp>
        <p:sp>
          <p:nvSpPr>
            <p:cNvPr id="8" name="TextBox 8"/>
            <p:cNvSpPr txBox="1"/>
            <p:nvPr/>
          </p:nvSpPr>
          <p:spPr>
            <a:xfrm>
              <a:off x="602742" y="2616518"/>
              <a:ext cx="6695851"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Zoom In 2020, Math Framework 2021, induction heads 2022, IOI 2023, ACDC 2023</a:t>
              </a:r>
            </a:p>
          </p:txBody>
        </p:sp>
        <p:sp>
          <p:nvSpPr>
            <p:cNvPr id="9" name="Line 9"/>
            <p:cNvSpPr/>
            <p:nvPr/>
          </p:nvSpPr>
          <p:spPr>
            <a:xfrm>
              <a:off x="609600" y="2933700"/>
              <a:ext cx="8343900" cy="9525"/>
            </a:xfrm>
            <a:custGeom>
              <a:avLst/>
              <a:gdLst/>
              <a:ahLst/>
              <a:cxnLst/>
              <a:rect l="l" t="t" r="r" b="b"/>
              <a:pathLst>
                <a:path w="8343900" h="9525">
                  <a:moveTo>
                    <a:pt x="0" y="0"/>
                  </a:moveTo>
                  <a:lnTo>
                    <a:pt x="8343900" y="0"/>
                  </a:lnTo>
                </a:path>
              </a:pathLst>
            </a:custGeom>
            <a:noFill/>
            <a:ln w="9525">
              <a:solidFill>
                <a:schemeClr val="accent6"/>
              </a:solidFill>
            </a:ln>
          </p:spPr>
        </p:sp>
      </p:grpSp>
      <p:grpSp>
        <p:nvGrpSpPr>
          <p:cNvPr id="14" name="p06-nhanh-b"/>
          <p:cNvGrpSpPr/>
          <p:nvPr/>
        </p:nvGrpSpPr>
        <p:grpSpPr>
          <a:xfrm>
            <a:off x="601218" y="3212782"/>
            <a:ext cx="8352282" cy="682943"/>
            <a:chOff x="601218" y="3212782"/>
            <a:chExt cx="8352282" cy="682943"/>
          </a:xfrm>
        </p:grpSpPr>
        <p:sp>
          <p:nvSpPr>
            <p:cNvPr id="11" name="TextBox 11"/>
            <p:cNvSpPr txBox="1"/>
            <p:nvPr/>
          </p:nvSpPr>
          <p:spPr>
            <a:xfrm>
              <a:off x="601218" y="3212782"/>
              <a:ext cx="2239529" cy="322707"/>
            </a:xfrm>
            <a:prstGeom prst="rect">
              <a:avLst/>
            </a:prstGeom>
            <a:noFill/>
            <a:ln>
              <a:noFill/>
            </a:ln>
          </p:spPr>
          <p:txBody>
            <a:bodyPr wrap="none" lIns="0" tIns="0" rIns="0" bIns="0" anchor="t" anchorCtr="0">
              <a:spAutoFit/>
            </a:bodyPr>
            <a:lstStyle/>
            <a:p>
              <a:pPr algn="l"/>
              <a:r>
                <a:rPr lang="vi" sz="1650" b="1" dirty="0">
                  <a:solidFill>
                    <a:schemeClr val="accent3"/>
                  </a:solidFill>
                  <a:latin typeface="+mn-lt"/>
                  <a:ea typeface="+mn-ea"/>
                  <a:cs typeface="+mn-cs"/>
                </a:rPr>
                <a:t>Đơn vị diễn giải được</a:t>
              </a:r>
            </a:p>
          </p:txBody>
        </p:sp>
        <p:sp>
          <p:nvSpPr>
            <p:cNvPr id="12" name="TextBox 12"/>
            <p:cNvSpPr txBox="1"/>
            <p:nvPr/>
          </p:nvSpPr>
          <p:spPr>
            <a:xfrm>
              <a:off x="602742" y="3569018"/>
              <a:ext cx="7148881"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Toy Models of Superposition 2022, Towards Monosemanticity 2023, Gemma Scope 2024</a:t>
              </a:r>
            </a:p>
          </p:txBody>
        </p:sp>
        <p:sp>
          <p:nvSpPr>
            <p:cNvPr id="13" name="Line 13"/>
            <p:cNvSpPr/>
            <p:nvPr/>
          </p:nvSpPr>
          <p:spPr>
            <a:xfrm>
              <a:off x="609600" y="3886200"/>
              <a:ext cx="8343900" cy="9525"/>
            </a:xfrm>
            <a:custGeom>
              <a:avLst/>
              <a:gdLst/>
              <a:ahLst/>
              <a:cxnLst/>
              <a:rect l="l" t="t" r="r" b="b"/>
              <a:pathLst>
                <a:path w="8343900" h="9525">
                  <a:moveTo>
                    <a:pt x="0" y="0"/>
                  </a:moveTo>
                  <a:lnTo>
                    <a:pt x="8343900" y="0"/>
                  </a:lnTo>
                </a:path>
              </a:pathLst>
            </a:custGeom>
            <a:noFill/>
            <a:ln w="9525">
              <a:solidFill>
                <a:schemeClr val="accent6"/>
              </a:solidFill>
            </a:ln>
          </p:spPr>
        </p:sp>
      </p:grpSp>
      <p:grpSp>
        <p:nvGrpSpPr>
          <p:cNvPr id="18" name="p06-nhanh-c"/>
          <p:cNvGrpSpPr/>
          <p:nvPr/>
        </p:nvGrpSpPr>
        <p:grpSpPr>
          <a:xfrm>
            <a:off x="601218" y="4165282"/>
            <a:ext cx="8352282" cy="682943"/>
            <a:chOff x="601218" y="4165282"/>
            <a:chExt cx="8352282" cy="682943"/>
          </a:xfrm>
        </p:grpSpPr>
        <p:sp>
          <p:nvSpPr>
            <p:cNvPr id="15" name="TextBox 15"/>
            <p:cNvSpPr txBox="1"/>
            <p:nvPr/>
          </p:nvSpPr>
          <p:spPr>
            <a:xfrm>
              <a:off x="601218" y="4165282"/>
              <a:ext cx="1622009" cy="322707"/>
            </a:xfrm>
            <a:prstGeom prst="rect">
              <a:avLst/>
            </a:prstGeom>
            <a:noFill/>
            <a:ln>
              <a:noFill/>
            </a:ln>
          </p:spPr>
          <p:txBody>
            <a:bodyPr wrap="none" lIns="0" tIns="0" rIns="0" bIns="0" anchor="t" anchorCtr="0">
              <a:spAutoFit/>
            </a:bodyPr>
            <a:lstStyle/>
            <a:p>
              <a:pPr algn="l"/>
              <a:r>
                <a:rPr lang="vi" sz="1650" b="1" dirty="0">
                  <a:solidFill>
                    <a:srgbClr val="8B5A5F"/>
                  </a:solidFill>
                  <a:latin typeface="+mn-lt"/>
                  <a:ea typeface="+mn-ea"/>
                  <a:cs typeface="+mn-cs"/>
                </a:rPr>
                <a:t>Xấp xỉ gradient</a:t>
              </a:r>
            </a:p>
          </p:txBody>
        </p:sp>
        <p:sp>
          <p:nvSpPr>
            <p:cNvPr id="16" name="TextBox 16"/>
            <p:cNvSpPr txBox="1"/>
            <p:nvPr/>
          </p:nvSpPr>
          <p:spPr>
            <a:xfrm>
              <a:off x="602742" y="4521518"/>
              <a:ext cx="6019659"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Integrated Gradients 2017, attribution patching 2022, EAP 2023, AtP* 2024</a:t>
              </a:r>
            </a:p>
          </p:txBody>
        </p:sp>
        <p:sp>
          <p:nvSpPr>
            <p:cNvPr id="17" name="Line 17"/>
            <p:cNvSpPr/>
            <p:nvPr/>
          </p:nvSpPr>
          <p:spPr>
            <a:xfrm>
              <a:off x="609600" y="4838700"/>
              <a:ext cx="8343900" cy="9525"/>
            </a:xfrm>
            <a:custGeom>
              <a:avLst/>
              <a:gdLst/>
              <a:ahLst/>
              <a:cxnLst/>
              <a:rect l="l" t="t" r="r" b="b"/>
              <a:pathLst>
                <a:path w="8343900" h="9525">
                  <a:moveTo>
                    <a:pt x="0" y="0"/>
                  </a:moveTo>
                  <a:lnTo>
                    <a:pt x="8343900" y="0"/>
                  </a:lnTo>
                </a:path>
              </a:pathLst>
            </a:custGeom>
            <a:noFill/>
            <a:ln w="9525">
              <a:solidFill>
                <a:schemeClr val="accent6"/>
              </a:solidFill>
            </a:ln>
          </p:spPr>
        </p:sp>
      </p:grpSp>
      <p:grpSp>
        <p:nvGrpSpPr>
          <p:cNvPr id="26" name="p06-hoi-tu"/>
          <p:cNvGrpSpPr/>
          <p:nvPr/>
        </p:nvGrpSpPr>
        <p:grpSpPr>
          <a:xfrm>
            <a:off x="8991600" y="2247900"/>
            <a:ext cx="2638425" cy="2590800"/>
            <a:chOff x="8991600" y="2247900"/>
            <a:chExt cx="2638425" cy="2590800"/>
          </a:xfrm>
        </p:grpSpPr>
        <p:sp>
          <p:nvSpPr>
            <p:cNvPr id="19" name="Freeform 19"/>
            <p:cNvSpPr/>
            <p:nvPr/>
          </p:nvSpPr>
          <p:spPr>
            <a:xfrm>
              <a:off x="8991600" y="2247900"/>
              <a:ext cx="342900" cy="2590800"/>
            </a:xfrm>
            <a:prstGeom prst="rightBrace">
              <a:avLst/>
            </a:prstGeom>
            <a:noFill/>
            <a:ln w="19050">
              <a:solidFill>
                <a:schemeClr val="accent1"/>
              </a:solidFill>
            </a:ln>
          </p:spPr>
        </p:sp>
        <p:sp>
          <p:nvSpPr>
            <p:cNvPr id="20" name="Line 20"/>
            <p:cNvSpPr/>
            <p:nvPr/>
          </p:nvSpPr>
          <p:spPr>
            <a:xfrm>
              <a:off x="9372600" y="3543300"/>
              <a:ext cx="152400" cy="1"/>
            </a:xfrm>
            <a:prstGeom prst="line">
              <a:avLst/>
            </a:prstGeom>
            <a:noFill/>
            <a:ln w="19050">
              <a:solidFill>
                <a:schemeClr val="accent1"/>
              </a:solidFill>
              <a:tailEnd type="triangle" w="lg" len="lg"/>
            </a:ln>
          </p:spPr>
        </p:sp>
        <p:sp>
          <p:nvSpPr>
            <p:cNvPr id="21" name="Rectangle 21"/>
            <p:cNvSpPr/>
            <p:nvPr/>
          </p:nvSpPr>
          <p:spPr>
            <a:xfrm>
              <a:off x="9648825" y="3057525"/>
              <a:ext cx="1981200" cy="1066800"/>
            </a:xfrm>
            <a:prstGeom prst="roundRect">
              <a:avLst>
                <a:gd name="adj" fmla="val 10714"/>
              </a:avLst>
            </a:prstGeom>
            <a:noFill/>
            <a:ln w="14288">
              <a:solidFill>
                <a:srgbClr val="1B2430"/>
              </a:solidFill>
            </a:ln>
          </p:spPr>
        </p:sp>
        <p:sp>
          <p:nvSpPr>
            <p:cNvPr id="22" name="Rectangle 22"/>
            <p:cNvSpPr/>
            <p:nvPr/>
          </p:nvSpPr>
          <p:spPr>
            <a:xfrm>
              <a:off x="9601200" y="3009900"/>
              <a:ext cx="1981200" cy="1066800"/>
            </a:xfrm>
            <a:prstGeom prst="roundRect">
              <a:avLst>
                <a:gd name="adj" fmla="val 10714"/>
              </a:avLst>
            </a:prstGeom>
            <a:solidFill>
              <a:schemeClr val="accent2"/>
            </a:solidFill>
            <a:ln w="14288">
              <a:solidFill>
                <a:srgbClr val="1B2430"/>
              </a:solidFill>
            </a:ln>
          </p:spPr>
        </p:sp>
        <p:sp>
          <p:nvSpPr>
            <p:cNvPr id="23" name="TextBox 23"/>
            <p:cNvSpPr txBox="1"/>
            <p:nvPr/>
          </p:nvSpPr>
          <p:spPr>
            <a:xfrm>
              <a:off x="10174997" y="3206115"/>
              <a:ext cx="833607" cy="645414"/>
            </a:xfrm>
            <a:prstGeom prst="rect">
              <a:avLst/>
            </a:prstGeom>
            <a:noFill/>
            <a:ln>
              <a:noFill/>
            </a:ln>
          </p:spPr>
          <p:txBody>
            <a:bodyPr wrap="none" lIns="0" tIns="0" rIns="0" bIns="0" anchor="t" anchorCtr="0">
              <a:spAutoFit/>
            </a:bodyPr>
            <a:lstStyle/>
            <a:p>
              <a:pPr algn="ctr"/>
              <a:r>
                <a:rPr lang="vi" sz="3300" b="1" dirty="0">
                  <a:solidFill>
                    <a:srgbClr val="1B2430"/>
                  </a:solidFill>
                  <a:latin typeface="+mn-lt"/>
                  <a:ea typeface="+mn-ea"/>
                  <a:cs typeface="+mn-cs"/>
                </a:rPr>
                <a:t>SFC</a:t>
              </a:r>
            </a:p>
          </p:txBody>
        </p:sp>
        <p:sp>
          <p:nvSpPr>
            <p:cNvPr id="24" name="TextBox 24"/>
            <p:cNvSpPr txBox="1"/>
            <p:nvPr/>
          </p:nvSpPr>
          <p:spPr>
            <a:xfrm>
              <a:off x="10155831" y="3708082"/>
              <a:ext cx="871938" cy="322707"/>
            </a:xfrm>
            <a:prstGeom prst="rect">
              <a:avLst/>
            </a:prstGeom>
            <a:noFill/>
            <a:ln>
              <a:noFill/>
            </a:ln>
          </p:spPr>
          <p:txBody>
            <a:bodyPr wrap="none" lIns="0" tIns="0" rIns="0" bIns="0" anchor="t" anchorCtr="0">
              <a:spAutoFit/>
            </a:bodyPr>
            <a:lstStyle/>
            <a:p>
              <a:pPr algn="ctr"/>
              <a:r>
                <a:rPr lang="vi" sz="1650" dirty="0">
                  <a:solidFill>
                    <a:srgbClr val="1B2430"/>
                  </a:solidFill>
                  <a:latin typeface="Consolas"/>
                  <a:ea typeface="Consolas"/>
                  <a:cs typeface="Consolas"/>
                </a:rPr>
                <a:t>03/2024</a:t>
              </a:r>
            </a:p>
          </p:txBody>
        </p:sp>
        <p:sp>
          <p:nvSpPr>
            <p:cNvPr id="25" name="TextBox 25"/>
            <p:cNvSpPr txBox="1"/>
            <p:nvPr/>
          </p:nvSpPr>
          <p:spPr>
            <a:xfrm>
              <a:off x="9638242" y="4251960"/>
              <a:ext cx="1907115" cy="234696"/>
            </a:xfrm>
            <a:prstGeom prst="rect">
              <a:avLst/>
            </a:prstGeom>
            <a:noFill/>
            <a:ln>
              <a:noFill/>
            </a:ln>
          </p:spPr>
          <p:txBody>
            <a:bodyPr wrap="none" lIns="0" tIns="0" rIns="0" bIns="0" anchor="t" anchorCtr="0">
              <a:spAutoFit/>
            </a:bodyPr>
            <a:lstStyle/>
            <a:p>
              <a:pPr algn="ctr"/>
              <a:r>
                <a:rPr lang="vi" sz="1200" dirty="0">
                  <a:solidFill>
                    <a:schemeClr val="accent5"/>
                  </a:solidFill>
                  <a:latin typeface="+mn-lt"/>
                  <a:ea typeface="+mn-ea"/>
                  <a:cs typeface="+mn-cs"/>
                </a:rPr>
                <a:t>ICLR 2025, nhận dạng oral</a:t>
              </a:r>
            </a:p>
          </p:txBody>
        </p:sp>
      </p:grpSp>
      <p:grpSp>
        <p:nvGrpSpPr>
          <p:cNvPr id="29" name="p06-dieu-kien"/>
          <p:cNvGrpSpPr/>
          <p:nvPr/>
        </p:nvGrpSpPr>
        <p:grpSpPr>
          <a:xfrm>
            <a:off x="609600" y="5524500"/>
            <a:ext cx="8578169" cy="729234"/>
            <a:chOff x="609600" y="5524500"/>
            <a:chExt cx="8578169" cy="729234"/>
          </a:xfrm>
        </p:grpSpPr>
        <p:sp>
          <p:nvSpPr>
            <p:cNvPr id="27" name="Rectangle 27"/>
            <p:cNvSpPr/>
            <p:nvPr/>
          </p:nvSpPr>
          <p:spPr>
            <a:xfrm>
              <a:off x="609600" y="5524500"/>
              <a:ext cx="76200" cy="685800"/>
            </a:xfrm>
            <a:prstGeom prst="roundRect">
              <a:avLst>
                <a:gd name="adj" fmla="val 50000"/>
              </a:avLst>
            </a:prstGeom>
            <a:solidFill>
              <a:schemeClr val="accent2"/>
            </a:solidFill>
            <a:ln>
              <a:noFill/>
            </a:ln>
          </p:spPr>
        </p:sp>
        <p:sp>
          <p:nvSpPr>
            <p:cNvPr id="28" name="TextBox 28"/>
            <p:cNvSpPr txBox="1"/>
            <p:nvPr/>
          </p:nvSpPr>
          <p:spPr>
            <a:xfrm>
              <a:off x="943356" y="5577840"/>
              <a:ext cx="8244413" cy="675894"/>
            </a:xfrm>
            <a:prstGeom prst="rect">
              <a:avLst/>
            </a:prstGeom>
            <a:noFill/>
            <a:ln>
              <a:noFill/>
            </a:ln>
          </p:spPr>
          <p:txBody>
            <a:bodyPr wrap="none" lIns="0" tIns="0" rIns="0" bIns="0" anchor="t" anchorCtr="0">
              <a:spAutoFit/>
            </a:bodyPr>
            <a:lstStyle/>
            <a:p>
              <a:pPr algn="l">
                <a:lnSpc>
                  <a:spcPts val="2550"/>
                </a:lnSpc>
              </a:pPr>
              <a:r>
                <a:rPr lang="vi" sz="1800" dirty="0">
                  <a:solidFill>
                    <a:schemeClr val="dk1"/>
                  </a:solidFill>
                  <a:latin typeface="+mn-lt"/>
                  <a:ea typeface="+mn-ea"/>
                  <a:cs typeface="+mn-cs"/>
                </a:rPr>
                <a:t>Ba điều kiện chín cùng lúc: SAE đủ tốt và công khai, attribution patching đã được</a:t>
              </a:r>
              <a:br/>
              <a:r>
                <a:rPr lang="vi" sz="1800" dirty="0">
                  <a:solidFill>
                    <a:schemeClr val="dk1"/>
                  </a:solidFill>
                  <a:latin typeface="+mn-lt"/>
                  <a:ea typeface="+mn-ea"/>
                  <a:cs typeface="+mn-cs"/>
                </a:rPr>
                <a:t>chứng minh đủ chính xác, và động lực gỡ tín hiệu không mong muốn từ AI safety.</a:t>
              </a:r>
            </a:p>
          </p:txBody>
        </p:sp>
      </p:grpSp>
      <p:sp>
        <p:nvSpPr>
          <p:cNvPr id="30" name="TextBox 30"/>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06</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817332" cy="1523619"/>
            <a:chOff x="592836" y="651510"/>
            <a:chExt cx="6817332"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2. Phương pháp</a:t>
              </a:r>
            </a:p>
          </p:txBody>
        </p:sp>
        <p:sp>
          <p:nvSpPr>
            <p:cNvPr id="5" name="TextBox 5"/>
            <p:cNvSpPr txBox="1"/>
            <p:nvPr/>
          </p:nvSpPr>
          <p:spPr>
            <a:xfrm>
              <a:off x="592836" y="1034415"/>
              <a:ext cx="6817332"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SAE tách một activation thành</a:t>
              </a:r>
              <a:br/>
              <a:r>
                <a:rPr lang="vi" sz="3300" b="1" dirty="0">
                  <a:solidFill>
                    <a:schemeClr val="dk1"/>
                  </a:solidFill>
                  <a:latin typeface="+mn-lt"/>
                  <a:ea typeface="+mn-ea"/>
                  <a:cs typeface="+mn-cs"/>
                </a:rPr>
                <a:t>tổng thưa của các hướng học được</a:t>
              </a:r>
            </a:p>
          </p:txBody>
        </p:sp>
      </p:grpSp>
      <mc:AlternateContent xmlns:mc="http://schemas.openxmlformats.org/markup-compatibility/2006">
        <mc:Choice xmlns:a14="http://schemas.microsoft.com/office/drawing/2010/main" Requires="a14">
          <p:sp>
            <p:nvSpPr>
              <p:cNvPr id="7" name="p07-cong-thuc-sae"/>
              <p:cNvSpPr txBox="1">
                <a:spLocks noGrp="1"/>
              </p:cNvSpPr>
              <p:nvPr/>
            </p:nvSpPr>
            <p:spPr>
              <a:xfrm>
                <a:off x="609600" y="2286000"/>
                <a:ext cx="109728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vi" sz="3000" dirty="0">
                          <a:solidFill>
                            <a:srgbClr val="1B2430"/>
                          </a:solidFill>
                          <a:latin typeface="Cambria Math"/>
                          <a:ea typeface="Cambria Math"/>
                          <a:cs typeface="Cambria Math"/>
                        </a:rPr>
                        <m:t>x</m:t>
                      </m:r>
                      <m:r>
                        <m:rPr>
                          <m:sty m:val="p"/>
                        </m:rPr>
                        <a:rPr lang="vi" sz="3000" dirty="0">
                          <a:solidFill>
                            <a:srgbClr val="1B2430"/>
                          </a:solidFill>
                          <a:latin typeface="Cambria Math"/>
                          <a:ea typeface="Cambria Math"/>
                          <a:cs typeface="Cambria Math"/>
                        </a:rPr>
                        <m:t>=</m:t>
                      </m:r>
                      <m:acc>
                        <m:accPr>
                          <m:chr m:val="ˆ"/>
                          <m:ctrlPr>
                            <a:rPr lang="vi" sz="3000" dirty="0">
                              <a:solidFill>
                                <a:srgbClr val="1B2430"/>
                              </a:solidFill>
                              <a:latin typeface="Cambria Math"/>
                              <a:ea typeface="Cambria Math"/>
                              <a:cs typeface="Cambria Math"/>
                            </a:rPr>
                          </m:ctrlPr>
                        </m:accPr>
                        <m:e>
                          <m:r>
                            <a:rPr lang="vi" sz="3000" dirty="0">
                              <a:solidFill>
                                <a:srgbClr val="1B2430"/>
                              </a:solidFill>
                              <a:latin typeface="Cambria Math"/>
                              <a:ea typeface="Cambria Math"/>
                              <a:cs typeface="Cambria Math"/>
                            </a:rPr>
                            <m:t>x</m:t>
                          </m:r>
                        </m:e>
                      </m:acc>
                      <m:r>
                        <m:rPr>
                          <m:sty m:val="p"/>
                        </m:rPr>
                        <a:rPr lang="vi" sz="3000" dirty="0">
                          <a:solidFill>
                            <a:srgbClr val="1B2430"/>
                          </a:solidFill>
                          <a:latin typeface="Cambria Math"/>
                          <a:ea typeface="Cambria Math"/>
                          <a:cs typeface="Cambria Math"/>
                        </a:rPr>
                        <m:t>+</m:t>
                      </m:r>
                      <m:r>
                        <a:rPr lang="vi" sz="3000" dirty="0">
                          <a:solidFill>
                            <a:srgbClr val="1B2430"/>
                          </a:solidFill>
                          <a:latin typeface="Cambria Math"/>
                          <a:ea typeface="Cambria Math"/>
                          <a:cs typeface="Cambria Math"/>
                        </a:rPr>
                        <m:t>ϵ</m:t>
                      </m:r>
                      <m:d>
                        <m:dPr>
                          <m:begChr m:val="("/>
                          <m:sepChr m:val=""/>
                          <m:endChr m:val=")"/>
                          <m:grow m:val="on"/>
                          <m:ctrlPr>
                            <a:rPr lang="vi" sz="3000" dirty="0">
                              <a:solidFill>
                                <a:srgbClr val="1B2430"/>
                              </a:solidFill>
                              <a:latin typeface="Cambria Math"/>
                              <a:ea typeface="Cambria Math"/>
                              <a:cs typeface="Cambria Math"/>
                            </a:rPr>
                          </m:ctrlPr>
                        </m:dPr>
                        <m:e>
                          <m:r>
                            <a:rPr lang="vi" sz="3000" dirty="0">
                              <a:solidFill>
                                <a:srgbClr val="1B2430"/>
                              </a:solidFill>
                              <a:latin typeface="Cambria Math"/>
                              <a:ea typeface="Cambria Math"/>
                              <a:cs typeface="Cambria Math"/>
                            </a:rPr>
                            <m:t>x</m:t>
                          </m:r>
                        </m:e>
                      </m:d>
                      <m:r>
                        <m:rPr>
                          <m:sty m:val="p"/>
                        </m:rPr>
                        <a:rPr lang="vi" sz="3000" dirty="0">
                          <a:solidFill>
                            <a:srgbClr val="1B2430"/>
                          </a:solidFill>
                          <a:latin typeface="Cambria Math"/>
                          <a:ea typeface="Cambria Math"/>
                          <a:cs typeface="Cambria Math"/>
                        </a:rPr>
                        <m:t>=</m:t>
                      </m:r>
                      <m:nary>
                        <m:naryPr>
                          <m:chr m:val="∑"/>
                          <m:limLoc m:val="undOvr"/>
                          <m:grow m:val="off"/>
                          <m:subHide m:val="off"/>
                          <m:supHide m:val="off"/>
                          <m:ctrlPr>
                            <a:rPr lang="vi" sz="3000" dirty="0">
                              <a:solidFill>
                                <a:srgbClr val="1B2430"/>
                              </a:solidFill>
                              <a:latin typeface="Cambria Math"/>
                              <a:ea typeface="Cambria Math"/>
                              <a:cs typeface="Cambria Math"/>
                            </a:rPr>
                          </m:ctrlPr>
                        </m:naryPr>
                        <m:sub>
                          <m:r>
                            <a:rPr lang="vi" sz="3000" dirty="0">
                              <a:solidFill>
                                <a:srgbClr val="1B2430"/>
                              </a:solidFill>
                              <a:latin typeface="Cambria Math"/>
                              <a:ea typeface="Cambria Math"/>
                              <a:cs typeface="Cambria Math"/>
                            </a:rPr>
                            <m:t>i</m:t>
                          </m:r>
                          <m:r>
                            <m:rPr>
                              <m:sty m:val="p"/>
                            </m:rPr>
                            <a:rPr lang="vi" sz="3000" dirty="0">
                              <a:solidFill>
                                <a:srgbClr val="1B2430"/>
                              </a:solidFill>
                              <a:latin typeface="Cambria Math"/>
                              <a:ea typeface="Cambria Math"/>
                              <a:cs typeface="Cambria Math"/>
                            </a:rPr>
                            <m:t>=</m:t>
                          </m:r>
                          <m:r>
                            <a:rPr lang="vi" sz="3000" dirty="0">
                              <a:solidFill>
                                <a:srgbClr val="1B2430"/>
                              </a:solidFill>
                              <a:latin typeface="Cambria Math"/>
                              <a:ea typeface="Cambria Math"/>
                              <a:cs typeface="Cambria Math"/>
                            </a:rPr>
                            <m:t>1</m:t>
                          </m:r>
                        </m:sub>
                        <m:sup>
                          <m:sSub>
                            <m:e>
                              <m:r>
                                <a:rPr lang="vi" sz="3000" dirty="0">
                                  <a:solidFill>
                                    <a:srgbClr val="1B2430"/>
                                  </a:solidFill>
                                  <a:latin typeface="Cambria Math"/>
                                  <a:ea typeface="Cambria Math"/>
                                  <a:cs typeface="Cambria Math"/>
                                </a:rPr>
                                <m:t>d</m:t>
                              </m:r>
                            </m:e>
                            <m:sub>
                              <m:r>
                                <a:rPr lang="vi" sz="3000" dirty="0">
                                  <a:solidFill>
                                    <a:srgbClr val="1B2430"/>
                                  </a:solidFill>
                                  <a:latin typeface="Cambria Math"/>
                                  <a:ea typeface="Cambria Math"/>
                                  <a:cs typeface="Cambria Math"/>
                                </a:rPr>
                                <m:t>SAE</m:t>
                              </m:r>
                            </m:sub>
                          </m:sSub>
                        </m:sup>
                        <m:e>
                          <m:sSub>
                            <m:e>
                              <m:r>
                                <a:rPr lang="vi" sz="3000" dirty="0">
                                  <a:solidFill>
                                    <a:srgbClr val="1B2430"/>
                                  </a:solidFill>
                                  <a:latin typeface="Cambria Math"/>
                                  <a:ea typeface="Cambria Math"/>
                                  <a:cs typeface="Cambria Math"/>
                                </a:rPr>
                                <m:t>f</m:t>
                              </m:r>
                            </m:e>
                            <m:sub>
                              <m:r>
                                <a:rPr lang="vi" sz="3000" dirty="0">
                                  <a:solidFill>
                                    <a:srgbClr val="1B2430"/>
                                  </a:solidFill>
                                  <a:latin typeface="Cambria Math"/>
                                  <a:ea typeface="Cambria Math"/>
                                  <a:cs typeface="Cambria Math"/>
                                </a:rPr>
                                <m:t>i</m:t>
                              </m:r>
                            </m:sub>
                          </m:sSub>
                          <m:d>
                            <m:dPr>
                              <m:begChr m:val="("/>
                              <m:sepChr m:val=""/>
                              <m:endChr m:val=")"/>
                              <m:grow m:val="on"/>
                              <m:ctrlPr>
                                <a:rPr lang="vi" sz="3000" dirty="0">
                                  <a:solidFill>
                                    <a:srgbClr val="1B2430"/>
                                  </a:solidFill>
                                  <a:latin typeface="Cambria Math"/>
                                  <a:ea typeface="Cambria Math"/>
                                  <a:cs typeface="Cambria Math"/>
                                </a:rPr>
                              </m:ctrlPr>
                            </m:dPr>
                            <m:e>
                              <m:r>
                                <a:rPr lang="vi" sz="3000" dirty="0">
                                  <a:solidFill>
                                    <a:srgbClr val="1B2430"/>
                                  </a:solidFill>
                                  <a:latin typeface="Cambria Math"/>
                                  <a:ea typeface="Cambria Math"/>
                                  <a:cs typeface="Cambria Math"/>
                                </a:rPr>
                                <m:t>x</m:t>
                              </m:r>
                            </m:e>
                          </m:d>
                          <m:sSub>
                            <m:e>
                              <m:r>
                                <a:rPr lang="vi" sz="3000" dirty="0">
                                  <a:solidFill>
                                    <a:srgbClr val="1B2430"/>
                                  </a:solidFill>
                                  <a:latin typeface="Cambria Math"/>
                                  <a:ea typeface="Cambria Math"/>
                                  <a:cs typeface="Cambria Math"/>
                                </a:rPr>
                                <m:t>v</m:t>
                              </m:r>
                            </m:e>
                            <m:sub>
                              <m:r>
                                <a:rPr lang="vi" sz="3000" dirty="0">
                                  <a:solidFill>
                                    <a:srgbClr val="1B2430"/>
                                  </a:solidFill>
                                  <a:latin typeface="Cambria Math"/>
                                  <a:ea typeface="Cambria Math"/>
                                  <a:cs typeface="Cambria Math"/>
                                </a:rPr>
                                <m:t>i</m:t>
                              </m:r>
                            </m:sub>
                          </m:sSub>
                        </m:e>
                      </m:nary>
                      <m:r>
                        <m:rPr>
                          <m:sty m:val="p"/>
                        </m:rPr>
                        <a:rPr lang="vi" sz="3000" dirty="0">
                          <a:solidFill>
                            <a:srgbClr val="1B2430"/>
                          </a:solidFill>
                          <a:latin typeface="Cambria Math"/>
                          <a:ea typeface="Cambria Math"/>
                          <a:cs typeface="Cambria Math"/>
                        </a:rPr>
                        <m:t>+</m:t>
                      </m:r>
                      <m:r>
                        <a:rPr lang="vi" sz="3000" dirty="0">
                          <a:solidFill>
                            <a:srgbClr val="1B2430"/>
                          </a:solidFill>
                          <a:latin typeface="Cambria Math"/>
                          <a:ea typeface="Cambria Math"/>
                          <a:cs typeface="Cambria Math"/>
                        </a:rPr>
                        <m:t>b</m:t>
                      </m:r>
                      <m:r>
                        <m:rPr>
                          <m:sty m:val="p"/>
                        </m:rPr>
                        <a:rPr lang="vi" sz="3000" dirty="0">
                          <a:solidFill>
                            <a:srgbClr val="1B2430"/>
                          </a:solidFill>
                          <a:latin typeface="Cambria Math"/>
                          <a:ea typeface="Cambria Math"/>
                          <a:cs typeface="Cambria Math"/>
                        </a:rPr>
                        <m:t>+</m:t>
                      </m:r>
                      <m:r>
                        <a:rPr lang="vi" sz="3000" dirty="0">
                          <a:solidFill>
                            <a:srgbClr val="1B2430"/>
                          </a:solidFill>
                          <a:latin typeface="Cambria Math"/>
                          <a:ea typeface="Cambria Math"/>
                          <a:cs typeface="Cambria Math"/>
                        </a:rPr>
                        <m:t>ϵ</m:t>
                      </m:r>
                      <m:d>
                        <m:dPr>
                          <m:begChr m:val="("/>
                          <m:sepChr m:val=""/>
                          <m:endChr m:val=")"/>
                          <m:grow m:val="on"/>
                          <m:ctrlPr>
                            <a:rPr lang="vi" sz="3000" dirty="0">
                              <a:solidFill>
                                <a:srgbClr val="1B2430"/>
                              </a:solidFill>
                              <a:latin typeface="Cambria Math"/>
                              <a:ea typeface="Cambria Math"/>
                              <a:cs typeface="Cambria Math"/>
                            </a:rPr>
                          </m:ctrlPr>
                        </m:dPr>
                        <m:e>
                          <m:r>
                            <a:rPr lang="vi" sz="3000" dirty="0">
                              <a:solidFill>
                                <a:srgbClr val="1B2430"/>
                              </a:solidFill>
                              <a:latin typeface="Cambria Math"/>
                              <a:ea typeface="Cambria Math"/>
                              <a:cs typeface="Cambria Math"/>
                            </a:rPr>
                            <m:t>x</m:t>
                          </m:r>
                        </m:e>
                      </m:d>
                    </m:oMath>
                  </m:oMathPara>
                </a14:m>
              </a:p>
            </p:txBody>
          </p:sp>
        </mc:Choice>
      </mc:AlternateContent>
      <p:grpSp>
        <p:nvGrpSpPr>
          <p:cNvPr id="16" name="p07-ky-hieu"/>
          <p:cNvGrpSpPr/>
          <p:nvPr/>
        </p:nvGrpSpPr>
        <p:grpSpPr>
          <a:xfrm>
            <a:off x="601218" y="3422332"/>
            <a:ext cx="9380150" cy="646557"/>
            <a:chOff x="601218" y="3422332"/>
            <a:chExt cx="9380150" cy="646557"/>
          </a:xfrm>
        </p:grpSpPr>
        <p:sp>
          <p:nvSpPr>
            <p:cNvPr id="8" name="TextBox 8"/>
            <p:cNvSpPr txBox="1"/>
            <p:nvPr/>
          </p:nvSpPr>
          <p:spPr>
            <a:xfrm>
              <a:off x="601218" y="3422332"/>
              <a:ext cx="383267" cy="322707"/>
            </a:xfrm>
            <a:prstGeom prst="rect">
              <a:avLst/>
            </a:prstGeom>
            <a:noFill/>
            <a:ln>
              <a:noFill/>
            </a:ln>
          </p:spPr>
          <p:txBody>
            <a:bodyPr wrap="none" lIns="0" tIns="0" rIns="0" bIns="0" anchor="t" anchorCtr="0">
              <a:spAutoFit/>
            </a:bodyPr>
            <a:lstStyle/>
            <a:p>
              <a:pPr algn="l"/>
              <a:r>
                <a:rPr lang="vi" sz="1650" dirty="0">
                  <a:solidFill>
                    <a:schemeClr val="accent1"/>
                  </a:solidFill>
                  <a:latin typeface="Consolas"/>
                  <a:ea typeface="Consolas"/>
                  <a:cs typeface="Consolas"/>
                </a:rPr>
                <a:t>v_i</a:t>
              </a:r>
            </a:p>
          </p:txBody>
        </p:sp>
        <p:sp>
          <p:nvSpPr>
            <p:cNvPr id="9" name="TextBox 9"/>
            <p:cNvSpPr txBox="1"/>
            <p:nvPr/>
          </p:nvSpPr>
          <p:spPr>
            <a:xfrm>
              <a:off x="1420368" y="3422332"/>
              <a:ext cx="3397115" cy="322707"/>
            </a:xfrm>
            <a:prstGeom prst="rect">
              <a:avLst/>
            </a:prstGeom>
            <a:noFill/>
            <a:ln>
              <a:noFill/>
            </a:ln>
          </p:spPr>
          <p:txBody>
            <a:bodyPr wrap="none" lIns="0" tIns="0" rIns="0" bIns="0" anchor="t" anchorCtr="0">
              <a:spAutoFit/>
            </a:bodyPr>
            <a:lstStyle/>
            <a:p>
              <a:pPr algn="l"/>
              <a:r>
                <a:rPr lang="vi" sz="1650" dirty="0">
                  <a:solidFill>
                    <a:schemeClr val="dk1"/>
                  </a:solidFill>
                  <a:latin typeface="+mn-lt"/>
                  <a:ea typeface="+mn-ea"/>
                  <a:cs typeface="+mn-cs"/>
                </a:rPr>
                <a:t>feature vector, cột đơn vị của W_D</a:t>
              </a:r>
            </a:p>
          </p:txBody>
        </p:sp>
        <p:sp>
          <p:nvSpPr>
            <p:cNvPr id="10" name="TextBox 10"/>
            <p:cNvSpPr txBox="1"/>
            <p:nvPr/>
          </p:nvSpPr>
          <p:spPr>
            <a:xfrm>
              <a:off x="601218" y="3746182"/>
              <a:ext cx="749770" cy="322707"/>
            </a:xfrm>
            <a:prstGeom prst="rect">
              <a:avLst/>
            </a:prstGeom>
            <a:noFill/>
            <a:ln>
              <a:noFill/>
            </a:ln>
          </p:spPr>
          <p:txBody>
            <a:bodyPr wrap="none" lIns="0" tIns="0" rIns="0" bIns="0" anchor="t" anchorCtr="0">
              <a:spAutoFit/>
            </a:bodyPr>
            <a:lstStyle/>
            <a:p>
              <a:pPr algn="l"/>
              <a:r>
                <a:rPr lang="vi" sz="1650" dirty="0">
                  <a:solidFill>
                    <a:schemeClr val="accent1"/>
                  </a:solidFill>
                  <a:latin typeface="Consolas"/>
                  <a:ea typeface="Consolas"/>
                  <a:cs typeface="Consolas"/>
                </a:rPr>
                <a:t>f_i(x)</a:t>
              </a:r>
            </a:p>
          </p:txBody>
        </p:sp>
        <p:sp>
          <p:nvSpPr>
            <p:cNvPr id="11" name="TextBox 11"/>
            <p:cNvSpPr txBox="1"/>
            <p:nvPr/>
          </p:nvSpPr>
          <p:spPr>
            <a:xfrm>
              <a:off x="1420368" y="3746182"/>
              <a:ext cx="3272421" cy="322707"/>
            </a:xfrm>
            <a:prstGeom prst="rect">
              <a:avLst/>
            </a:prstGeom>
            <a:noFill/>
            <a:ln>
              <a:noFill/>
            </a:ln>
          </p:spPr>
          <p:txBody>
            <a:bodyPr wrap="none" lIns="0" tIns="0" rIns="0" bIns="0" anchor="t" anchorCtr="0">
              <a:spAutoFit/>
            </a:bodyPr>
            <a:lstStyle/>
            <a:p>
              <a:pPr algn="l"/>
              <a:r>
                <a:rPr lang="vi" sz="1650" dirty="0">
                  <a:solidFill>
                    <a:schemeClr val="dk1"/>
                  </a:solidFill>
                  <a:latin typeface="+mn-lt"/>
                  <a:ea typeface="+mn-ea"/>
                  <a:cs typeface="+mn-cs"/>
                </a:rPr>
                <a:t>mức kích hoạt, không âm và thưa</a:t>
              </a:r>
            </a:p>
          </p:txBody>
        </p:sp>
        <p:sp>
          <p:nvSpPr>
            <p:cNvPr id="12" name="TextBox 12"/>
            <p:cNvSpPr txBox="1"/>
            <p:nvPr/>
          </p:nvSpPr>
          <p:spPr>
            <a:xfrm>
              <a:off x="6278118" y="3422332"/>
              <a:ext cx="138932" cy="322707"/>
            </a:xfrm>
            <a:prstGeom prst="rect">
              <a:avLst/>
            </a:prstGeom>
            <a:noFill/>
            <a:ln>
              <a:noFill/>
            </a:ln>
          </p:spPr>
          <p:txBody>
            <a:bodyPr wrap="none" lIns="0" tIns="0" rIns="0" bIns="0" anchor="t" anchorCtr="0">
              <a:spAutoFit/>
            </a:bodyPr>
            <a:lstStyle/>
            <a:p>
              <a:pPr algn="l"/>
              <a:r>
                <a:rPr lang="vi" sz="1650" dirty="0">
                  <a:solidFill>
                    <a:schemeClr val="accent1"/>
                  </a:solidFill>
                  <a:latin typeface="Consolas"/>
                  <a:ea typeface="Consolas"/>
                  <a:cs typeface="Consolas"/>
                </a:rPr>
                <a:t>b</a:t>
              </a:r>
            </a:p>
          </p:txBody>
        </p:sp>
        <p:sp>
          <p:nvSpPr>
            <p:cNvPr id="13" name="TextBox 13"/>
            <p:cNvSpPr txBox="1"/>
            <p:nvPr/>
          </p:nvSpPr>
          <p:spPr>
            <a:xfrm>
              <a:off x="7097268" y="3422332"/>
              <a:ext cx="408411" cy="322707"/>
            </a:xfrm>
            <a:prstGeom prst="rect">
              <a:avLst/>
            </a:prstGeom>
            <a:noFill/>
            <a:ln>
              <a:noFill/>
            </a:ln>
          </p:spPr>
          <p:txBody>
            <a:bodyPr wrap="none" lIns="0" tIns="0" rIns="0" bIns="0" anchor="t" anchorCtr="0">
              <a:spAutoFit/>
            </a:bodyPr>
            <a:lstStyle/>
            <a:p>
              <a:pPr algn="l"/>
              <a:r>
                <a:rPr lang="vi" sz="1650" dirty="0">
                  <a:solidFill>
                    <a:schemeClr val="dk1"/>
                  </a:solidFill>
                  <a:latin typeface="+mn-lt"/>
                  <a:ea typeface="+mn-ea"/>
                  <a:cs typeface="+mn-cs"/>
                </a:rPr>
                <a:t>bias</a:t>
              </a:r>
            </a:p>
          </p:txBody>
        </p:sp>
        <p:sp>
          <p:nvSpPr>
            <p:cNvPr id="14" name="TextBox 14"/>
            <p:cNvSpPr txBox="1"/>
            <p:nvPr/>
          </p:nvSpPr>
          <p:spPr>
            <a:xfrm>
              <a:off x="6278118" y="3746182"/>
              <a:ext cx="505435" cy="322707"/>
            </a:xfrm>
            <a:prstGeom prst="rect">
              <a:avLst/>
            </a:prstGeom>
            <a:noFill/>
            <a:ln>
              <a:noFill/>
            </a:ln>
          </p:spPr>
          <p:txBody>
            <a:bodyPr wrap="none" lIns="0" tIns="0" rIns="0" bIns="0" anchor="t" anchorCtr="0">
              <a:spAutoFit/>
            </a:bodyPr>
            <a:lstStyle/>
            <a:p>
              <a:pPr algn="l"/>
              <a:r>
                <a:rPr lang="el-GR" sz="1650" dirty="0">
                  <a:solidFill>
                    <a:srgbClr val="8B5A5F"/>
                  </a:solidFill>
                  <a:latin typeface="Consolas"/>
                  <a:ea typeface="Consolas"/>
                  <a:cs typeface="Consolas"/>
                </a:rPr>
                <a:t>ε(x)</a:t>
              </a:r>
            </a:p>
          </p:txBody>
        </p:sp>
        <p:sp>
          <p:nvSpPr>
            <p:cNvPr id="15" name="TextBox 15"/>
            <p:cNvSpPr txBox="1"/>
            <p:nvPr/>
          </p:nvSpPr>
          <p:spPr>
            <a:xfrm>
              <a:off x="7097268" y="3746182"/>
              <a:ext cx="2884100" cy="322707"/>
            </a:xfrm>
            <a:prstGeom prst="rect">
              <a:avLst/>
            </a:prstGeom>
            <a:noFill/>
            <a:ln>
              <a:noFill/>
            </a:ln>
          </p:spPr>
          <p:txBody>
            <a:bodyPr wrap="none" lIns="0" tIns="0" rIns="0" bIns="0" anchor="t" anchorCtr="0">
              <a:spAutoFit/>
            </a:bodyPr>
            <a:lstStyle/>
            <a:p>
              <a:pPr algn="l"/>
              <a:r>
                <a:rPr lang="vi" sz="1650" dirty="0">
                  <a:solidFill>
                    <a:schemeClr val="dk1"/>
                  </a:solidFill>
                  <a:latin typeface="+mn-lt"/>
                  <a:ea typeface="+mn-ea"/>
                  <a:cs typeface="+mn-cs"/>
                </a:rPr>
                <a:t>phần SAE không tái tạo được</a:t>
              </a:r>
            </a:p>
          </p:txBody>
        </p:sp>
      </p:grpSp>
      <p:grpSp>
        <p:nvGrpSpPr>
          <p:cNvPr id="19" name="p07-sae-pythia"/>
          <p:cNvGrpSpPr/>
          <p:nvPr/>
        </p:nvGrpSpPr>
        <p:grpSpPr>
          <a:xfrm>
            <a:off x="601218" y="4546282"/>
            <a:ext cx="3558494" cy="1077469"/>
            <a:chOff x="601218" y="4546282"/>
            <a:chExt cx="3558494" cy="1077469"/>
          </a:xfrm>
        </p:grpSpPr>
        <p:sp>
          <p:nvSpPr>
            <p:cNvPr id="17" name="TextBox 17"/>
            <p:cNvSpPr txBox="1"/>
            <p:nvPr/>
          </p:nvSpPr>
          <p:spPr>
            <a:xfrm>
              <a:off x="601218" y="4546282"/>
              <a:ext cx="1253142"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Pythia-70M</a:t>
              </a:r>
            </a:p>
          </p:txBody>
        </p:sp>
        <p:sp>
          <p:nvSpPr>
            <p:cNvPr id="18" name="TextBox 18"/>
            <p:cNvSpPr txBox="1"/>
            <p:nvPr/>
          </p:nvSpPr>
          <p:spPr>
            <a:xfrm>
              <a:off x="602742" y="4864418"/>
              <a:ext cx="3556970"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SAE nhóm tự train, encoder ReLU cộng phạt L1</a:t>
              </a:r>
              <a:br/>
              <a:r>
                <a:rPr lang="vi" sz="1350" dirty="0">
                  <a:solidFill>
                    <a:schemeClr val="accent5"/>
                  </a:solidFill>
                  <a:latin typeface="+mn-lt"/>
                  <a:ea typeface="+mn-ea"/>
                  <a:cs typeface="+mn-cs"/>
                </a:rPr>
                <a:t>bề rộng 64 nhân d, tức 32 768 feature</a:t>
              </a:r>
              <a:br/>
              <a:r>
                <a:rPr lang="vi" sz="1350" dirty="0">
                  <a:solidFill>
                    <a:schemeClr val="accent5"/>
                  </a:solidFill>
                  <a:latin typeface="+mn-lt"/>
                  <a:ea typeface="+mn-ea"/>
                  <a:cs typeface="+mn-cs"/>
                </a:rPr>
                <a:t>có SAE cho embedding, attn, MLP, residual</a:t>
              </a:r>
            </a:p>
          </p:txBody>
        </p:sp>
      </p:grpSp>
      <p:grpSp>
        <p:nvGrpSpPr>
          <p:cNvPr id="22" name="p07-sae-gemma"/>
          <p:cNvGrpSpPr/>
          <p:nvPr/>
        </p:nvGrpSpPr>
        <p:grpSpPr>
          <a:xfrm>
            <a:off x="6278118" y="4546282"/>
            <a:ext cx="3940776" cy="1077469"/>
            <a:chOff x="6278118" y="4546282"/>
            <a:chExt cx="3940776" cy="1077469"/>
          </a:xfrm>
        </p:grpSpPr>
        <p:sp>
          <p:nvSpPr>
            <p:cNvPr id="20" name="TextBox 20"/>
            <p:cNvSpPr txBox="1"/>
            <p:nvPr/>
          </p:nvSpPr>
          <p:spPr>
            <a:xfrm>
              <a:off x="6278118" y="4546282"/>
              <a:ext cx="1424912" cy="322707"/>
            </a:xfrm>
            <a:prstGeom prst="rect">
              <a:avLst/>
            </a:prstGeom>
            <a:noFill/>
            <a:ln>
              <a:noFill/>
            </a:ln>
          </p:spPr>
          <p:txBody>
            <a:bodyPr wrap="none" lIns="0" tIns="0" rIns="0" bIns="0" anchor="t" anchorCtr="0">
              <a:spAutoFit/>
            </a:bodyPr>
            <a:lstStyle/>
            <a:p>
              <a:pPr algn="l"/>
              <a:r>
                <a:rPr lang="vi" sz="1650" b="1" dirty="0">
                  <a:solidFill>
                    <a:schemeClr val="accent3"/>
                  </a:solidFill>
                  <a:latin typeface="+mn-lt"/>
                  <a:ea typeface="+mn-ea"/>
                  <a:cs typeface="+mn-cs"/>
                </a:rPr>
                <a:t>Gemma-2-2B</a:t>
              </a:r>
            </a:p>
          </p:txBody>
        </p:sp>
        <p:sp>
          <p:nvSpPr>
            <p:cNvPr id="21" name="TextBox 21"/>
            <p:cNvSpPr txBox="1"/>
            <p:nvPr/>
          </p:nvSpPr>
          <p:spPr>
            <a:xfrm>
              <a:off x="6279642" y="4864418"/>
              <a:ext cx="3939252"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Gemma Scope, encoder JumpReLU, width 16384</a:t>
              </a:r>
              <a:br/>
              <a:r>
                <a:rPr lang="vi" sz="1350" dirty="0">
                  <a:solidFill>
                    <a:schemeClr val="accent5"/>
                  </a:solidFill>
                  <a:latin typeface="+mn-lt"/>
                  <a:ea typeface="+mn-ea"/>
                  <a:cs typeface="+mn-cs"/>
                </a:rPr>
                <a:t>chọn bản có L0 gần 100 nhất</a:t>
              </a:r>
              <a:br/>
              <a:r>
                <a:rPr lang="vi" sz="1350" dirty="0">
                  <a:solidFill>
                    <a:schemeClr val="accent5"/>
                  </a:solidFill>
                  <a:latin typeface="+mn-lt"/>
                  <a:ea typeface="+mn-ea"/>
                  <a:cs typeface="+mn-cs"/>
                </a:rPr>
                <a:t>không dùng SAE embedding, bản đó chỉ 4000 chiều</a:t>
              </a:r>
            </a:p>
          </p:txBody>
        </p:sp>
      </p:grpSp>
      <p:grpSp>
        <p:nvGrpSpPr>
          <p:cNvPr id="25" name="p07-dead-feature"/>
          <p:cNvGrpSpPr/>
          <p:nvPr/>
        </p:nvGrpSpPr>
        <p:grpSpPr>
          <a:xfrm>
            <a:off x="609600" y="5905500"/>
            <a:ext cx="8586664" cy="424434"/>
            <a:chOff x="609600" y="5905500"/>
            <a:chExt cx="8586664" cy="424434"/>
          </a:xfrm>
        </p:grpSpPr>
        <p:sp>
          <p:nvSpPr>
            <p:cNvPr id="23" name="Rectangle 23"/>
            <p:cNvSpPr/>
            <p:nvPr/>
          </p:nvSpPr>
          <p:spPr>
            <a:xfrm>
              <a:off x="609600" y="5905500"/>
              <a:ext cx="76200" cy="381000"/>
            </a:xfrm>
            <a:prstGeom prst="roundRect">
              <a:avLst>
                <a:gd name="adj" fmla="val 50000"/>
              </a:avLst>
            </a:prstGeom>
            <a:solidFill>
              <a:schemeClr val="accent2"/>
            </a:solidFill>
            <a:ln>
              <a:noFill/>
            </a:ln>
          </p:spPr>
        </p:sp>
        <p:sp>
          <p:nvSpPr>
            <p:cNvPr id="24" name="TextBox 24"/>
            <p:cNvSpPr txBox="1"/>
            <p:nvPr/>
          </p:nvSpPr>
          <p:spPr>
            <a:xfrm>
              <a:off x="943356" y="5977890"/>
              <a:ext cx="8252908"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Chỉ 12 tới 44% feature của bộ SAE Pythia còn sống, phần lớn là dead feature.</a:t>
              </a:r>
            </a:p>
          </p:txBody>
        </p:sp>
      </p:grpSp>
      <p:sp>
        <p:nvSpPr>
          <p:cNvPr id="26" name="TextBox 26"/>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07</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5557517" cy="1523619"/>
            <a:chOff x="592836" y="651510"/>
            <a:chExt cx="5557517"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2. Phương pháp</a:t>
              </a:r>
            </a:p>
          </p:txBody>
        </p:sp>
        <p:sp>
          <p:nvSpPr>
            <p:cNvPr id="5" name="TextBox 5"/>
            <p:cNvSpPr txBox="1"/>
            <p:nvPr/>
          </p:nvSpPr>
          <p:spPr>
            <a:xfrm>
              <a:off x="592836" y="1034415"/>
              <a:ext cx="5557517" cy="1140714"/>
            </a:xfrm>
            <a:prstGeom prst="rect">
              <a:avLst/>
            </a:prstGeom>
            <a:noFill/>
            <a:ln>
              <a:noFill/>
            </a:ln>
          </p:spPr>
          <p:txBody>
            <a:bodyPr wrap="none" lIns="0" tIns="0" rIns="0" bIns="0" anchor="t" anchorCtr="0">
              <a:spAutoFit/>
            </a:bodyPr>
            <a:lstStyle/>
            <a:p>
              <a:pPr algn="l">
                <a:lnSpc>
                  <a:spcPts val="3900"/>
                </a:lnSpc>
              </a:pPr>
              <a:r>
                <a:rPr lang="el-GR" sz="3300" b="1" dirty="0">
                  <a:solidFill>
                    <a:schemeClr val="dk1"/>
                  </a:solidFill>
                  <a:latin typeface="+mn-lt"/>
                  <a:ea typeface="+mn-ea"/>
                  <a:cs typeface="+mn-cs"/>
                </a:rPr>
                <a:t>Giữ ε làm node là chỗ paper</a:t>
              </a:r>
              <a:br/>
              <a:r>
                <a:rPr lang="vi" sz="3300" b="1" dirty="0">
                  <a:solidFill>
                    <a:schemeClr val="dk1"/>
                  </a:solidFill>
                  <a:latin typeface="+mn-lt"/>
                  <a:ea typeface="+mn-ea"/>
                  <a:cs typeface="+mn-cs"/>
                </a:rPr>
                <a:t>khác các công trình trước</a:t>
              </a:r>
            </a:p>
          </p:txBody>
        </p:sp>
      </p:grpSp>
      <p:grpSp>
        <p:nvGrpSpPr>
          <p:cNvPr id="9" name="p08-cach-thong-thuong"/>
          <p:cNvGrpSpPr/>
          <p:nvPr/>
        </p:nvGrpSpPr>
        <p:grpSpPr>
          <a:xfrm>
            <a:off x="600456" y="2396490"/>
            <a:ext cx="3471664" cy="1196149"/>
            <a:chOff x="600456" y="2396490"/>
            <a:chExt cx="3471664" cy="1196149"/>
          </a:xfrm>
        </p:grpSpPr>
        <p:sp>
          <p:nvSpPr>
            <p:cNvPr id="7" name="TextBox 7"/>
            <p:cNvSpPr txBox="1"/>
            <p:nvPr/>
          </p:nvSpPr>
          <p:spPr>
            <a:xfrm>
              <a:off x="600456" y="2396490"/>
              <a:ext cx="2220399" cy="352044"/>
            </a:xfrm>
            <a:prstGeom prst="rect">
              <a:avLst/>
            </a:prstGeom>
            <a:noFill/>
            <a:ln>
              <a:noFill/>
            </a:ln>
          </p:spPr>
          <p:txBody>
            <a:bodyPr wrap="none" lIns="0" tIns="0" rIns="0" bIns="0" anchor="t" anchorCtr="0">
              <a:spAutoFit/>
            </a:bodyPr>
            <a:lstStyle/>
            <a:p>
              <a:pPr algn="l"/>
              <a:r>
                <a:rPr lang="vi" sz="1800" b="1" dirty="0">
                  <a:solidFill>
                    <a:schemeClr val="accent5"/>
                  </a:solidFill>
                  <a:latin typeface="+mn-lt"/>
                  <a:ea typeface="+mn-ea"/>
                  <a:cs typeface="+mn-cs"/>
                </a:rPr>
                <a:t>Cách thông thường</a:t>
              </a:r>
            </a:p>
          </p:txBody>
        </p:sp>
        <p:sp>
          <p:nvSpPr>
            <p:cNvPr id="8" name="TextBox 8"/>
            <p:cNvSpPr txBox="1"/>
            <p:nvPr/>
          </p:nvSpPr>
          <p:spPr>
            <a:xfrm>
              <a:off x="601218" y="2736532"/>
              <a:ext cx="3470902" cy="856107"/>
            </a:xfrm>
            <a:prstGeom prst="rect">
              <a:avLst/>
            </a:prstGeom>
            <a:noFill/>
            <a:ln>
              <a:noFill/>
            </a:ln>
          </p:spPr>
          <p:txBody>
            <a:bodyPr wrap="none" lIns="0" tIns="0" rIns="0" bIns="0" anchor="t" anchorCtr="0">
              <a:spAutoFit/>
            </a:bodyPr>
            <a:lstStyle/>
            <a:p>
              <a:pPr algn="l">
                <a:lnSpc>
                  <a:spcPts val="2100"/>
                </a:lnSpc>
              </a:pPr>
              <a:r>
                <a:rPr lang="vi" sz="1650" dirty="0">
                  <a:solidFill>
                    <a:schemeClr val="accent5"/>
                  </a:solidFill>
                  <a:latin typeface="+mn-lt"/>
                  <a:ea typeface="+mn-ea"/>
                  <a:cs typeface="+mn-cs"/>
                </a:rPr>
                <a:t>Vứt phần dư đi, nhận sai số cộng dồn</a:t>
              </a:r>
              <a:br/>
              <a:r>
                <a:rPr lang="vi" sz="1650" dirty="0">
                  <a:solidFill>
                    <a:schemeClr val="accent5"/>
                  </a:solidFill>
                  <a:latin typeface="+mn-lt"/>
                  <a:ea typeface="+mn-ea"/>
                  <a:cs typeface="+mn-cs"/>
                </a:rPr>
                <a:t>qua từng layer. Circuit sạch nhưng</a:t>
              </a:r>
              <a:br/>
              <a:r>
                <a:rPr lang="vi" sz="1650" dirty="0">
                  <a:solidFill>
                    <a:schemeClr val="accent5"/>
                  </a:solidFill>
                  <a:latin typeface="+mn-lt"/>
                  <a:ea typeface="+mn-ea"/>
                  <a:cs typeface="+mn-cs"/>
                </a:rPr>
                <a:t>không trung thực.</a:t>
              </a:r>
            </a:p>
          </p:txBody>
        </p:sp>
      </p:grpSp>
      <p:grpSp>
        <p:nvGrpSpPr>
          <p:cNvPr id="13" name="p08-cach-paper"/>
          <p:cNvGrpSpPr/>
          <p:nvPr/>
        </p:nvGrpSpPr>
        <p:grpSpPr>
          <a:xfrm>
            <a:off x="6277356" y="2396490"/>
            <a:ext cx="3319489" cy="1596199"/>
            <a:chOff x="6277356" y="2396490"/>
            <a:chExt cx="3319489" cy="1596199"/>
          </a:xfrm>
        </p:grpSpPr>
        <p:sp>
          <p:nvSpPr>
            <p:cNvPr id="10" name="TextBox 10"/>
            <p:cNvSpPr txBox="1"/>
            <p:nvPr/>
          </p:nvSpPr>
          <p:spPr>
            <a:xfrm>
              <a:off x="6277356" y="2396490"/>
              <a:ext cx="1755684" cy="352044"/>
            </a:xfrm>
            <a:prstGeom prst="rect">
              <a:avLst/>
            </a:prstGeom>
            <a:noFill/>
            <a:ln>
              <a:noFill/>
            </a:ln>
          </p:spPr>
          <p:txBody>
            <a:bodyPr wrap="none" lIns="0" tIns="0" rIns="0" bIns="0" anchor="t" anchorCtr="0">
              <a:spAutoFit/>
            </a:bodyPr>
            <a:lstStyle/>
            <a:p>
              <a:pPr algn="l"/>
              <a:r>
                <a:rPr lang="vi" sz="1800" b="1" dirty="0">
                  <a:solidFill>
                    <a:schemeClr val="accent1"/>
                  </a:solidFill>
                  <a:latin typeface="+mn-lt"/>
                  <a:ea typeface="+mn-ea"/>
                  <a:cs typeface="+mn-cs"/>
                </a:rPr>
                <a:t>Cách của paper</a:t>
              </a:r>
            </a:p>
          </p:txBody>
        </p:sp>
        <p:sp>
          <p:nvSpPr>
            <p:cNvPr id="11" name="TextBox 11"/>
            <p:cNvSpPr txBox="1"/>
            <p:nvPr/>
          </p:nvSpPr>
          <p:spPr>
            <a:xfrm>
              <a:off x="6278118" y="2736532"/>
              <a:ext cx="3318727" cy="856107"/>
            </a:xfrm>
            <a:prstGeom prst="rect">
              <a:avLst/>
            </a:prstGeom>
            <a:noFill/>
            <a:ln>
              <a:noFill/>
            </a:ln>
          </p:spPr>
          <p:txBody>
            <a:bodyPr wrap="none" lIns="0" tIns="0" rIns="0" bIns="0" anchor="t" anchorCtr="0">
              <a:spAutoFit/>
            </a:bodyPr>
            <a:lstStyle/>
            <a:p>
              <a:pPr algn="l">
                <a:lnSpc>
                  <a:spcPts val="2100"/>
                </a:lnSpc>
              </a:pPr>
              <a:r>
                <a:rPr lang="el-GR" sz="1650" dirty="0">
                  <a:solidFill>
                    <a:schemeClr val="dk1"/>
                  </a:solidFill>
                  <a:latin typeface="+mn-lt"/>
                  <a:ea typeface="+mn-ea"/>
                  <a:cs typeface="+mn-cs"/>
                </a:rPr>
                <a:t>Đưa ε vào graph như một loại node</a:t>
              </a:r>
              <a:br/>
              <a:r>
                <a:rPr lang="vi" sz="1650" dirty="0">
                  <a:solidFill>
                    <a:schemeClr val="dk1"/>
                  </a:solidFill>
                  <a:latin typeface="+mn-lt"/>
                  <a:ea typeface="+mn-ea"/>
                  <a:cs typeface="+mn-cs"/>
                </a:rPr>
                <a:t>riêng, vẽ bằng hình tam giác và gán</a:t>
              </a:r>
              <a:br/>
              <a:r>
                <a:rPr lang="vi" sz="1650" dirty="0">
                  <a:solidFill>
                    <a:schemeClr val="dk1"/>
                  </a:solidFill>
                  <a:latin typeface="+mn-lt"/>
                  <a:ea typeface="+mn-ea"/>
                  <a:cs typeface="+mn-cs"/>
                </a:rPr>
                <a:t>nhãn theo vị trí.</a:t>
              </a:r>
            </a:p>
          </p:txBody>
        </p:sp>
        <p:sp>
          <p:nvSpPr>
            <p:cNvPr id="12" name="TextBox 12"/>
            <p:cNvSpPr txBox="1"/>
            <p:nvPr/>
          </p:nvSpPr>
          <p:spPr>
            <a:xfrm>
              <a:off x="6278118" y="3669982"/>
              <a:ext cx="1971446" cy="322707"/>
            </a:xfrm>
            <a:prstGeom prst="rect">
              <a:avLst/>
            </a:prstGeom>
            <a:noFill/>
            <a:ln>
              <a:noFill/>
            </a:ln>
          </p:spPr>
          <p:txBody>
            <a:bodyPr wrap="none" lIns="0" tIns="0" rIns="0" bIns="0" anchor="t" anchorCtr="0">
              <a:spAutoFit/>
            </a:bodyPr>
            <a:lstStyle/>
            <a:p>
              <a:pPr algn="l"/>
              <a:r>
                <a:rPr lang="el-GR" sz="1650" dirty="0">
                  <a:solidFill>
                    <a:srgbClr val="8B5A5F"/>
                  </a:solidFill>
                  <a:latin typeface="Consolas"/>
                  <a:ea typeface="Consolas"/>
                  <a:cs typeface="Consolas"/>
                </a:rPr>
                <a:t>ε(x) = x - x_hat</a:t>
              </a:r>
            </a:p>
          </p:txBody>
        </p:sp>
      </p:grpSp>
      <p:grpSp>
        <p:nvGrpSpPr>
          <p:cNvPr id="16" name="p08-danh-doi"/>
          <p:cNvGrpSpPr/>
          <p:nvPr/>
        </p:nvGrpSpPr>
        <p:grpSpPr>
          <a:xfrm>
            <a:off x="600456" y="3996690"/>
            <a:ext cx="7824425" cy="1056894"/>
            <a:chOff x="600456" y="3996690"/>
            <a:chExt cx="7824425" cy="1056894"/>
          </a:xfrm>
        </p:grpSpPr>
        <p:sp>
          <p:nvSpPr>
            <p:cNvPr id="14" name="TextBox 14"/>
            <p:cNvSpPr txBox="1"/>
            <p:nvPr/>
          </p:nvSpPr>
          <p:spPr>
            <a:xfrm>
              <a:off x="600456" y="3996690"/>
              <a:ext cx="7824425" cy="352044"/>
            </a:xfrm>
            <a:prstGeom prst="rect">
              <a:avLst/>
            </a:prstGeom>
            <a:noFill/>
            <a:ln>
              <a:noFill/>
            </a:ln>
          </p:spPr>
          <p:txBody>
            <a:bodyPr wrap="none" lIns="0" tIns="0" rIns="0" bIns="0" anchor="t" anchorCtr="0">
              <a:spAutoFit/>
            </a:bodyPr>
            <a:lstStyle/>
            <a:p>
              <a:pPr algn="l"/>
              <a:r>
                <a:rPr lang="vi" sz="1800" b="1" dirty="0">
                  <a:solidFill>
                    <a:srgbClr val="8B5A5F"/>
                  </a:solidFill>
                  <a:latin typeface="+mn-lt"/>
                  <a:ea typeface="+mn-ea"/>
                  <a:cs typeface="+mn-cs"/>
                </a:rPr>
                <a:t>Cái phải trả.</a:t>
              </a:r>
              <a:r>
                <a:rPr lang="vi" sz="1800" dirty="0">
                  <a:solidFill>
                    <a:schemeClr val="dk1"/>
                  </a:solidFill>
                  <a:latin typeface="+mn-lt"/>
                  <a:ea typeface="+mn-ea"/>
                  <a:cs typeface="+mn-cs"/>
                </a:rPr>
                <a:t xml:space="preserve"> Error node là vector 512 hoặc 2 304 chiều, không đọc được.</a:t>
              </a:r>
            </a:p>
          </p:txBody>
        </p:sp>
        <p:sp>
          <p:nvSpPr>
            <p:cNvPr id="15" name="TextBox 15"/>
            <p:cNvSpPr txBox="1"/>
            <p:nvPr/>
          </p:nvSpPr>
          <p:spPr>
            <a:xfrm>
              <a:off x="600456" y="4377690"/>
              <a:ext cx="7443467" cy="675894"/>
            </a:xfrm>
            <a:prstGeom prst="rect">
              <a:avLst/>
            </a:prstGeom>
            <a:noFill/>
            <a:ln>
              <a:noFill/>
            </a:ln>
          </p:spPr>
          <p:txBody>
            <a:bodyPr wrap="none" lIns="0" tIns="0" rIns="0" bIns="0" anchor="t" anchorCtr="0">
              <a:spAutoFit/>
            </a:bodyPr>
            <a:lstStyle/>
            <a:p>
              <a:pPr algn="l">
                <a:lnSpc>
                  <a:spcPts val="2550"/>
                </a:lnSpc>
              </a:pPr>
              <a:r>
                <a:rPr lang="vi" sz="1800" b="1" dirty="0">
                  <a:solidFill>
                    <a:schemeClr val="accent1"/>
                  </a:solidFill>
                  <a:latin typeface="+mn-lt"/>
                  <a:ea typeface="+mn-ea"/>
                  <a:cs typeface="+mn-cs"/>
                </a:rPr>
                <a:t>Cái mua được.</a:t>
              </a:r>
              <a:r>
                <a:rPr lang="vi" sz="1800" dirty="0">
                  <a:solidFill>
                    <a:schemeClr val="dk1"/>
                  </a:solidFill>
                  <a:latin typeface="+mn-lt"/>
                  <a:ea typeface="+mn-ea"/>
                  <a:cs typeface="+mn-cs"/>
                </a:rPr>
                <a:t xml:space="preserve"> Nếu error node có indirect effect lớn thì đó là bằng chứng</a:t>
              </a:r>
              <a:br/>
              <a:r>
                <a:rPr lang="vi" sz="1800" dirty="0">
                  <a:solidFill>
                    <a:schemeClr val="dk1"/>
                  </a:solidFill>
                  <a:latin typeface="+mn-lt"/>
                  <a:ea typeface="+mn-ea"/>
                  <a:cs typeface="+mn-cs"/>
                </a:rPr>
                <a:t>định lượng cho biết SAE còn thiếu bao nhiêu.</a:t>
              </a:r>
            </a:p>
          </p:txBody>
        </p:sp>
      </p:grpSp>
      <p:grpSp>
        <p:nvGrpSpPr>
          <p:cNvPr id="19" name="p08-bang-chung"/>
          <p:cNvGrpSpPr/>
          <p:nvPr/>
        </p:nvGrpSpPr>
        <p:grpSpPr>
          <a:xfrm>
            <a:off x="609600" y="5334000"/>
            <a:ext cx="8272257" cy="767334"/>
            <a:chOff x="609600" y="5334000"/>
            <a:chExt cx="8272257" cy="767334"/>
          </a:xfrm>
        </p:grpSpPr>
        <p:sp>
          <p:nvSpPr>
            <p:cNvPr id="17" name="Rectangle 17"/>
            <p:cNvSpPr/>
            <p:nvPr/>
          </p:nvSpPr>
          <p:spPr>
            <a:xfrm>
              <a:off x="609600" y="5334000"/>
              <a:ext cx="76200" cy="685800"/>
            </a:xfrm>
            <a:prstGeom prst="roundRect">
              <a:avLst>
                <a:gd name="adj" fmla="val 50000"/>
              </a:avLst>
            </a:prstGeom>
            <a:solidFill>
              <a:schemeClr val="accent2"/>
            </a:solidFill>
            <a:ln>
              <a:noFill/>
            </a:ln>
          </p:spPr>
        </p:sp>
        <p:sp>
          <p:nvSpPr>
            <p:cNvPr id="18" name="TextBox 18"/>
            <p:cNvSpPr txBox="1"/>
            <p:nvPr/>
          </p:nvSpPr>
          <p:spPr>
            <a:xfrm>
              <a:off x="943356" y="5425440"/>
              <a:ext cx="7938501" cy="675894"/>
            </a:xfrm>
            <a:prstGeom prst="rect">
              <a:avLst/>
            </a:prstGeom>
            <a:noFill/>
            <a:ln>
              <a:noFill/>
            </a:ln>
          </p:spPr>
          <p:txBody>
            <a:bodyPr wrap="none" lIns="0" tIns="0" rIns="0" bIns="0" anchor="t" anchorCtr="0">
              <a:spAutoFit/>
            </a:bodyPr>
            <a:lstStyle/>
            <a:p>
              <a:pPr algn="l">
                <a:lnSpc>
                  <a:spcPts val="2550"/>
                </a:lnSpc>
              </a:pPr>
              <a:r>
                <a:rPr lang="vi" sz="1800" dirty="0">
                  <a:solidFill>
                    <a:schemeClr val="dk1"/>
                  </a:solidFill>
                  <a:latin typeface="+mn-lt"/>
                  <a:ea typeface="+mn-ea"/>
                  <a:cs typeface="+mn-cs"/>
                </a:rPr>
                <a:t>Figure 3 đo thật: bỏ error node của residual stream là phá hỏng model, còn bỏ</a:t>
              </a:r>
              <a:br/>
              <a:r>
                <a:rPr lang="vi" sz="1800" dirty="0">
                  <a:solidFill>
                    <a:schemeClr val="dk1"/>
                  </a:solidFill>
                  <a:latin typeface="+mn-lt"/>
                  <a:ea typeface="+mn-ea"/>
                  <a:cs typeface="+mn-cs"/>
                </a:rPr>
                <a:t>error node của attn và MLP thì ít ảnh hưởng hơn nhiều.</a:t>
              </a:r>
            </a:p>
          </p:txBody>
        </p:sp>
      </p:grpSp>
      <p:sp>
        <p:nvSpPr>
          <p:cNvPr id="20" name="TextBox 20"/>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08</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7631769" cy="1523619"/>
            <a:chOff x="592836" y="651510"/>
            <a:chExt cx="7631769"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2. Phương pháp</a:t>
              </a:r>
            </a:p>
          </p:txBody>
        </p:sp>
        <p:sp>
          <p:nvSpPr>
            <p:cNvPr id="5" name="TextBox 5"/>
            <p:cNvSpPr txBox="1"/>
            <p:nvPr/>
          </p:nvSpPr>
          <p:spPr>
            <a:xfrm>
              <a:off x="592836" y="1034415"/>
              <a:ext cx="7631769"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Indirect effect đo model đổi bao nhiêu</a:t>
              </a:r>
              <a:br/>
              <a:r>
                <a:rPr lang="vi" sz="3300" b="1" dirty="0">
                  <a:solidFill>
                    <a:schemeClr val="dk1"/>
                  </a:solidFill>
                  <a:latin typeface="+mn-lt"/>
                  <a:ea typeface="+mn-ea"/>
                  <a:cs typeface="+mn-cs"/>
                </a:rPr>
                <a:t>khi ta ép một node mang giá trị khác</a:t>
              </a:r>
            </a:p>
          </p:txBody>
        </p:sp>
      </p:grpSp>
      <mc:AlternateContent xmlns:mc="http://schemas.openxmlformats.org/markup-compatibility/2006">
        <mc:Choice xmlns:a14="http://schemas.microsoft.com/office/drawing/2010/main" Requires="a14">
          <p:sp>
            <p:nvSpPr>
              <p:cNvPr id="7" name="p09-cong-thuc-ie"/>
              <p:cNvSpPr txBox="1">
                <a:spLocks noGrp="1"/>
              </p:cNvSpPr>
              <p:nvPr/>
            </p:nvSpPr>
            <p:spPr>
              <a:xfrm>
                <a:off x="609600" y="2362200"/>
                <a:ext cx="10972800" cy="8763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vi" sz="2100" dirty="0">
                          <a:solidFill>
                            <a:srgbClr val="1B2430"/>
                          </a:solidFill>
                          <a:latin typeface="Cambria Math"/>
                          <a:ea typeface="Cambria Math"/>
                          <a:cs typeface="Cambria Math"/>
                        </a:rPr>
                        <m:t>IE</m:t>
                      </m:r>
                      <m:d>
                        <m:dPr>
                          <m:begChr m:val="("/>
                          <m:sepChr m:val=""/>
                          <m:endChr m:val=")"/>
                          <m:grow m:val="on"/>
                          <m:ctrlPr>
                            <a:rPr lang="vi" sz="2100" dirty="0">
                              <a:solidFill>
                                <a:srgbClr val="1B2430"/>
                              </a:solidFill>
                              <a:latin typeface="Cambria Math"/>
                              <a:ea typeface="Cambria Math"/>
                              <a:cs typeface="Cambria Math"/>
                            </a:rPr>
                          </m:ctrlPr>
                        </m:dPr>
                        <m:e>
                          <m:r>
                            <a:rPr lang="vi" sz="2100" dirty="0">
                              <a:solidFill>
                                <a:srgbClr val="1B2430"/>
                              </a:solidFill>
                              <a:latin typeface="Cambria Math"/>
                              <a:ea typeface="Cambria Math"/>
                              <a:cs typeface="Cambria Math"/>
                            </a:rPr>
                            <m:t>m</m:t>
                          </m:r>
                          <m:r>
                            <m:rPr>
                              <m:sty m:val="p"/>
                            </m:rPr>
                            <a:rPr lang="vi" sz="2100" dirty="0">
                              <a:solidFill>
                                <a:srgbClr val="1B2430"/>
                              </a:solidFill>
                              <a:latin typeface="Cambria Math"/>
                              <a:ea typeface="Cambria Math"/>
                              <a:cs typeface="Cambria Math"/>
                            </a:rPr>
                            <m:t>;</m:t>
                          </m:r>
                          <m:r>
                            <a:rPr lang="vi" sz="2100" dirty="0">
                              <a:solidFill>
                                <a:srgbClr val="1B2430"/>
                              </a:solidFill>
                              <a:latin typeface="Cambria Math"/>
                              <a:ea typeface="Cambria Math"/>
                              <a:cs typeface="Cambria Math"/>
                            </a:rPr>
                            <m:t>a</m:t>
                          </m:r>
                          <m:r>
                            <m:rPr>
                              <m:sty m:val="p"/>
                            </m:rPr>
                            <a:rPr lang="vi" sz="2100" dirty="0">
                              <a:solidFill>
                                <a:srgbClr val="1B2430"/>
                              </a:solidFill>
                              <a:latin typeface="Cambria Math"/>
                              <a:ea typeface="Cambria Math"/>
                              <a:cs typeface="Cambria Math"/>
                            </a:rPr>
                            <m:t>;</m:t>
                          </m:r>
                          <m:sSub>
                            <m:e>
                              <m:r>
                                <a:rPr lang="vi" sz="2100" dirty="0">
                                  <a:solidFill>
                                    <a:srgbClr val="1B2430"/>
                                  </a:solidFill>
                                  <a:latin typeface="Cambria Math"/>
                                  <a:ea typeface="Cambria Math"/>
                                  <a:cs typeface="Cambria Math"/>
                                </a:rPr>
                                <m:t>x</m:t>
                              </m:r>
                            </m:e>
                            <m:sub>
                              <m:r>
                                <a:rPr lang="vi" sz="2100" dirty="0">
                                  <a:solidFill>
                                    <a:srgbClr val="1B2430"/>
                                  </a:solidFill>
                                  <a:latin typeface="Cambria Math"/>
                                  <a:ea typeface="Cambria Math"/>
                                  <a:cs typeface="Cambria Math"/>
                                </a:rPr>
                                <m:t>clean</m:t>
                              </m:r>
                            </m:sub>
                          </m:sSub>
                          <m:r>
                            <m:rPr>
                              <m:sty m:val="p"/>
                            </m:rPr>
                            <a:rPr lang="vi" sz="2100" dirty="0">
                              <a:solidFill>
                                <a:srgbClr val="1B2430"/>
                              </a:solidFill>
                              <a:latin typeface="Cambria Math"/>
                              <a:ea typeface="Cambria Math"/>
                              <a:cs typeface="Cambria Math"/>
                            </a:rPr>
                            <m:t>,</m:t>
                          </m:r>
                          <m:sSub>
                            <m:e>
                              <m:r>
                                <a:rPr lang="vi" sz="2100" dirty="0">
                                  <a:solidFill>
                                    <a:srgbClr val="1B2430"/>
                                  </a:solidFill>
                                  <a:latin typeface="Cambria Math"/>
                                  <a:ea typeface="Cambria Math"/>
                                  <a:cs typeface="Cambria Math"/>
                                </a:rPr>
                                <m:t>x</m:t>
                              </m:r>
                            </m:e>
                            <m:sub>
                              <m:r>
                                <a:rPr lang="vi" sz="2100" dirty="0">
                                  <a:solidFill>
                                    <a:srgbClr val="1B2430"/>
                                  </a:solidFill>
                                  <a:latin typeface="Cambria Math"/>
                                  <a:ea typeface="Cambria Math"/>
                                  <a:cs typeface="Cambria Math"/>
                                </a:rPr>
                                <m:t>patch</m:t>
                              </m:r>
                            </m:sub>
                          </m:sSub>
                        </m:e>
                      </m:d>
                      <m:r>
                        <m:rPr>
                          <m:sty m:val="p"/>
                        </m:rPr>
                        <a:rPr lang="vi" sz="2100" dirty="0">
                          <a:solidFill>
                            <a:srgbClr val="1B2430"/>
                          </a:solidFill>
                          <a:latin typeface="Cambria Math"/>
                          <a:ea typeface="Cambria Math"/>
                          <a:cs typeface="Cambria Math"/>
                        </a:rPr>
                        <m:t>=</m:t>
                      </m:r>
                      <m:r>
                        <a:rPr lang="vi" sz="2100" dirty="0">
                          <a:solidFill>
                            <a:srgbClr val="1B2430"/>
                          </a:solidFill>
                          <a:latin typeface="Cambria Math"/>
                          <a:ea typeface="Cambria Math"/>
                          <a:cs typeface="Cambria Math"/>
                        </a:rPr>
                        <m:t>m</m:t>
                      </m:r>
                      <m:d>
                        <m:dPr>
                          <m:begChr m:val="("/>
                          <m:sepChr m:val=""/>
                          <m:endChr m:val=")"/>
                          <m:grow m:val="on"/>
                          <m:ctrlPr>
                            <a:rPr lang="vi" sz="2100" dirty="0">
                              <a:solidFill>
                                <a:srgbClr val="1B2430"/>
                              </a:solidFill>
                              <a:latin typeface="Cambria Math"/>
                              <a:ea typeface="Cambria Math"/>
                              <a:cs typeface="Cambria Math"/>
                            </a:rPr>
                          </m:ctrlPr>
                        </m:dPr>
                        <m:e>
                          <m:sSub>
                            <m:e>
                              <m:r>
                                <a:rPr lang="vi" sz="2100" dirty="0">
                                  <a:solidFill>
                                    <a:srgbClr val="1B2430"/>
                                  </a:solidFill>
                                  <a:latin typeface="Cambria Math"/>
                                  <a:ea typeface="Cambria Math"/>
                                  <a:cs typeface="Cambria Math"/>
                                </a:rPr>
                                <m:t>x</m:t>
                              </m:r>
                            </m:e>
                            <m:sub>
                              <m:r>
                                <a:rPr lang="vi" sz="2100" dirty="0">
                                  <a:solidFill>
                                    <a:srgbClr val="1B2430"/>
                                  </a:solidFill>
                                  <a:latin typeface="Cambria Math"/>
                                  <a:ea typeface="Cambria Math"/>
                                  <a:cs typeface="Cambria Math"/>
                                </a:rPr>
                                <m:t>clean</m:t>
                              </m:r>
                            </m:sub>
                          </m:sSub>
                          <m:r>
                            <m:rPr>
                              <m:sty m:val="p"/>
                            </m:rPr>
                            <a:rPr lang="vi" sz="2100" dirty="0">
                              <a:solidFill>
                                <a:srgbClr val="1B2430"/>
                              </a:solidFill>
                              <a:latin typeface="Cambria Math"/>
                              <a:ea typeface="Cambria Math"/>
                              <a:cs typeface="Cambria Math"/>
                            </a:rPr>
                            <m:t>∣</m:t>
                          </m:r>
                          <m:r>
                            <a:rPr lang="vi" sz="2100" dirty="0">
                              <a:solidFill>
                                <a:srgbClr val="1B2430"/>
                              </a:solidFill>
                              <a:latin typeface="Cambria Math"/>
                              <a:ea typeface="Cambria Math"/>
                              <a:cs typeface="Cambria Math"/>
                            </a:rPr>
                            <m:t>do</m:t>
                          </m:r>
                          <m:d>
                            <m:dPr>
                              <m:begChr m:val="("/>
                              <m:sepChr m:val=""/>
                              <m:endChr m:val=")"/>
                              <m:grow m:val="on"/>
                              <m:ctrlPr>
                                <a:rPr lang="vi" sz="2100" dirty="0">
                                  <a:solidFill>
                                    <a:srgbClr val="1B2430"/>
                                  </a:solidFill>
                                  <a:latin typeface="Cambria Math"/>
                                  <a:ea typeface="Cambria Math"/>
                                  <a:cs typeface="Cambria Math"/>
                                </a:rPr>
                              </m:ctrlPr>
                            </m:dPr>
                            <m:e>
                              <m:r>
                                <a:rPr lang="vi" sz="2100" dirty="0">
                                  <a:solidFill>
                                    <a:srgbClr val="1B2430"/>
                                  </a:solidFill>
                                  <a:latin typeface="Cambria Math"/>
                                  <a:ea typeface="Cambria Math"/>
                                  <a:cs typeface="Cambria Math"/>
                                </a:rPr>
                                <m:t>a</m:t>
                              </m:r>
                              <m:r>
                                <m:rPr>
                                  <m:sty m:val="p"/>
                                </m:rPr>
                                <a:rPr lang="vi" sz="2100" dirty="0">
                                  <a:solidFill>
                                    <a:srgbClr val="1B2430"/>
                                  </a:solidFill>
                                  <a:latin typeface="Cambria Math"/>
                                  <a:ea typeface="Cambria Math"/>
                                  <a:cs typeface="Cambria Math"/>
                                </a:rPr>
                                <m:t>=</m:t>
                              </m:r>
                              <m:sSub>
                                <m:e>
                                  <m:r>
                                    <a:rPr lang="vi" sz="2100" dirty="0">
                                      <a:solidFill>
                                        <a:srgbClr val="1B2430"/>
                                      </a:solidFill>
                                      <a:latin typeface="Cambria Math"/>
                                      <a:ea typeface="Cambria Math"/>
                                      <a:cs typeface="Cambria Math"/>
                                    </a:rPr>
                                    <m:t>a</m:t>
                                  </m:r>
                                </m:e>
                                <m:sub>
                                  <m:r>
                                    <a:rPr lang="vi" sz="2100" dirty="0">
                                      <a:solidFill>
                                        <a:srgbClr val="1B2430"/>
                                      </a:solidFill>
                                      <a:latin typeface="Cambria Math"/>
                                      <a:ea typeface="Cambria Math"/>
                                      <a:cs typeface="Cambria Math"/>
                                    </a:rPr>
                                    <m:t>patch</m:t>
                                  </m:r>
                                </m:sub>
                              </m:sSub>
                            </m:e>
                          </m:d>
                        </m:e>
                      </m:d>
                      <m:r>
                        <m:rPr>
                          <m:sty m:val="p"/>
                        </m:rPr>
                        <a:rPr lang="vi" sz="2100" dirty="0">
                          <a:solidFill>
                            <a:srgbClr val="1B2430"/>
                          </a:solidFill>
                          <a:latin typeface="Cambria Math"/>
                          <a:ea typeface="Cambria Math"/>
                          <a:cs typeface="Cambria Math"/>
                        </a:rPr>
                        <m:t>−</m:t>
                      </m:r>
                      <m:r>
                        <a:rPr lang="vi" sz="2100" dirty="0">
                          <a:solidFill>
                            <a:srgbClr val="1B2430"/>
                          </a:solidFill>
                          <a:latin typeface="Cambria Math"/>
                          <a:ea typeface="Cambria Math"/>
                          <a:cs typeface="Cambria Math"/>
                        </a:rPr>
                        <m:t>m</m:t>
                      </m:r>
                      <m:d>
                        <m:dPr>
                          <m:begChr m:val="("/>
                          <m:sepChr m:val=""/>
                          <m:endChr m:val=")"/>
                          <m:grow m:val="on"/>
                          <m:ctrlPr>
                            <a:rPr lang="vi" sz="2100" dirty="0">
                              <a:solidFill>
                                <a:srgbClr val="1B2430"/>
                              </a:solidFill>
                              <a:latin typeface="Cambria Math"/>
                              <a:ea typeface="Cambria Math"/>
                              <a:cs typeface="Cambria Math"/>
                            </a:rPr>
                          </m:ctrlPr>
                        </m:dPr>
                        <m:e>
                          <m:sSub>
                            <m:e>
                              <m:r>
                                <a:rPr lang="vi" sz="2100" dirty="0">
                                  <a:solidFill>
                                    <a:srgbClr val="1B2430"/>
                                  </a:solidFill>
                                  <a:latin typeface="Cambria Math"/>
                                  <a:ea typeface="Cambria Math"/>
                                  <a:cs typeface="Cambria Math"/>
                                </a:rPr>
                                <m:t>x</m:t>
                              </m:r>
                            </m:e>
                            <m:sub>
                              <m:r>
                                <a:rPr lang="vi" sz="2100" dirty="0">
                                  <a:solidFill>
                                    <a:srgbClr val="1B2430"/>
                                  </a:solidFill>
                                  <a:latin typeface="Cambria Math"/>
                                  <a:ea typeface="Cambria Math"/>
                                  <a:cs typeface="Cambria Math"/>
                                </a:rPr>
                                <m:t>clean</m:t>
                              </m:r>
                            </m:sub>
                          </m:sSub>
                        </m:e>
                      </m:d>
                    </m:oMath>
                  </m:oMathPara>
                </a14:m>
              </a:p>
            </p:txBody>
          </p:sp>
        </mc:Choice>
      </mc:AlternateContent>
      <p:grpSp>
        <p:nvGrpSpPr>
          <p:cNvPr id="9" name="p09-vi-du"/>
          <p:cNvGrpSpPr/>
          <p:nvPr/>
        </p:nvGrpSpPr>
        <p:grpSpPr>
          <a:xfrm>
            <a:off x="602742" y="3454718"/>
            <a:ext cx="7848895" cy="264033"/>
            <a:chOff x="602742" y="3454718"/>
            <a:chExt cx="7848895" cy="264033"/>
          </a:xfrm>
        </p:grpSpPr>
        <p:sp>
          <p:nvSpPr>
            <p:cNvPr id="8" name="TextBox 8"/>
            <p:cNvSpPr txBox="1"/>
            <p:nvPr/>
          </p:nvSpPr>
          <p:spPr>
            <a:xfrm>
              <a:off x="602742" y="3454718"/>
              <a:ext cx="7848895"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Ví dụ của paper: x_clean là “The teacher”, x_patch là “The teachers”, và m là log p(are) trừ log p(is).</a:t>
              </a:r>
            </a:p>
          </p:txBody>
        </p:sp>
      </p:grpSp>
      <p:grpSp>
        <p:nvGrpSpPr>
          <p:cNvPr id="12" name="p09-toan-tu-do"/>
          <p:cNvGrpSpPr/>
          <p:nvPr/>
        </p:nvGrpSpPr>
        <p:grpSpPr>
          <a:xfrm>
            <a:off x="609600" y="3943350"/>
            <a:ext cx="9875712" cy="462534"/>
            <a:chOff x="609600" y="3943350"/>
            <a:chExt cx="9875712" cy="462534"/>
          </a:xfrm>
        </p:grpSpPr>
        <p:sp>
          <p:nvSpPr>
            <p:cNvPr id="10" name="Rectangle 10"/>
            <p:cNvSpPr/>
            <p:nvPr/>
          </p:nvSpPr>
          <p:spPr>
            <a:xfrm>
              <a:off x="609600" y="3943350"/>
              <a:ext cx="76200" cy="457200"/>
            </a:xfrm>
            <a:prstGeom prst="roundRect">
              <a:avLst>
                <a:gd name="adj" fmla="val 50000"/>
              </a:avLst>
            </a:prstGeom>
            <a:solidFill>
              <a:schemeClr val="accent2"/>
            </a:solidFill>
            <a:ln>
              <a:noFill/>
            </a:ln>
          </p:spPr>
        </p:sp>
        <p:sp>
          <p:nvSpPr>
            <p:cNvPr id="11" name="TextBox 11"/>
            <p:cNvSpPr txBox="1"/>
            <p:nvPr/>
          </p:nvSpPr>
          <p:spPr>
            <a:xfrm>
              <a:off x="943356" y="4053840"/>
              <a:ext cx="9541956"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do(·) là toán tử can thiệp của Pearl: ép a nhận giá trị đó và cắt mọi nguyên nhân sinh ra a.</a:t>
              </a:r>
            </a:p>
          </p:txBody>
        </p:sp>
      </p:grpSp>
      <p:grpSp>
        <p:nvGrpSpPr>
          <p:cNvPr id="16" name="p09-ablate-patching"/>
          <p:cNvGrpSpPr/>
          <p:nvPr/>
        </p:nvGrpSpPr>
        <p:grpSpPr>
          <a:xfrm>
            <a:off x="601218" y="4793932"/>
            <a:ext cx="2412505" cy="1210819"/>
            <a:chOff x="601218" y="4793932"/>
            <a:chExt cx="2412505" cy="1210819"/>
          </a:xfrm>
        </p:grpSpPr>
        <p:sp>
          <p:nvSpPr>
            <p:cNvPr id="13" name="TextBox 13"/>
            <p:cNvSpPr txBox="1"/>
            <p:nvPr/>
          </p:nvSpPr>
          <p:spPr>
            <a:xfrm>
              <a:off x="601218" y="4793932"/>
              <a:ext cx="941048"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Patching</a:t>
              </a:r>
            </a:p>
          </p:txBody>
        </p:sp>
        <p:sp>
          <p:nvSpPr>
            <p:cNvPr id="14" name="TextBox 14"/>
            <p:cNvSpPr txBox="1"/>
            <p:nvPr/>
          </p:nvSpPr>
          <p:spPr>
            <a:xfrm>
              <a:off x="601218" y="5117782"/>
              <a:ext cx="1482776" cy="322707"/>
            </a:xfrm>
            <a:prstGeom prst="rect">
              <a:avLst/>
            </a:prstGeom>
            <a:noFill/>
            <a:ln>
              <a:noFill/>
            </a:ln>
          </p:spPr>
          <p:txBody>
            <a:bodyPr wrap="none" lIns="0" tIns="0" rIns="0" bIns="0" anchor="t" anchorCtr="0">
              <a:spAutoFit/>
            </a:bodyPr>
            <a:lstStyle/>
            <a:p>
              <a:pPr algn="l"/>
              <a:r>
                <a:rPr lang="vi" sz="1650" dirty="0">
                  <a:solidFill>
                    <a:schemeClr val="dk1"/>
                  </a:solidFill>
                  <a:latin typeface="Consolas"/>
                  <a:ea typeface="Consolas"/>
                  <a:cs typeface="Consolas"/>
                </a:rPr>
                <a:t>a := a_patch</a:t>
              </a:r>
            </a:p>
          </p:txBody>
        </p:sp>
        <p:sp>
          <p:nvSpPr>
            <p:cNvPr id="15" name="TextBox 15"/>
            <p:cNvSpPr txBox="1"/>
            <p:nvPr/>
          </p:nvSpPr>
          <p:spPr>
            <a:xfrm>
              <a:off x="602742" y="5493068"/>
              <a:ext cx="2410981"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Dùng khi có cặp tương phản.</a:t>
              </a:r>
              <a:br/>
              <a:r>
                <a:rPr lang="vi" sz="1350" dirty="0">
                  <a:solidFill>
                    <a:schemeClr val="accent5"/>
                  </a:solidFill>
                  <a:latin typeface="+mn-lt"/>
                  <a:ea typeface="+mn-ea"/>
                  <a:cs typeface="+mn-cs"/>
                </a:rPr>
                <a:t>Mục 3, subject-verb agreement.</a:t>
              </a:r>
            </a:p>
          </p:txBody>
        </p:sp>
      </p:grpSp>
      <p:grpSp>
        <p:nvGrpSpPr>
          <p:cNvPr id="20" name="p09-ablate-zero"/>
          <p:cNvGrpSpPr/>
          <p:nvPr/>
        </p:nvGrpSpPr>
        <p:grpSpPr>
          <a:xfrm>
            <a:off x="4354068" y="4793932"/>
            <a:ext cx="2044008" cy="1210819"/>
            <a:chOff x="4354068" y="4793932"/>
            <a:chExt cx="2044008" cy="1210819"/>
          </a:xfrm>
        </p:grpSpPr>
        <p:sp>
          <p:nvSpPr>
            <p:cNvPr id="17" name="TextBox 17"/>
            <p:cNvSpPr txBox="1"/>
            <p:nvPr/>
          </p:nvSpPr>
          <p:spPr>
            <a:xfrm>
              <a:off x="4354068" y="4793932"/>
              <a:ext cx="1452131" cy="322707"/>
            </a:xfrm>
            <a:prstGeom prst="rect">
              <a:avLst/>
            </a:prstGeom>
            <a:noFill/>
            <a:ln>
              <a:noFill/>
            </a:ln>
          </p:spPr>
          <p:txBody>
            <a:bodyPr wrap="none" lIns="0" tIns="0" rIns="0" bIns="0" anchor="t" anchorCtr="0">
              <a:spAutoFit/>
            </a:bodyPr>
            <a:lstStyle/>
            <a:p>
              <a:pPr algn="l"/>
              <a:r>
                <a:rPr lang="vi" sz="1650" b="1" dirty="0">
                  <a:solidFill>
                    <a:schemeClr val="accent3"/>
                  </a:solidFill>
                  <a:latin typeface="+mn-lt"/>
                  <a:ea typeface="+mn-ea"/>
                  <a:cs typeface="+mn-cs"/>
                </a:rPr>
                <a:t>Zero-ablation</a:t>
              </a:r>
            </a:p>
          </p:txBody>
        </p:sp>
        <p:sp>
          <p:nvSpPr>
            <p:cNvPr id="18" name="TextBox 18"/>
            <p:cNvSpPr txBox="1"/>
            <p:nvPr/>
          </p:nvSpPr>
          <p:spPr>
            <a:xfrm>
              <a:off x="4354068" y="5117782"/>
              <a:ext cx="749770" cy="322707"/>
            </a:xfrm>
            <a:prstGeom prst="rect">
              <a:avLst/>
            </a:prstGeom>
            <a:noFill/>
            <a:ln>
              <a:noFill/>
            </a:ln>
          </p:spPr>
          <p:txBody>
            <a:bodyPr wrap="none" lIns="0" tIns="0" rIns="0" bIns="0" anchor="t" anchorCtr="0">
              <a:spAutoFit/>
            </a:bodyPr>
            <a:lstStyle/>
            <a:p>
              <a:pPr algn="l"/>
              <a:r>
                <a:rPr lang="vi" sz="1650" dirty="0">
                  <a:solidFill>
                    <a:schemeClr val="dk1"/>
                  </a:solidFill>
                  <a:latin typeface="Consolas"/>
                  <a:ea typeface="Consolas"/>
                  <a:cs typeface="Consolas"/>
                </a:rPr>
                <a:t>a := 0</a:t>
              </a:r>
            </a:p>
          </p:txBody>
        </p:sp>
        <p:sp>
          <p:nvSpPr>
            <p:cNvPr id="19" name="TextBox 19"/>
            <p:cNvSpPr txBox="1"/>
            <p:nvPr/>
          </p:nvSpPr>
          <p:spPr>
            <a:xfrm>
              <a:off x="4355592" y="5493068"/>
              <a:ext cx="2042484"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Dùng khi chỉ có một input.</a:t>
              </a:r>
              <a:br/>
              <a:r>
                <a:rPr lang="vi" sz="1350" dirty="0">
                  <a:solidFill>
                    <a:schemeClr val="accent5"/>
                  </a:solidFill>
                  <a:latin typeface="+mn-lt"/>
                  <a:ea typeface="+mn-ea"/>
                  <a:cs typeface="+mn-cs"/>
                </a:rPr>
                <a:t>Mục 4 và mục 5 của paper.</a:t>
              </a:r>
            </a:p>
          </p:txBody>
        </p:sp>
      </p:grpSp>
      <p:grpSp>
        <p:nvGrpSpPr>
          <p:cNvPr id="24" name="p09-ablate-mean"/>
          <p:cNvGrpSpPr/>
          <p:nvPr/>
        </p:nvGrpSpPr>
        <p:grpSpPr>
          <a:xfrm>
            <a:off x="8106918" y="4793932"/>
            <a:ext cx="2526725" cy="1210819"/>
            <a:chOff x="8106918" y="4793932"/>
            <a:chExt cx="2526725" cy="1210819"/>
          </a:xfrm>
        </p:grpSpPr>
        <p:sp>
          <p:nvSpPr>
            <p:cNvPr id="21" name="TextBox 21"/>
            <p:cNvSpPr txBox="1"/>
            <p:nvPr/>
          </p:nvSpPr>
          <p:spPr>
            <a:xfrm>
              <a:off x="8106918" y="4793932"/>
              <a:ext cx="1560124" cy="322707"/>
            </a:xfrm>
            <a:prstGeom prst="rect">
              <a:avLst/>
            </a:prstGeom>
            <a:noFill/>
            <a:ln>
              <a:noFill/>
            </a:ln>
          </p:spPr>
          <p:txBody>
            <a:bodyPr wrap="none" lIns="0" tIns="0" rIns="0" bIns="0" anchor="t" anchorCtr="0">
              <a:spAutoFit/>
            </a:bodyPr>
            <a:lstStyle/>
            <a:p>
              <a:pPr algn="l"/>
              <a:r>
                <a:rPr lang="vi" sz="1650" b="1" dirty="0">
                  <a:solidFill>
                    <a:srgbClr val="8B5A5F"/>
                  </a:solidFill>
                  <a:latin typeface="+mn-lt"/>
                  <a:ea typeface="+mn-ea"/>
                  <a:cs typeface="+mn-cs"/>
                </a:rPr>
                <a:t>Mean-ablation</a:t>
              </a:r>
            </a:p>
          </p:txBody>
        </p:sp>
        <p:sp>
          <p:nvSpPr>
            <p:cNvPr id="22" name="TextBox 22"/>
            <p:cNvSpPr txBox="1"/>
            <p:nvPr/>
          </p:nvSpPr>
          <p:spPr>
            <a:xfrm>
              <a:off x="8106918" y="5117782"/>
              <a:ext cx="1849279" cy="322707"/>
            </a:xfrm>
            <a:prstGeom prst="rect">
              <a:avLst/>
            </a:prstGeom>
            <a:noFill/>
            <a:ln>
              <a:noFill/>
            </a:ln>
          </p:spPr>
          <p:txBody>
            <a:bodyPr wrap="none" lIns="0" tIns="0" rIns="0" bIns="0" anchor="t" anchorCtr="0">
              <a:spAutoFit/>
            </a:bodyPr>
            <a:lstStyle/>
            <a:p>
              <a:pPr algn="l"/>
              <a:r>
                <a:rPr lang="vi" sz="1650" dirty="0">
                  <a:solidFill>
                    <a:schemeClr val="dk1"/>
                  </a:solidFill>
                  <a:latin typeface="Consolas"/>
                  <a:ea typeface="Consolas"/>
                  <a:cs typeface="Consolas"/>
                </a:rPr>
                <a:t>a := trung bình</a:t>
              </a:r>
            </a:p>
          </p:txBody>
        </p:sp>
        <p:sp>
          <p:nvSpPr>
            <p:cNvPr id="23" name="TextBox 23"/>
            <p:cNvSpPr txBox="1"/>
            <p:nvPr/>
          </p:nvSpPr>
          <p:spPr>
            <a:xfrm>
              <a:off x="8108442" y="5493068"/>
              <a:ext cx="2525201"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Trung bình theo từng vị trí token,</a:t>
              </a:r>
              <a:br/>
              <a:r>
                <a:rPr lang="vi" sz="1350" dirty="0">
                  <a:solidFill>
                    <a:schemeClr val="accent5"/>
                  </a:solidFill>
                  <a:latin typeface="+mn-lt"/>
                  <a:ea typeface="+mn-ea"/>
                  <a:cs typeface="+mn-cs"/>
                </a:rPr>
                <a:t>dùng để đo faithfulness.</a:t>
              </a:r>
            </a:p>
          </p:txBody>
        </p:sp>
      </p:grpSp>
      <p:sp>
        <p:nvSpPr>
          <p:cNvPr id="25" name="TextBox 25"/>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09</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863852" cy="1523619"/>
            <a:chOff x="592836" y="651510"/>
            <a:chExt cx="6863852"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2. Phương pháp</a:t>
              </a:r>
            </a:p>
          </p:txBody>
        </p:sp>
        <p:sp>
          <p:nvSpPr>
            <p:cNvPr id="5" name="TextBox 5"/>
            <p:cNvSpPr txBox="1"/>
            <p:nvPr/>
          </p:nvSpPr>
          <p:spPr>
            <a:xfrm>
              <a:off x="592836" y="1034415"/>
              <a:ext cx="6863852"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Hai forward và một backward pass</a:t>
              </a:r>
              <a:br/>
              <a:r>
                <a:rPr lang="vi" sz="3300" b="1" dirty="0">
                  <a:solidFill>
                    <a:schemeClr val="dk1"/>
                  </a:solidFill>
                  <a:latin typeface="+mn-lt"/>
                  <a:ea typeface="+mn-ea"/>
                  <a:cs typeface="+mn-cs"/>
                </a:rPr>
                <a:t>cho toàn bộ node cùng lúc</a:t>
              </a:r>
            </a:p>
          </p:txBody>
        </p:sp>
      </p:grpSp>
      <mc:AlternateContent xmlns:mc="http://schemas.openxmlformats.org/markup-compatibility/2006">
        <mc:Choice xmlns:a14="http://schemas.microsoft.com/office/drawing/2010/main" Requires="a14">
          <p:sp>
            <p:nvSpPr>
              <p:cNvPr id="7" name="p10-cong-thuc-atp"/>
              <p:cNvSpPr txBox="1">
                <a:spLocks noGrp="1"/>
              </p:cNvSpPr>
              <p:nvPr/>
            </p:nvSpPr>
            <p:spPr>
              <a:xfrm>
                <a:off x="609600" y="2324100"/>
                <a:ext cx="10972800" cy="8763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acc>
                            <m:accPr>
                              <m:chr m:val="̂"/>
                              <m:ctrlPr>
                                <a:rPr lang="vi" sz="2250" dirty="0">
                                  <a:solidFill>
                                    <a:srgbClr val="1B2430"/>
                                  </a:solidFill>
                                  <a:latin typeface="Cambria Math"/>
                                  <a:ea typeface="Cambria Math"/>
                                  <a:cs typeface="Cambria Math"/>
                                </a:rPr>
                              </m:ctrlPr>
                            </m:accPr>
                            <m:e>
                              <m:r>
                                <m:rPr>
                                  <m:sty m:val="p"/>
                                </m:rPr>
                                <a:rPr lang="vi" sz="2250" dirty="0">
                                  <a:solidFill>
                                    <a:srgbClr val="1B2430"/>
                                  </a:solidFill>
                                  <a:latin typeface="Cambria Math"/>
                                  <a:ea typeface="Cambria Math"/>
                                  <a:cs typeface="Cambria Math"/>
                                </a:rPr>
                                <m:t>IE</m:t>
                              </m:r>
                            </m:e>
                          </m:acc>
                        </m:e>
                        <m:sub>
                          <m:r>
                            <a:rPr lang="vi" sz="2250" dirty="0">
                              <a:solidFill>
                                <a:srgbClr val="1B2430"/>
                              </a:solidFill>
                              <a:latin typeface="Cambria Math"/>
                              <a:ea typeface="Cambria Math"/>
                              <a:cs typeface="Cambria Math"/>
                            </a:rPr>
                            <m:t>atp</m:t>
                          </m:r>
                        </m:sub>
                      </m:sSub>
                      <m:r>
                        <m:rPr>
                          <m:sty m:val="p"/>
                        </m:rPr>
                        <a:rPr lang="vi" sz="2250" dirty="0">
                          <a:solidFill>
                            <a:srgbClr val="1B2430"/>
                          </a:solidFill>
                          <a:latin typeface="Cambria Math"/>
                          <a:ea typeface="Cambria Math"/>
                          <a:cs typeface="Cambria Math"/>
                        </a:rPr>
                        <m:t>=</m:t>
                      </m:r>
                      <m:sSub>
                        <m:e>
                          <m:d>
                            <m:dPr>
                              <m:begChr m:val=""/>
                              <m:sepChr m:val=""/>
                              <m:endChr m:val="|"/>
                              <m:grow m:val="on"/>
                              <m:ctrlPr>
                                <a:rPr lang="vi" sz="2250" dirty="0">
                                  <a:solidFill>
                                    <a:srgbClr val="1B2430"/>
                                  </a:solidFill>
                                  <a:latin typeface="Cambria Math"/>
                                  <a:ea typeface="Cambria Math"/>
                                  <a:cs typeface="Cambria Math"/>
                                </a:rPr>
                              </m:ctrlPr>
                            </m:dPr>
                            <m:e>
                              <m:sSub>
                                <m:e>
                                  <m:r>
                                    <m:rPr>
                                      <m:sty m:val="p"/>
                                    </m:rPr>
                                    <a:rPr lang="vi" sz="2250" dirty="0">
                                      <a:solidFill>
                                        <a:srgbClr val="1B2430"/>
                                      </a:solidFill>
                                      <a:latin typeface="Cambria Math"/>
                                      <a:ea typeface="Cambria Math"/>
                                      <a:cs typeface="Cambria Math"/>
                                    </a:rPr>
                                    <m:t>∇</m:t>
                                  </m:r>
                                </m:e>
                                <m:sub>
                                  <m:r>
                                    <a:rPr lang="vi" sz="2250" dirty="0">
                                      <a:solidFill>
                                        <a:srgbClr val="1B2430"/>
                                      </a:solidFill>
                                      <a:latin typeface="Cambria Math"/>
                                      <a:ea typeface="Cambria Math"/>
                                      <a:cs typeface="Cambria Math"/>
                                    </a:rPr>
                                    <m:t>a</m:t>
                                  </m:r>
                                </m:sub>
                              </m:sSub>
                              <m:r>
                                <a:rPr lang="vi" sz="2250" dirty="0">
                                  <a:solidFill>
                                    <a:srgbClr val="1B2430"/>
                                  </a:solidFill>
                                  <a:latin typeface="Cambria Math"/>
                                  <a:ea typeface="Cambria Math"/>
                                  <a:cs typeface="Cambria Math"/>
                                </a:rPr>
                                <m:t>m</m:t>
                              </m:r>
                            </m:e>
                          </m:d>
                        </m:e>
                        <m:sub>
                          <m:r>
                            <a:rPr lang="vi" sz="2250" dirty="0">
                              <a:solidFill>
                                <a:srgbClr val="1B2430"/>
                              </a:solidFill>
                              <a:latin typeface="Cambria Math"/>
                              <a:ea typeface="Cambria Math"/>
                              <a:cs typeface="Cambria Math"/>
                            </a:rPr>
                            <m:t>a</m:t>
                          </m:r>
                          <m:r>
                            <m:rPr>
                              <m:sty m:val="p"/>
                            </m:rPr>
                            <a:rPr lang="vi" sz="2250" dirty="0">
                              <a:solidFill>
                                <a:srgbClr val="1B2430"/>
                              </a:solidFill>
                              <a:latin typeface="Cambria Math"/>
                              <a:ea typeface="Cambria Math"/>
                              <a:cs typeface="Cambria Math"/>
                            </a:rPr>
                            <m:t>=</m:t>
                          </m:r>
                          <m:sSub>
                            <m:e>
                              <m:r>
                                <a:rPr lang="vi" sz="2250" dirty="0">
                                  <a:solidFill>
                                    <a:srgbClr val="1B2430"/>
                                  </a:solidFill>
                                  <a:latin typeface="Cambria Math"/>
                                  <a:ea typeface="Cambria Math"/>
                                  <a:cs typeface="Cambria Math"/>
                                </a:rPr>
                                <m:t>a</m:t>
                              </m:r>
                            </m:e>
                            <m:sub>
                              <m:r>
                                <a:rPr lang="vi" sz="2250" dirty="0">
                                  <a:solidFill>
                                    <a:srgbClr val="1B2430"/>
                                  </a:solidFill>
                                  <a:latin typeface="Cambria Math"/>
                                  <a:ea typeface="Cambria Math"/>
                                  <a:cs typeface="Cambria Math"/>
                                </a:rPr>
                                <m:t>clean</m:t>
                              </m:r>
                            </m:sub>
                          </m:sSub>
                        </m:sub>
                      </m:sSub>
                      <m:r>
                        <m:rPr>
                          <m:sty m:val="p"/>
                        </m:rPr>
                        <a:rPr lang="vi" sz="2250" dirty="0">
                          <a:solidFill>
                            <a:srgbClr val="1B2430"/>
                          </a:solidFill>
                          <a:latin typeface="Cambria Math"/>
                          <a:ea typeface="Cambria Math"/>
                          <a:cs typeface="Cambria Math"/>
                        </a:rPr>
                        <m:t>⋅</m:t>
                      </m:r>
                      <m:d>
                        <m:dPr>
                          <m:begChr m:val="("/>
                          <m:sepChr m:val=""/>
                          <m:endChr m:val=")"/>
                          <m:grow m:val="on"/>
                          <m:ctrlPr>
                            <a:rPr lang="vi" sz="2250" dirty="0">
                              <a:solidFill>
                                <a:srgbClr val="1B2430"/>
                              </a:solidFill>
                              <a:latin typeface="Cambria Math"/>
                              <a:ea typeface="Cambria Math"/>
                              <a:cs typeface="Cambria Math"/>
                            </a:rPr>
                          </m:ctrlPr>
                        </m:dPr>
                        <m:e>
                          <m:sSub>
                            <m:e>
                              <m:r>
                                <a:rPr lang="vi" sz="2250" dirty="0">
                                  <a:solidFill>
                                    <a:srgbClr val="1B2430"/>
                                  </a:solidFill>
                                  <a:latin typeface="Cambria Math"/>
                                  <a:ea typeface="Cambria Math"/>
                                  <a:cs typeface="Cambria Math"/>
                                </a:rPr>
                                <m:t>a</m:t>
                              </m:r>
                            </m:e>
                            <m:sub>
                              <m:r>
                                <a:rPr lang="vi" sz="2250" dirty="0">
                                  <a:solidFill>
                                    <a:srgbClr val="1B2430"/>
                                  </a:solidFill>
                                  <a:latin typeface="Cambria Math"/>
                                  <a:ea typeface="Cambria Math"/>
                                  <a:cs typeface="Cambria Math"/>
                                </a:rPr>
                                <m:t>patch</m:t>
                              </m:r>
                            </m:sub>
                          </m:sSub>
                          <m:r>
                            <m:rPr>
                              <m:sty m:val="p"/>
                            </m:rPr>
                            <a:rPr lang="vi" sz="2250" dirty="0">
                              <a:solidFill>
                                <a:srgbClr val="1B2430"/>
                              </a:solidFill>
                              <a:latin typeface="Cambria Math"/>
                              <a:ea typeface="Cambria Math"/>
                              <a:cs typeface="Cambria Math"/>
                            </a:rPr>
                            <m:t>−</m:t>
                          </m:r>
                          <m:sSub>
                            <m:e>
                              <m:r>
                                <a:rPr lang="vi" sz="2250" dirty="0">
                                  <a:solidFill>
                                    <a:srgbClr val="1B2430"/>
                                  </a:solidFill>
                                  <a:latin typeface="Cambria Math"/>
                                  <a:ea typeface="Cambria Math"/>
                                  <a:cs typeface="Cambria Math"/>
                                </a:rPr>
                                <m:t>a</m:t>
                              </m:r>
                            </m:e>
                            <m:sub>
                              <m:r>
                                <a:rPr lang="vi" sz="2250" dirty="0">
                                  <a:solidFill>
                                    <a:srgbClr val="1B2430"/>
                                  </a:solidFill>
                                  <a:latin typeface="Cambria Math"/>
                                  <a:ea typeface="Cambria Math"/>
                                  <a:cs typeface="Cambria Math"/>
                                </a:rPr>
                                <m:t>clean</m:t>
                              </m:r>
                            </m:sub>
                          </m:sSub>
                        </m:e>
                      </m:d>
                    </m:oMath>
                  </m:oMathPara>
                </a14:m>
              </a:p>
            </p:txBody>
          </p:sp>
        </mc:Choice>
      </mc:AlternateContent>
      <p:grpSp>
        <p:nvGrpSpPr>
          <p:cNvPr id="10" name="p10-chi-phi-cu"/>
          <p:cNvGrpSpPr/>
          <p:nvPr/>
        </p:nvGrpSpPr>
        <p:grpSpPr>
          <a:xfrm>
            <a:off x="600456" y="3539490"/>
            <a:ext cx="9588386" cy="662749"/>
            <a:chOff x="600456" y="3539490"/>
            <a:chExt cx="9588386" cy="662749"/>
          </a:xfrm>
        </p:grpSpPr>
        <p:sp>
          <p:nvSpPr>
            <p:cNvPr id="8" name="TextBox 8"/>
            <p:cNvSpPr txBox="1"/>
            <p:nvPr/>
          </p:nvSpPr>
          <p:spPr>
            <a:xfrm>
              <a:off x="600456" y="3539490"/>
              <a:ext cx="2164851" cy="352044"/>
            </a:xfrm>
            <a:prstGeom prst="rect">
              <a:avLst/>
            </a:prstGeom>
            <a:noFill/>
            <a:ln>
              <a:noFill/>
            </a:ln>
          </p:spPr>
          <p:txBody>
            <a:bodyPr wrap="none" lIns="0" tIns="0" rIns="0" bIns="0" anchor="t" anchorCtr="0">
              <a:spAutoFit/>
            </a:bodyPr>
            <a:lstStyle/>
            <a:p>
              <a:pPr algn="l"/>
              <a:r>
                <a:rPr lang="vi" sz="1800" b="1" dirty="0">
                  <a:solidFill>
                    <a:schemeClr val="accent5"/>
                  </a:solidFill>
                  <a:latin typeface="+mn-lt"/>
                  <a:ea typeface="+mn-ea"/>
                  <a:cs typeface="+mn-cs"/>
                </a:rPr>
                <a:t>Patching chính xác</a:t>
              </a:r>
            </a:p>
          </p:txBody>
        </p:sp>
        <p:sp>
          <p:nvSpPr>
            <p:cNvPr id="9" name="TextBox 9"/>
            <p:cNvSpPr txBox="1"/>
            <p:nvPr/>
          </p:nvSpPr>
          <p:spPr>
            <a:xfrm>
              <a:off x="601218" y="3879532"/>
              <a:ext cx="9587624" cy="322707"/>
            </a:xfrm>
            <a:prstGeom prst="rect">
              <a:avLst/>
            </a:prstGeom>
            <a:noFill/>
            <a:ln>
              <a:noFill/>
            </a:ln>
          </p:spPr>
          <p:txBody>
            <a:bodyPr wrap="none" lIns="0" tIns="0" rIns="0" bIns="0" anchor="t" anchorCtr="0">
              <a:spAutoFit/>
            </a:bodyPr>
            <a:lstStyle/>
            <a:p>
              <a:pPr algn="l"/>
              <a:r>
                <a:rPr lang="vi" sz="1650" dirty="0">
                  <a:solidFill>
                    <a:schemeClr val="accent5"/>
                  </a:solidFill>
                  <a:latin typeface="+mn-lt"/>
                  <a:ea typeface="+mn-ea"/>
                  <a:cs typeface="+mn-cs"/>
                </a:rPr>
                <a:t>Một forward pass cho mỗi node. ACDC chạy như vậy trên từng edge, nên chi phí tỉ lệ với số edge.</a:t>
              </a:r>
            </a:p>
          </p:txBody>
        </p:sp>
      </p:grpSp>
      <p:grpSp>
        <p:nvGrpSpPr>
          <p:cNvPr id="14" name="p10-chi-phi-moi"/>
          <p:cNvGrpSpPr/>
          <p:nvPr/>
        </p:nvGrpSpPr>
        <p:grpSpPr>
          <a:xfrm>
            <a:off x="609600" y="4457700"/>
            <a:ext cx="10972800" cy="1058989"/>
            <a:chOff x="609600" y="4457700"/>
            <a:chExt cx="10972800" cy="1058989"/>
          </a:xfrm>
        </p:grpSpPr>
        <p:sp>
          <p:nvSpPr>
            <p:cNvPr id="11" name="Rectangle 11"/>
            <p:cNvSpPr/>
            <p:nvPr/>
          </p:nvSpPr>
          <p:spPr>
            <a:xfrm>
              <a:off x="609600" y="4457700"/>
              <a:ext cx="10972800" cy="990600"/>
            </a:xfrm>
            <a:prstGeom prst="roundRect">
              <a:avLst>
                <a:gd name="adj" fmla="val 11538"/>
              </a:avLst>
            </a:prstGeom>
            <a:solidFill>
              <a:schemeClr val="lt2"/>
            </a:solidFill>
            <a:ln>
              <a:noFill/>
            </a:ln>
          </p:spPr>
        </p:sp>
        <p:sp>
          <p:nvSpPr>
            <p:cNvPr id="12" name="TextBox 12"/>
            <p:cNvSpPr txBox="1"/>
            <p:nvPr/>
          </p:nvSpPr>
          <p:spPr>
            <a:xfrm>
              <a:off x="943356" y="4587240"/>
              <a:ext cx="2373836" cy="352044"/>
            </a:xfrm>
            <a:prstGeom prst="rect">
              <a:avLst/>
            </a:prstGeom>
            <a:noFill/>
            <a:ln>
              <a:noFill/>
            </a:ln>
          </p:spPr>
          <p:txBody>
            <a:bodyPr wrap="none" lIns="0" tIns="0" rIns="0" bIns="0" anchor="t" anchorCtr="0">
              <a:spAutoFit/>
            </a:bodyPr>
            <a:lstStyle/>
            <a:p>
              <a:pPr algn="l"/>
              <a:r>
                <a:rPr lang="vi" sz="1800" b="1" dirty="0">
                  <a:solidFill>
                    <a:schemeClr val="accent1"/>
                  </a:solidFill>
                  <a:latin typeface="+mn-lt"/>
                  <a:ea typeface="+mn-ea"/>
                  <a:cs typeface="+mn-cs"/>
                </a:rPr>
                <a:t>Attribution patching</a:t>
              </a:r>
            </a:p>
          </p:txBody>
        </p:sp>
        <p:sp>
          <p:nvSpPr>
            <p:cNvPr id="13" name="TextBox 13"/>
            <p:cNvSpPr txBox="1"/>
            <p:nvPr/>
          </p:nvSpPr>
          <p:spPr>
            <a:xfrm>
              <a:off x="944118" y="4927282"/>
              <a:ext cx="8538869" cy="589407"/>
            </a:xfrm>
            <a:prstGeom prst="rect">
              <a:avLst/>
            </a:prstGeom>
            <a:noFill/>
            <a:ln>
              <a:noFill/>
            </a:ln>
          </p:spPr>
          <p:txBody>
            <a:bodyPr wrap="none" lIns="0" tIns="0" rIns="0" bIns="0" anchor="t" anchorCtr="0">
              <a:spAutoFit/>
            </a:bodyPr>
            <a:lstStyle/>
            <a:p>
              <a:pPr algn="l">
                <a:lnSpc>
                  <a:spcPts val="2100"/>
                </a:lnSpc>
              </a:pPr>
              <a:r>
                <a:rPr lang="vi" sz="1650" dirty="0">
                  <a:solidFill>
                    <a:schemeClr val="dk1"/>
                  </a:solidFill>
                  <a:latin typeface="+mn-lt"/>
                  <a:ea typeface="+mn-ea"/>
                  <a:cs typeface="+mn-cs"/>
                </a:rPr>
                <a:t>Hai forward cộng một backward pass cho toàn bộ node cùng lúc, không phụ thuộc số node.</a:t>
              </a:r>
              <a:br/>
              <a:r>
                <a:rPr lang="vi" sz="1650" dirty="0">
                  <a:solidFill>
                    <a:schemeClr val="dk1"/>
                  </a:solidFill>
                  <a:latin typeface="+mn-lt"/>
                  <a:ea typeface="+mn-ea"/>
                  <a:cs typeface="+mn-cs"/>
                </a:rPr>
                <a:t>Khai triển Taylor bậc nhất của indirect effect. Nanda 2022, Syed 2023, Kramár 2024.</a:t>
              </a:r>
            </a:p>
          </p:txBody>
        </p:sp>
      </p:grpSp>
      <p:grpSp>
        <p:nvGrpSpPr>
          <p:cNvPr id="17" name="p10-dieu-kien"/>
          <p:cNvGrpSpPr/>
          <p:nvPr/>
        </p:nvGrpSpPr>
        <p:grpSpPr>
          <a:xfrm>
            <a:off x="609600" y="5791200"/>
            <a:ext cx="9450663" cy="462534"/>
            <a:chOff x="609600" y="5791200"/>
            <a:chExt cx="9450663" cy="462534"/>
          </a:xfrm>
        </p:grpSpPr>
        <p:sp>
          <p:nvSpPr>
            <p:cNvPr id="15" name="Rectangle 15"/>
            <p:cNvSpPr/>
            <p:nvPr/>
          </p:nvSpPr>
          <p:spPr>
            <a:xfrm>
              <a:off x="609600" y="5791200"/>
              <a:ext cx="76200" cy="457200"/>
            </a:xfrm>
            <a:prstGeom prst="roundRect">
              <a:avLst>
                <a:gd name="adj" fmla="val 50000"/>
              </a:avLst>
            </a:prstGeom>
            <a:solidFill>
              <a:schemeClr val="accent2"/>
            </a:solidFill>
            <a:ln>
              <a:noFill/>
            </a:ln>
          </p:spPr>
        </p:sp>
        <p:sp>
          <p:nvSpPr>
            <p:cNvPr id="16" name="TextBox 16"/>
            <p:cNvSpPr txBox="1"/>
            <p:nvPr/>
          </p:nvSpPr>
          <p:spPr>
            <a:xfrm>
              <a:off x="943356" y="5901690"/>
              <a:ext cx="9116907"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Xấp xỉ chỉ đúng khi m gần tuyến tính quanh a_clean, nên hỏng khi hiệu hai giá trị lớn.</a:t>
              </a:r>
            </a:p>
          </p:txBody>
        </p:sp>
      </p:grpSp>
      <p:sp>
        <p:nvSpPr>
          <p:cNvPr id="18" name="TextBox 1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10</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7195989" cy="1523619"/>
            <a:chOff x="592836" y="651510"/>
            <a:chExt cx="7195989"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2. Phương pháp</a:t>
              </a:r>
            </a:p>
          </p:txBody>
        </p:sp>
        <p:sp>
          <p:nvSpPr>
            <p:cNvPr id="5" name="TextBox 5"/>
            <p:cNvSpPr txBox="1"/>
            <p:nvPr/>
          </p:nvSpPr>
          <p:spPr>
            <a:xfrm>
              <a:off x="592836" y="1034415"/>
              <a:ext cx="7195989"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Attribution patching ước lượng thấp</a:t>
              </a:r>
              <a:br/>
              <a:r>
                <a:rPr lang="vi" sz="3300" b="1" dirty="0">
                  <a:solidFill>
                    <a:schemeClr val="dk1"/>
                  </a:solidFill>
                  <a:latin typeface="+mn-lt"/>
                  <a:ea typeface="+mn-ea"/>
                  <a:cs typeface="+mn-cs"/>
                </a:rPr>
                <a:t>ở MLP layer 0 và residual layer đầu</a:t>
              </a:r>
            </a:p>
          </p:txBody>
        </p:sp>
      </p:grpSp>
      <p:grpSp>
        <p:nvGrpSpPr>
          <p:cNvPr id="11" name="p11-atp"/>
          <p:cNvGrpSpPr/>
          <p:nvPr/>
        </p:nvGrpSpPr>
        <p:grpSpPr>
          <a:xfrm>
            <a:off x="601218" y="2336482"/>
            <a:ext cx="5304282" cy="3858769"/>
            <a:chOff x="601218" y="2336482"/>
            <a:chExt cx="5304282" cy="3858769"/>
          </a:xfrm>
        </p:grpSpPr>
        <p:sp>
          <p:nvSpPr>
            <p:cNvPr id="7" name="TextBox 7"/>
            <p:cNvSpPr txBox="1"/>
            <p:nvPr/>
          </p:nvSpPr>
          <p:spPr>
            <a:xfrm>
              <a:off x="601218" y="2336482"/>
              <a:ext cx="2176016" cy="322707"/>
            </a:xfrm>
            <a:prstGeom prst="rect">
              <a:avLst/>
            </a:prstGeom>
            <a:noFill/>
            <a:ln>
              <a:noFill/>
            </a:ln>
          </p:spPr>
          <p:txBody>
            <a:bodyPr wrap="none" lIns="0" tIns="0" rIns="0" bIns="0" anchor="t" anchorCtr="0">
              <a:spAutoFit/>
            </a:bodyPr>
            <a:lstStyle/>
            <a:p>
              <a:pPr algn="l"/>
              <a:r>
                <a:rPr lang="vi" sz="1650" b="1" dirty="0">
                  <a:solidFill>
                    <a:srgbClr val="8B5A5F"/>
                  </a:solidFill>
                  <a:latin typeface="+mn-lt"/>
                  <a:ea typeface="+mn-ea"/>
                  <a:cs typeface="+mn-cs"/>
                </a:rPr>
                <a:t>Attribution patching</a:t>
              </a:r>
            </a:p>
          </p:txBody>
        </p:sp>
        <p:pic>
          <p:nvPicPr>
            <p:cNvPr id="8" name="Image 8"/>
            <p:cNvPicPr>
              <a:picLocks noChangeAspect="1"/>
            </p:cNvPicPr>
            <p:nvPr/>
          </p:nvPicPr>
          <p:blipFill>
            <a:blip r:embed="rId2"/>
            <a:stretch>
              <a:fillRect/>
            </a:stretch>
          </p:blipFill>
          <p:spPr>
            <a:xfrm>
              <a:off x="609600" y="2708031"/>
              <a:ext cx="5295900" cy="2851638"/>
            </a:xfrm>
            <a:prstGeom prst="rect">
              <a:avLst/>
            </a:prstGeom>
          </p:spPr>
        </p:pic>
        <p:sp>
          <p:nvSpPr>
            <p:cNvPr id="9" name="Ellipse 9"/>
            <p:cNvSpPr/>
            <p:nvPr/>
          </p:nvSpPr>
          <p:spPr>
            <a:xfrm>
              <a:off x="885825" y="3048000"/>
              <a:ext cx="723900" cy="800100"/>
            </a:xfrm>
            <a:prstGeom prst="ellipse">
              <a:avLst/>
            </a:prstGeom>
            <a:noFill/>
            <a:ln w="28575">
              <a:solidFill>
                <a:srgbClr val="8B5A5F"/>
              </a:solidFill>
            </a:ln>
          </p:spPr>
        </p:sp>
        <p:sp>
          <p:nvSpPr>
            <p:cNvPr id="10" name="TextBox 10"/>
            <p:cNvSpPr txBox="1"/>
            <p:nvPr/>
          </p:nvSpPr>
          <p:spPr>
            <a:xfrm>
              <a:off x="602742" y="5683568"/>
              <a:ext cx="3821638"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Ô Layer 0 hàng residual stream: các điểm nằm hẳn</a:t>
              </a:r>
              <a:br/>
              <a:r>
                <a:rPr lang="vi" sz="1350" dirty="0">
                  <a:solidFill>
                    <a:schemeClr val="accent5"/>
                  </a:solidFill>
                  <a:latin typeface="+mn-lt"/>
                  <a:ea typeface="+mn-ea"/>
                  <a:cs typeface="+mn-cs"/>
                </a:rPr>
                <a:t>dưới đường chéo, tức xấp xỉ thấp hơn IE thật.</a:t>
              </a:r>
            </a:p>
          </p:txBody>
        </p:sp>
      </p:grpSp>
      <p:grpSp>
        <p:nvGrpSpPr>
          <p:cNvPr id="16" name="p11-ig"/>
          <p:cNvGrpSpPr/>
          <p:nvPr/>
        </p:nvGrpSpPr>
        <p:grpSpPr>
          <a:xfrm>
            <a:off x="6278118" y="2336482"/>
            <a:ext cx="5304282" cy="3858769"/>
            <a:chOff x="6278118" y="2336482"/>
            <a:chExt cx="5304282" cy="3858769"/>
          </a:xfrm>
        </p:grpSpPr>
        <p:sp>
          <p:nvSpPr>
            <p:cNvPr id="12" name="TextBox 12"/>
            <p:cNvSpPr txBox="1"/>
            <p:nvPr/>
          </p:nvSpPr>
          <p:spPr>
            <a:xfrm>
              <a:off x="6278118" y="2336482"/>
              <a:ext cx="2170224"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Integrated gradients</a:t>
              </a:r>
            </a:p>
          </p:txBody>
        </p:sp>
        <p:pic>
          <p:nvPicPr>
            <p:cNvPr id="13" name="Image 13"/>
            <p:cNvPicPr>
              <a:picLocks noChangeAspect="1"/>
            </p:cNvPicPr>
            <p:nvPr/>
          </p:nvPicPr>
          <p:blipFill>
            <a:blip r:embed="rId3"/>
            <a:stretch>
              <a:fillRect/>
            </a:stretch>
          </p:blipFill>
          <p:spPr>
            <a:xfrm>
              <a:off x="6286500" y="2833665"/>
              <a:ext cx="5295900" cy="2600370"/>
            </a:xfrm>
            <a:prstGeom prst="rect">
              <a:avLst/>
            </a:prstGeom>
          </p:spPr>
        </p:pic>
        <p:sp>
          <p:nvSpPr>
            <p:cNvPr id="14" name="Ellipse 14"/>
            <p:cNvSpPr/>
            <p:nvPr/>
          </p:nvSpPr>
          <p:spPr>
            <a:xfrm>
              <a:off x="6515100" y="3200400"/>
              <a:ext cx="647700" cy="723900"/>
            </a:xfrm>
            <a:prstGeom prst="ellipse">
              <a:avLst/>
            </a:prstGeom>
            <a:noFill/>
            <a:ln w="28575">
              <a:solidFill>
                <a:schemeClr val="accent1"/>
              </a:solidFill>
            </a:ln>
          </p:spPr>
        </p:sp>
        <p:sp>
          <p:nvSpPr>
            <p:cNvPr id="15" name="TextBox 15"/>
            <p:cNvSpPr txBox="1"/>
            <p:nvPr/>
          </p:nvSpPr>
          <p:spPr>
            <a:xfrm>
              <a:off x="6279642" y="5683568"/>
              <a:ext cx="4083510"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Cùng ô đó, các điểm bám sát đường chéo. Trung bình</a:t>
              </a:r>
              <a:br/>
              <a:r>
                <a:rPr lang="vi" sz="1350" dirty="0">
                  <a:solidFill>
                    <a:schemeClr val="accent5"/>
                  </a:solidFill>
                  <a:latin typeface="+mn-lt"/>
                  <a:ea typeface="+mn-ea"/>
                  <a:cs typeface="+mn-cs"/>
                </a:rPr>
                <a:t>gradient trên 10 điểm nội suy, chi phí gấp 10 lần.</a:t>
              </a:r>
            </a:p>
          </p:txBody>
        </p:sp>
      </p:grpSp>
      <p:sp>
        <p:nvSpPr>
          <p:cNvPr id="17" name="TextBox 17"/>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11</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5988528" cy="1028319"/>
            <a:chOff x="592836" y="651510"/>
            <a:chExt cx="5988528" cy="10283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2. Phương pháp</a:t>
              </a:r>
            </a:p>
          </p:txBody>
        </p:sp>
        <p:sp>
          <p:nvSpPr>
            <p:cNvPr id="5" name="TextBox 5"/>
            <p:cNvSpPr txBox="1"/>
            <p:nvPr/>
          </p:nvSpPr>
          <p:spPr>
            <a:xfrm>
              <a:off x="592836" y="1034415"/>
              <a:ext cx="5988528" cy="645414"/>
            </a:xfrm>
            <a:prstGeom prst="rect">
              <a:avLst/>
            </a:prstGeom>
            <a:noFill/>
            <a:ln>
              <a:noFill/>
            </a:ln>
          </p:spPr>
          <p:txBody>
            <a:bodyPr wrap="none" lIns="0" tIns="0" rIns="0" bIns="0" anchor="t" anchorCtr="0">
              <a:spAutoFit/>
            </a:bodyPr>
            <a:lstStyle/>
            <a:p>
              <a:pPr algn="l"/>
              <a:r>
                <a:rPr lang="vi" sz="3300" b="1" dirty="0">
                  <a:solidFill>
                    <a:schemeClr val="dk1"/>
                  </a:solidFill>
                  <a:latin typeface="+mn-lt"/>
                  <a:ea typeface="+mn-ea"/>
                  <a:cs typeface="+mn-cs"/>
                </a:rPr>
                <a:t>Bốn bước, và hai ngưỡng lọc</a:t>
              </a:r>
            </a:p>
          </p:txBody>
        </p:sp>
      </p:grpSp>
      <p:grpSp>
        <p:nvGrpSpPr>
          <p:cNvPr id="9" name="p12-figure"/>
          <p:cNvGrpSpPr/>
          <p:nvPr/>
        </p:nvGrpSpPr>
        <p:grpSpPr>
          <a:xfrm>
            <a:off x="603504" y="1908067"/>
            <a:ext cx="7054596" cy="3702539"/>
            <a:chOff x="603504" y="1908067"/>
            <a:chExt cx="7054596" cy="3702539"/>
          </a:xfrm>
        </p:grpSpPr>
        <p:pic>
          <p:nvPicPr>
            <p:cNvPr id="7" name="Image 7"/>
            <p:cNvPicPr>
              <a:picLocks noChangeAspect="1"/>
            </p:cNvPicPr>
            <p:nvPr/>
          </p:nvPicPr>
          <p:blipFill>
            <a:blip r:embed="rId2"/>
            <a:stretch>
              <a:fillRect/>
            </a:stretch>
          </p:blipFill>
          <p:spPr>
            <a:xfrm>
              <a:off x="609600" y="1908067"/>
              <a:ext cx="7048500" cy="3241892"/>
            </a:xfrm>
            <a:prstGeom prst="rect">
              <a:avLst/>
            </a:prstGeom>
          </p:spPr>
        </p:pic>
        <p:sp>
          <p:nvSpPr>
            <p:cNvPr id="8" name="TextBox 8"/>
            <p:cNvSpPr txBox="1"/>
            <p:nvPr/>
          </p:nvSpPr>
          <p:spPr>
            <a:xfrm>
              <a:off x="603504" y="5375910"/>
              <a:ext cx="2481121"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Figure 2, Marks et al. 2024, trang 4</a:t>
              </a:r>
            </a:p>
          </p:txBody>
        </p:sp>
      </p:grpSp>
      <p:grpSp>
        <p:nvGrpSpPr>
          <p:cNvPr id="13" name="p12-cac-buoc"/>
          <p:cNvGrpSpPr/>
          <p:nvPr/>
        </p:nvGrpSpPr>
        <p:grpSpPr>
          <a:xfrm>
            <a:off x="8032242" y="2006918"/>
            <a:ext cx="3087969" cy="3483483"/>
            <a:chOff x="8032242" y="2006918"/>
            <a:chExt cx="3087969" cy="3483483"/>
          </a:xfrm>
        </p:grpSpPr>
        <p:sp>
          <p:nvSpPr>
            <p:cNvPr id="10" name="TextBox 10"/>
            <p:cNvSpPr txBox="1"/>
            <p:nvPr/>
          </p:nvSpPr>
          <p:spPr>
            <a:xfrm>
              <a:off x="8032242" y="2006918"/>
              <a:ext cx="2778982" cy="1235583"/>
            </a:xfrm>
            <a:prstGeom prst="rect">
              <a:avLst/>
            </a:prstGeom>
            <a:noFill/>
            <a:ln>
              <a:noFill/>
            </a:ln>
          </p:spPr>
          <p:txBody>
            <a:bodyPr wrap="none" lIns="0" tIns="0" rIns="0" bIns="0" anchor="t" anchorCtr="0">
              <a:spAutoFit/>
            </a:bodyPr>
            <a:lstStyle/>
            <a:p>
              <a:pPr algn="l">
                <a:lnSpc>
                  <a:spcPts val="2550"/>
                </a:lnSpc>
              </a:pPr>
              <a:r>
                <a:rPr lang="vi" sz="1350" dirty="0">
                  <a:solidFill>
                    <a:schemeClr val="dk1"/>
                  </a:solidFill>
                  <a:latin typeface="+mn-lt"/>
                  <a:ea typeface="+mn-ea"/>
                  <a:cs typeface="+mn-cs"/>
                </a:rPr>
                <a:t>1. Cache activation và metric</a:t>
              </a:r>
            </a:p>
            <a:p>
              <a:pPr algn="l">
                <a:lnSpc>
                  <a:spcPts val="2550"/>
                </a:lnSpc>
              </a:pPr>
              <a:r>
                <a:rPr lang="vi" sz="1350" dirty="0">
                  <a:solidFill>
                    <a:schemeClr val="dk1"/>
                  </a:solidFill>
                  <a:latin typeface="+mn-lt"/>
                  <a:ea typeface="+mn-ea"/>
                  <a:cs typeface="+mn-cs"/>
                </a:rPr>
                <a:t>2. Backprop, lưu gradient</a:t>
              </a:r>
            </a:p>
            <a:p>
              <a:pPr algn="l">
                <a:lnSpc>
                  <a:spcPts val="2550"/>
                </a:lnSpc>
              </a:pPr>
              <a:r>
                <a:rPr lang="vi" sz="1350" dirty="0">
                  <a:solidFill>
                    <a:schemeClr val="dk1"/>
                  </a:solidFill>
                  <a:latin typeface="+mn-lt"/>
                  <a:ea typeface="+mn-ea"/>
                  <a:cs typeface="+mn-cs"/>
                </a:rPr>
                <a:t>3. Tính effect cho node, lọc theo T_N</a:t>
              </a:r>
            </a:p>
            <a:p>
              <a:pPr algn="l">
                <a:lnSpc>
                  <a:spcPts val="2550"/>
                </a:lnSpc>
              </a:pPr>
              <a:r>
                <a:rPr lang="vi" sz="1350" dirty="0">
                  <a:solidFill>
                    <a:schemeClr val="dk1"/>
                  </a:solidFill>
                  <a:latin typeface="+mn-lt"/>
                  <a:ea typeface="+mn-ea"/>
                  <a:cs typeface="+mn-cs"/>
                </a:rPr>
                <a:t>4. Tính effect cho edge, lọc theo T_E</a:t>
              </a:r>
            </a:p>
          </p:txBody>
        </p:sp>
        <p:sp>
          <p:nvSpPr>
            <p:cNvPr id="11" name="TextBox 11"/>
            <p:cNvSpPr txBox="1"/>
            <p:nvPr/>
          </p:nvSpPr>
          <p:spPr>
            <a:xfrm>
              <a:off x="8032242" y="3702368"/>
              <a:ext cx="2924080"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Trọng số edge là hiệu ứng của u lên m</a:t>
              </a:r>
              <a:br/>
              <a:r>
                <a:rPr lang="vi" sz="1350" dirty="0">
                  <a:solidFill>
                    <a:schemeClr val="accent5"/>
                  </a:solidFill>
                  <a:latin typeface="+mn-lt"/>
                  <a:ea typeface="+mn-ea"/>
                  <a:cs typeface="+mn-cs"/>
                </a:rPr>
                <a:t>chỉ qua đường trực tiếp tới d, cắt mọi</a:t>
              </a:r>
              <a:br/>
              <a:r>
                <a:rPr lang="vi" sz="1350" dirty="0">
                  <a:solidFill>
                    <a:schemeClr val="accent5"/>
                  </a:solidFill>
                  <a:latin typeface="+mn-lt"/>
                  <a:ea typeface="+mn-ea"/>
                  <a:cs typeface="+mn-cs"/>
                </a:rPr>
                <a:t>đường vòng qua node trung gian.</a:t>
              </a:r>
            </a:p>
          </p:txBody>
        </p:sp>
        <p:sp>
          <p:nvSpPr>
            <p:cNvPr id="12" name="TextBox 12"/>
            <p:cNvSpPr txBox="1"/>
            <p:nvPr/>
          </p:nvSpPr>
          <p:spPr>
            <a:xfrm>
              <a:off x="8032242" y="4731068"/>
              <a:ext cx="3087969"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Dữ liệu templatic giữ nguyên vị trí token;</a:t>
              </a:r>
              <a:br/>
              <a:r>
                <a:rPr lang="vi" sz="1350" dirty="0">
                  <a:solidFill>
                    <a:schemeClr val="accent5"/>
                  </a:solidFill>
                  <a:latin typeface="+mn-lt"/>
                  <a:ea typeface="+mn-ea"/>
                  <a:cs typeface="+mn-cs"/>
                </a:rPr>
                <a:t>dữ liệu không templatic cộng effect qua</a:t>
              </a:r>
              <a:br/>
              <a:r>
                <a:rPr lang="vi" sz="1350" dirty="0">
                  <a:solidFill>
                    <a:schemeClr val="accent5"/>
                  </a:solidFill>
                  <a:latin typeface="+mn-lt"/>
                  <a:ea typeface="+mn-ea"/>
                  <a:cs typeface="+mn-cs"/>
                </a:rPr>
                <a:t>các vị trí rồi mới lấy mean.</a:t>
              </a:r>
            </a:p>
          </p:txBody>
        </p:sp>
      </p:grpSp>
      <p:grpSp>
        <p:nvGrpSpPr>
          <p:cNvPr id="16" name="p12-chi-phi"/>
          <p:cNvGrpSpPr/>
          <p:nvPr/>
        </p:nvGrpSpPr>
        <p:grpSpPr>
          <a:xfrm>
            <a:off x="609600" y="5867400"/>
            <a:ext cx="8512085" cy="424434"/>
            <a:chOff x="609600" y="5867400"/>
            <a:chExt cx="8512085" cy="424434"/>
          </a:xfrm>
        </p:grpSpPr>
        <p:sp>
          <p:nvSpPr>
            <p:cNvPr id="14" name="Rectangle 14"/>
            <p:cNvSpPr/>
            <p:nvPr/>
          </p:nvSpPr>
          <p:spPr>
            <a:xfrm>
              <a:off x="609600" y="5867400"/>
              <a:ext cx="76200" cy="381000"/>
            </a:xfrm>
            <a:prstGeom prst="roundRect">
              <a:avLst>
                <a:gd name="adj" fmla="val 50000"/>
              </a:avLst>
            </a:prstGeom>
            <a:solidFill>
              <a:schemeClr val="accent2"/>
            </a:solidFill>
            <a:ln>
              <a:noFill/>
            </a:ln>
          </p:spPr>
        </p:sp>
        <p:sp>
          <p:nvSpPr>
            <p:cNvPr id="15" name="TextBox 15"/>
            <p:cNvSpPr txBox="1"/>
            <p:nvPr/>
          </p:nvSpPr>
          <p:spPr>
            <a:xfrm>
              <a:off x="943356" y="5939790"/>
              <a:ext cx="8178329"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Quy trình chạy được vì bước 2 chỉ tốn một backward pass cho toàn bộ node.</a:t>
              </a:r>
            </a:p>
          </p:txBody>
        </p:sp>
      </p:grpSp>
      <p:sp>
        <p:nvSpPr>
          <p:cNvPr id="17" name="TextBox 17"/>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12</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5612461" cy="1523619"/>
            <a:chOff x="592836" y="651510"/>
            <a:chExt cx="5612461" cy="1523619"/>
          </a:xfrm>
        </p:grpSpPr>
        <p:sp>
          <p:nvSpPr>
            <p:cNvPr id="4" name="TextBox 4"/>
            <p:cNvSpPr txBox="1"/>
            <p:nvPr/>
          </p:nvSpPr>
          <p:spPr>
            <a:xfrm>
              <a:off x="603504" y="651510"/>
              <a:ext cx="155298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2. Phương pháp</a:t>
              </a:r>
            </a:p>
          </p:txBody>
        </p:sp>
        <p:sp>
          <p:nvSpPr>
            <p:cNvPr id="5" name="TextBox 5"/>
            <p:cNvSpPr txBox="1"/>
            <p:nvPr/>
          </p:nvSpPr>
          <p:spPr>
            <a:xfrm>
              <a:off x="592836" y="1034415"/>
              <a:ext cx="5612461"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Ba thủ thuật khiến autograd</a:t>
              </a:r>
              <a:br/>
              <a:r>
                <a:rPr lang="vi" sz="3300" b="1" dirty="0">
                  <a:solidFill>
                    <a:schemeClr val="dk1"/>
                  </a:solidFill>
                  <a:latin typeface="+mn-lt"/>
                  <a:ea typeface="+mn-ea"/>
                  <a:cs typeface="+mn-cs"/>
                </a:rPr>
                <a:t>nhìn thấy đúng thứ cần nhìn</a:t>
              </a:r>
            </a:p>
          </p:txBody>
        </p:sp>
      </p:grpSp>
      <p:grpSp>
        <p:nvGrpSpPr>
          <p:cNvPr id="11" name="p13-thu-thuat"/>
          <p:cNvGrpSpPr/>
          <p:nvPr/>
        </p:nvGrpSpPr>
        <p:grpSpPr>
          <a:xfrm>
            <a:off x="602742" y="2178368"/>
            <a:ext cx="6714771" cy="2683383"/>
            <a:chOff x="602742" y="2178368"/>
            <a:chExt cx="6714771" cy="2683383"/>
          </a:xfrm>
        </p:grpSpPr>
        <p:sp>
          <p:nvSpPr>
            <p:cNvPr id="7" name="TextBox 7"/>
            <p:cNvSpPr txBox="1"/>
            <p:nvPr/>
          </p:nvSpPr>
          <p:spPr>
            <a:xfrm>
              <a:off x="602742" y="2178368"/>
              <a:ext cx="5493875" cy="511683"/>
            </a:xfrm>
            <a:prstGeom prst="rect">
              <a:avLst/>
            </a:prstGeom>
            <a:noFill/>
            <a:ln>
              <a:noFill/>
            </a:ln>
          </p:spPr>
          <p:txBody>
            <a:bodyPr wrap="none" lIns="0" tIns="0" rIns="0" bIns="0" anchor="t" anchorCtr="0">
              <a:spAutoFit/>
            </a:bodyPr>
            <a:lstStyle/>
            <a:p>
              <a:pPr algn="l">
                <a:lnSpc>
                  <a:spcPts val="1950"/>
                </a:lnSpc>
              </a:pPr>
              <a:r>
                <a:rPr lang="vi" sz="1350" b="1" dirty="0">
                  <a:solidFill>
                    <a:schemeClr val="accent1"/>
                  </a:solidFill>
                  <a:latin typeface="+mn-lt"/>
                  <a:ea typeface="+mn-ea"/>
                  <a:cs typeface="+mn-cs"/>
                </a:rPr>
                <a:t>(a) Can thiệp forward pass.</a:t>
              </a:r>
              <a:r>
                <a:rPr lang="el-GR" sz="1350" dirty="0">
                  <a:solidFill>
                    <a:schemeClr val="dk1"/>
                  </a:solidFill>
                  <a:latin typeface="+mn-lt"/>
                  <a:ea typeface="+mn-ea"/>
                  <a:cs typeface="+mn-cs"/>
                </a:rPr>
                <a:t xml:space="preserve"> Sau khi tính f_i(x) và ε(x) thì gán lại x. Về số</a:t>
              </a:r>
              <a:br/>
              <a:r>
                <a:rPr lang="el-GR" sz="1350" dirty="0">
                  <a:solidFill>
                    <a:schemeClr val="dk1"/>
                  </a:solidFill>
                  <a:latin typeface="+mn-lt"/>
                  <a:ea typeface="+mn-ea"/>
                  <a:cs typeface="+mn-cs"/>
                </a:rPr>
                <a:t>học x không đổi, nhưng computation graph từ đó chứa f_i và ε như biến.</a:t>
              </a:r>
            </a:p>
          </p:txBody>
        </p:sp>
        <p:sp>
          <p:nvSpPr>
            <p:cNvPr id="8" name="TextBox 8"/>
            <p:cNvSpPr txBox="1"/>
            <p:nvPr/>
          </p:nvSpPr>
          <p:spPr>
            <a:xfrm>
              <a:off x="602742" y="2902268"/>
              <a:ext cx="6714771" cy="511683"/>
            </a:xfrm>
            <a:prstGeom prst="rect">
              <a:avLst/>
            </a:prstGeom>
            <a:noFill/>
            <a:ln>
              <a:noFill/>
            </a:ln>
          </p:spPr>
          <p:txBody>
            <a:bodyPr wrap="none" lIns="0" tIns="0" rIns="0" bIns="0" anchor="t" anchorCtr="0">
              <a:spAutoFit/>
            </a:bodyPr>
            <a:lstStyle/>
            <a:p>
              <a:pPr algn="l">
                <a:lnSpc>
                  <a:spcPts val="1950"/>
                </a:lnSpc>
              </a:pPr>
              <a:r>
                <a:rPr lang="el-GR" sz="1350" b="1" dirty="0">
                  <a:solidFill>
                    <a:schemeClr val="accent1"/>
                  </a:solidFill>
                  <a:latin typeface="+mn-lt"/>
                  <a:ea typeface="+mn-ea"/>
                  <a:cs typeface="+mn-cs"/>
                </a:rPr>
                <a:t>(b) Stop-gradient trên ε.</a:t>
              </a:r>
              <a:r>
                <a:rPr lang="el-GR" sz="1350" dirty="0">
                  <a:solidFill>
                    <a:schemeClr val="dk1"/>
                  </a:solidFill>
                  <a:latin typeface="+mn-lt"/>
                  <a:ea typeface="+mn-ea"/>
                  <a:cs typeface="+mn-cs"/>
                </a:rPr>
                <a:t xml:space="preserve"> Nếu tính ε bằng x trừ x_hat một cách trực tiếp thì</a:t>
              </a:r>
              <a:br/>
              <a:r>
                <a:rPr lang="vi" sz="1350" dirty="0">
                  <a:solidFill>
                    <a:schemeClr val="dk1"/>
                  </a:solidFill>
                  <a:latin typeface="+mn-lt"/>
                  <a:ea typeface="+mn-ea"/>
                  <a:cs typeface="+mn-cs"/>
                </a:rPr>
                <a:t>gradient của f_i triệt tiêu hoàn toàn. Khắc phục bằng x_d = x_hat + stopgrad(x_u - x_hat).</a:t>
              </a:r>
            </a:p>
          </p:txBody>
        </p:sp>
        <p:sp>
          <p:nvSpPr>
            <p:cNvPr id="9" name="TextBox 9"/>
            <p:cNvSpPr txBox="1"/>
            <p:nvPr/>
          </p:nvSpPr>
          <p:spPr>
            <a:xfrm>
              <a:off x="602742" y="3626168"/>
              <a:ext cx="5843616" cy="511683"/>
            </a:xfrm>
            <a:prstGeom prst="rect">
              <a:avLst/>
            </a:prstGeom>
            <a:noFill/>
            <a:ln>
              <a:noFill/>
            </a:ln>
          </p:spPr>
          <p:txBody>
            <a:bodyPr wrap="none" lIns="0" tIns="0" rIns="0" bIns="0" anchor="t" anchorCtr="0">
              <a:spAutoFit/>
            </a:bodyPr>
            <a:lstStyle/>
            <a:p>
              <a:pPr algn="l">
                <a:lnSpc>
                  <a:spcPts val="1950"/>
                </a:lnSpc>
              </a:pPr>
              <a:r>
                <a:rPr lang="vi" sz="1350" b="1" dirty="0">
                  <a:solidFill>
                    <a:schemeClr val="accent1"/>
                  </a:solidFill>
                  <a:latin typeface="+mn-lt"/>
                  <a:ea typeface="+mn-ea"/>
                  <a:cs typeface="+mn-cs"/>
                </a:rPr>
                <a:t>(c) Pass-through gradient.</a:t>
              </a:r>
              <a:r>
                <a:rPr lang="vi" sz="1350" dirty="0">
                  <a:solidFill>
                    <a:schemeClr val="dk1"/>
                  </a:solidFill>
                  <a:latin typeface="+mn-lt"/>
                  <a:ea typeface="+mn-ea"/>
                  <a:cs typeface="+mn-cs"/>
                </a:rPr>
                <a:t xml:space="preserve"> Stop-gradient ở (b) lại chặn gradient chảy ngược</a:t>
              </a:r>
              <a:br/>
              <a:r>
                <a:rPr lang="vi" sz="1350" dirty="0">
                  <a:solidFill>
                    <a:schemeClr val="dk1"/>
                  </a:solidFill>
                  <a:latin typeface="+mn-lt"/>
                  <a:ea typeface="+mn-ea"/>
                  <a:cs typeface="+mn-cs"/>
                </a:rPr>
                <a:t>lên các node phía trên, nên paper can thiệp backward pass để khôi phục nó.</a:t>
              </a:r>
            </a:p>
          </p:txBody>
        </p:sp>
        <p:sp>
          <p:nvSpPr>
            <p:cNvPr id="10" name="TextBox 10"/>
            <p:cNvSpPr txBox="1"/>
            <p:nvPr/>
          </p:nvSpPr>
          <p:spPr>
            <a:xfrm>
              <a:off x="602742" y="4350068"/>
              <a:ext cx="6048550" cy="511683"/>
            </a:xfrm>
            <a:prstGeom prst="rect">
              <a:avLst/>
            </a:prstGeom>
            <a:noFill/>
            <a:ln>
              <a:noFill/>
            </a:ln>
          </p:spPr>
          <p:txBody>
            <a:bodyPr wrap="none" lIns="0" tIns="0" rIns="0" bIns="0" anchor="t" anchorCtr="0">
              <a:spAutoFit/>
            </a:bodyPr>
            <a:lstStyle/>
            <a:p>
              <a:pPr algn="l">
                <a:lnSpc>
                  <a:spcPts val="1950"/>
                </a:lnSpc>
              </a:pPr>
              <a:r>
                <a:rPr lang="vi" sz="1350" b="1" dirty="0">
                  <a:solidFill>
                    <a:schemeClr val="accent1"/>
                  </a:solidFill>
                  <a:latin typeface="+mn-lt"/>
                  <a:ea typeface="+mn-ea"/>
                  <a:cs typeface="+mn-cs"/>
                </a:rPr>
                <a:t>(d) Jacobian-vector product.</a:t>
              </a:r>
              <a:r>
                <a:rPr lang="vi" sz="1350" dirty="0">
                  <a:solidFill>
                    <a:schemeClr val="dk1"/>
                  </a:solidFill>
                  <a:latin typeface="+mn-lt"/>
                  <a:ea typeface="+mn-ea"/>
                  <a:cs typeface="+mn-cs"/>
                </a:rPr>
                <a:t xml:space="preserve"> Khi d là SAE error, cách ngây thơ tốn O(d_model)</a:t>
              </a:r>
              <a:br/>
              <a:r>
                <a:rPr lang="vi" sz="1350" dirty="0">
                  <a:solidFill>
                    <a:schemeClr val="dk1"/>
                  </a:solidFill>
                  <a:latin typeface="+mn-lt"/>
                  <a:ea typeface="+mn-ea"/>
                  <a:cs typeface="+mn-cs"/>
                </a:rPr>
                <a:t>backward pass; dùng một đẳng thức gradient thì chỉ cần hai.</a:t>
              </a:r>
            </a:p>
          </p:txBody>
        </p:sp>
      </p:grpSp>
      <p:grpSp>
        <p:nvGrpSpPr>
          <p:cNvPr id="14" name="p13-circuit-day-du"/>
          <p:cNvGrpSpPr/>
          <p:nvPr/>
        </p:nvGrpSpPr>
        <p:grpSpPr>
          <a:xfrm>
            <a:off x="8033004" y="1905000"/>
            <a:ext cx="2887035" cy="4181856"/>
            <a:chOff x="8033004" y="1905000"/>
            <a:chExt cx="2887035" cy="4181856"/>
          </a:xfrm>
        </p:grpSpPr>
        <p:pic>
          <p:nvPicPr>
            <p:cNvPr id="12" name="Image 12"/>
            <p:cNvPicPr>
              <a:picLocks noChangeAspect="1"/>
            </p:cNvPicPr>
            <p:nvPr/>
          </p:nvPicPr>
          <p:blipFill>
            <a:blip r:embed="rId2"/>
            <a:stretch>
              <a:fillRect/>
            </a:stretch>
          </p:blipFill>
          <p:spPr>
            <a:xfrm>
              <a:off x="8796300" y="1905000"/>
              <a:ext cx="2028899" cy="3619500"/>
            </a:xfrm>
            <a:prstGeom prst="rect">
              <a:avLst/>
            </a:prstGeom>
          </p:spPr>
        </p:pic>
        <p:sp>
          <p:nvSpPr>
            <p:cNvPr id="13" name="TextBox 13"/>
            <p:cNvSpPr txBox="1"/>
            <p:nvPr/>
          </p:nvSpPr>
          <p:spPr>
            <a:xfrm>
              <a:off x="8033004" y="5642610"/>
              <a:ext cx="2887035" cy="444246"/>
            </a:xfrm>
            <a:prstGeom prst="rect">
              <a:avLst/>
            </a:prstGeom>
            <a:noFill/>
            <a:ln>
              <a:noFill/>
            </a:ln>
          </p:spPr>
          <p:txBody>
            <a:bodyPr wrap="none" lIns="0" tIns="0" rIns="0" bIns="0" anchor="t" anchorCtr="0">
              <a:spAutoFit/>
            </a:bodyPr>
            <a:lstStyle/>
            <a:p>
              <a:pPr algn="l">
                <a:lnSpc>
                  <a:spcPts val="1650"/>
                </a:lnSpc>
              </a:pPr>
              <a:r>
                <a:rPr lang="vi" sz="1200" dirty="0">
                  <a:solidFill>
                    <a:schemeClr val="accent5"/>
                  </a:solidFill>
                  <a:latin typeface="+mn-lt"/>
                  <a:ea typeface="+mn-ea"/>
                  <a:cs typeface="+mn-cs"/>
                </a:rPr>
                <a:t>Circuit within-RC đầy đủ của Gemma-2-2B,</a:t>
              </a:r>
              <a:br/>
              <a:r>
                <a:rPr lang="vi" sz="1200" dirty="0">
                  <a:solidFill>
                    <a:schemeClr val="accent5"/>
                  </a:solidFill>
                  <a:latin typeface="+mn-lt"/>
                  <a:ea typeface="+mn-ea"/>
                  <a:cs typeface="+mn-cs"/>
                </a:rPr>
                <a:t>với T_N = 0.5 và T_E = 0.05</a:t>
              </a:r>
            </a:p>
          </p:txBody>
        </p:sp>
      </p:grpSp>
      <p:grpSp>
        <p:nvGrpSpPr>
          <p:cNvPr id="17" name="p13-nguong"/>
          <p:cNvGrpSpPr/>
          <p:nvPr/>
        </p:nvGrpSpPr>
        <p:grpSpPr>
          <a:xfrm>
            <a:off x="609600" y="5334000"/>
            <a:ext cx="6876506" cy="457200"/>
            <a:chOff x="609600" y="5334000"/>
            <a:chExt cx="6876506" cy="457200"/>
          </a:xfrm>
        </p:grpSpPr>
        <p:sp>
          <p:nvSpPr>
            <p:cNvPr id="15" name="Rectangle 15"/>
            <p:cNvSpPr/>
            <p:nvPr/>
          </p:nvSpPr>
          <p:spPr>
            <a:xfrm>
              <a:off x="609600" y="5334000"/>
              <a:ext cx="76200" cy="457200"/>
            </a:xfrm>
            <a:prstGeom prst="roundRect">
              <a:avLst>
                <a:gd name="adj" fmla="val 50000"/>
              </a:avLst>
            </a:prstGeom>
            <a:solidFill>
              <a:schemeClr val="accent2"/>
            </a:solidFill>
            <a:ln>
              <a:noFill/>
            </a:ln>
          </p:spPr>
        </p:sp>
        <p:sp>
          <p:nvSpPr>
            <p:cNvPr id="16" name="TextBox 16"/>
            <p:cNvSpPr txBox="1"/>
            <p:nvPr/>
          </p:nvSpPr>
          <p:spPr>
            <a:xfrm>
              <a:off x="944118" y="5460682"/>
              <a:ext cx="6541988" cy="322707"/>
            </a:xfrm>
            <a:prstGeom prst="rect">
              <a:avLst/>
            </a:prstGeom>
            <a:noFill/>
            <a:ln>
              <a:noFill/>
            </a:ln>
          </p:spPr>
          <p:txBody>
            <a:bodyPr wrap="none" lIns="0" tIns="0" rIns="0" bIns="0" anchor="t" anchorCtr="0">
              <a:spAutoFit/>
            </a:bodyPr>
            <a:lstStyle/>
            <a:p>
              <a:pPr algn="l"/>
              <a:r>
                <a:rPr lang="vi" sz="1650" dirty="0">
                  <a:solidFill>
                    <a:schemeClr val="dk1"/>
                  </a:solidFill>
                  <a:latin typeface="+mn-lt"/>
                  <a:ea typeface="+mn-ea"/>
                  <a:cs typeface="+mn-cs"/>
                </a:rPr>
                <a:t>T_N và T_E được chỉnh bằng tay tới khi circuit đủ nhỏ để chú thích.</a:t>
              </a:r>
            </a:p>
          </p:txBody>
        </p:sp>
      </p:grpSp>
      <p:sp>
        <p:nvSpPr>
          <p:cNvPr id="18" name="TextBox 1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13</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7152947" cy="1523619"/>
            <a:chOff x="592836" y="651510"/>
            <a:chExt cx="7152947" cy="1523619"/>
          </a:xfrm>
        </p:grpSpPr>
        <p:sp>
          <p:nvSpPr>
            <p:cNvPr id="4" name="TextBox 4"/>
            <p:cNvSpPr txBox="1"/>
            <p:nvPr/>
          </p:nvSpPr>
          <p:spPr>
            <a:xfrm>
              <a:off x="603504" y="651510"/>
              <a:ext cx="230838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3. Subject-verb agreement</a:t>
              </a:r>
            </a:p>
          </p:txBody>
        </p:sp>
        <p:sp>
          <p:nvSpPr>
            <p:cNvPr id="5" name="TextBox 5"/>
            <p:cNvSpPr txBox="1"/>
            <p:nvPr/>
          </p:nvSpPr>
          <p:spPr>
            <a:xfrm>
              <a:off x="592836" y="1034415"/>
              <a:ext cx="7152947"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Bốn biến thể, mỗi cặp chỉ khác nhau</a:t>
              </a:r>
              <a:br/>
              <a:r>
                <a:rPr lang="vi" sz="3300" b="1" dirty="0">
                  <a:solidFill>
                    <a:schemeClr val="dk1"/>
                  </a:solidFill>
                  <a:latin typeface="+mn-lt"/>
                  <a:ea typeface="+mn-ea"/>
                  <a:cs typeface="+mn-cs"/>
                </a:rPr>
                <a:t>ở số ngữ pháp của chủ ngữ</a:t>
              </a:r>
            </a:p>
          </p:txBody>
        </p:sp>
      </p:grpSp>
      <p:grpSp>
        <p:nvGrpSpPr>
          <p:cNvPr id="27" name="p14-bon-cau-truc"/>
          <p:cNvGrpSpPr/>
          <p:nvPr/>
        </p:nvGrpSpPr>
        <p:grpSpPr>
          <a:xfrm>
            <a:off x="600456" y="2635568"/>
            <a:ext cx="10990326" cy="2498407"/>
            <a:chOff x="600456" y="2635568"/>
            <a:chExt cx="10990326" cy="2498407"/>
          </a:xfrm>
        </p:grpSpPr>
        <p:sp>
          <p:nvSpPr>
            <p:cNvPr id="7" name="TextBox 7"/>
            <p:cNvSpPr txBox="1"/>
            <p:nvPr/>
          </p:nvSpPr>
          <p:spPr>
            <a:xfrm>
              <a:off x="602742" y="2635568"/>
              <a:ext cx="688301"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Cấu trúc</a:t>
              </a:r>
            </a:p>
          </p:txBody>
        </p:sp>
        <p:sp>
          <p:nvSpPr>
            <p:cNvPr id="8" name="TextBox 8"/>
            <p:cNvSpPr txBox="1"/>
            <p:nvPr/>
          </p:nvSpPr>
          <p:spPr>
            <a:xfrm>
              <a:off x="2507742" y="2635568"/>
              <a:ext cx="843652"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Input mẫu</a:t>
              </a:r>
            </a:p>
          </p:txBody>
        </p:sp>
        <p:sp>
          <p:nvSpPr>
            <p:cNvPr id="9" name="TextBox 9"/>
            <p:cNvSpPr txBox="1"/>
            <p:nvPr/>
          </p:nvSpPr>
          <p:spPr>
            <a:xfrm>
              <a:off x="11059731" y="2635568"/>
              <a:ext cx="529527" cy="264033"/>
            </a:xfrm>
            <a:prstGeom prst="rect">
              <a:avLst/>
            </a:prstGeom>
            <a:noFill/>
            <a:ln>
              <a:noFill/>
            </a:ln>
          </p:spPr>
          <p:txBody>
            <a:bodyPr wrap="none" lIns="0" tIns="0" rIns="0" bIns="0" anchor="t" anchorCtr="0">
              <a:spAutoFit/>
            </a:bodyPr>
            <a:lstStyle/>
            <a:p>
              <a:pPr algn="r"/>
              <a:r>
                <a:rPr lang="vi" sz="1350" dirty="0">
                  <a:solidFill>
                    <a:schemeClr val="accent5"/>
                  </a:solidFill>
                  <a:latin typeface="+mn-lt"/>
                  <a:ea typeface="+mn-ea"/>
                  <a:cs typeface="+mn-cs"/>
                </a:rPr>
                <a:t>Metric</a:t>
              </a:r>
            </a:p>
          </p:txBody>
        </p:sp>
        <p:sp>
          <p:nvSpPr>
            <p:cNvPr id="10" name="Line 10"/>
            <p:cNvSpPr/>
            <p:nvPr/>
          </p:nvSpPr>
          <p:spPr>
            <a:xfrm>
              <a:off x="609600" y="2914650"/>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11" name="TextBox 11"/>
            <p:cNvSpPr txBox="1"/>
            <p:nvPr/>
          </p:nvSpPr>
          <p:spPr>
            <a:xfrm>
              <a:off x="600456" y="3139440"/>
              <a:ext cx="802482" cy="352044"/>
            </a:xfrm>
            <a:prstGeom prst="rect">
              <a:avLst/>
            </a:prstGeom>
            <a:noFill/>
            <a:ln>
              <a:noFill/>
            </a:ln>
          </p:spPr>
          <p:txBody>
            <a:bodyPr wrap="none" lIns="0" tIns="0" rIns="0" bIns="0" anchor="t" anchorCtr="0">
              <a:spAutoFit/>
            </a:bodyPr>
            <a:lstStyle/>
            <a:p>
              <a:pPr algn="l"/>
              <a:r>
                <a:rPr lang="vi" sz="1800" b="1" dirty="0">
                  <a:solidFill>
                    <a:schemeClr val="accent1"/>
                  </a:solidFill>
                  <a:latin typeface="+mn-lt"/>
                  <a:ea typeface="+mn-ea"/>
                  <a:cs typeface="+mn-cs"/>
                </a:rPr>
                <a:t>Simple</a:t>
              </a:r>
            </a:p>
          </p:txBody>
        </p:sp>
        <p:sp>
          <p:nvSpPr>
            <p:cNvPr id="12" name="TextBox 12"/>
            <p:cNvSpPr txBox="1"/>
            <p:nvPr/>
          </p:nvSpPr>
          <p:spPr>
            <a:xfrm>
              <a:off x="2505456" y="3139440"/>
              <a:ext cx="1281370"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The parents</a:t>
              </a:r>
            </a:p>
          </p:txBody>
        </p:sp>
        <p:sp>
          <p:nvSpPr>
            <p:cNvPr id="13" name="TextBox 13"/>
            <p:cNvSpPr txBox="1"/>
            <p:nvPr/>
          </p:nvSpPr>
          <p:spPr>
            <a:xfrm>
              <a:off x="9863671" y="3155632"/>
              <a:ext cx="1727111" cy="322707"/>
            </a:xfrm>
            <a:prstGeom prst="rect">
              <a:avLst/>
            </a:prstGeom>
            <a:noFill/>
            <a:ln>
              <a:noFill/>
            </a:ln>
          </p:spPr>
          <p:txBody>
            <a:bodyPr wrap="none" lIns="0" tIns="0" rIns="0" bIns="0" anchor="t" anchorCtr="0">
              <a:spAutoFit/>
            </a:bodyPr>
            <a:lstStyle/>
            <a:p>
              <a:pPr algn="r"/>
              <a:r>
                <a:rPr lang="vi" sz="1650" dirty="0">
                  <a:solidFill>
                    <a:schemeClr val="dk1"/>
                  </a:solidFill>
                  <a:latin typeface="Consolas"/>
                  <a:ea typeface="Consolas"/>
                  <a:cs typeface="Consolas"/>
                </a:rPr>
                <a:t>p(is) - p(are)</a:t>
              </a:r>
            </a:p>
          </p:txBody>
        </p:sp>
        <p:sp>
          <p:nvSpPr>
            <p:cNvPr id="14" name="Line 14"/>
            <p:cNvSpPr/>
            <p:nvPr/>
          </p:nvSpPr>
          <p:spPr>
            <a:xfrm>
              <a:off x="609600" y="3524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600456" y="3672840"/>
              <a:ext cx="1186841" cy="352044"/>
            </a:xfrm>
            <a:prstGeom prst="rect">
              <a:avLst/>
            </a:prstGeom>
            <a:noFill/>
            <a:ln>
              <a:noFill/>
            </a:ln>
          </p:spPr>
          <p:txBody>
            <a:bodyPr wrap="none" lIns="0" tIns="0" rIns="0" bIns="0" anchor="t" anchorCtr="0">
              <a:spAutoFit/>
            </a:bodyPr>
            <a:lstStyle/>
            <a:p>
              <a:pPr algn="l"/>
              <a:r>
                <a:rPr lang="vi" sz="1800" b="1" dirty="0">
                  <a:solidFill>
                    <a:schemeClr val="accent1"/>
                  </a:solidFill>
                  <a:latin typeface="+mn-lt"/>
                  <a:ea typeface="+mn-ea"/>
                  <a:cs typeface="+mn-cs"/>
                </a:rPr>
                <a:t>Within RC</a:t>
              </a:r>
            </a:p>
          </p:txBody>
        </p:sp>
        <p:sp>
          <p:nvSpPr>
            <p:cNvPr id="16" name="TextBox 16"/>
            <p:cNvSpPr txBox="1"/>
            <p:nvPr/>
          </p:nvSpPr>
          <p:spPr>
            <a:xfrm>
              <a:off x="2505456" y="3672840"/>
              <a:ext cx="3238212"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The athlete that the managers</a:t>
              </a:r>
            </a:p>
          </p:txBody>
        </p:sp>
        <p:sp>
          <p:nvSpPr>
            <p:cNvPr id="17" name="TextBox 17"/>
            <p:cNvSpPr txBox="1"/>
            <p:nvPr/>
          </p:nvSpPr>
          <p:spPr>
            <a:xfrm>
              <a:off x="9375000" y="3689032"/>
              <a:ext cx="2215782" cy="322707"/>
            </a:xfrm>
            <a:prstGeom prst="rect">
              <a:avLst/>
            </a:prstGeom>
            <a:noFill/>
            <a:ln>
              <a:noFill/>
            </a:ln>
          </p:spPr>
          <p:txBody>
            <a:bodyPr wrap="none" lIns="0" tIns="0" rIns="0" bIns="0" anchor="t" anchorCtr="0">
              <a:spAutoFit/>
            </a:bodyPr>
            <a:lstStyle/>
            <a:p>
              <a:pPr algn="r"/>
              <a:r>
                <a:rPr lang="vi" sz="1650" dirty="0">
                  <a:solidFill>
                    <a:schemeClr val="dk1"/>
                  </a:solidFill>
                  <a:latin typeface="Consolas"/>
                  <a:ea typeface="Consolas"/>
                  <a:cs typeface="Consolas"/>
                </a:rPr>
                <a:t>p(likes) - p(like)</a:t>
              </a:r>
            </a:p>
          </p:txBody>
        </p:sp>
        <p:sp>
          <p:nvSpPr>
            <p:cNvPr id="18" name="Line 18"/>
            <p:cNvSpPr/>
            <p:nvPr/>
          </p:nvSpPr>
          <p:spPr>
            <a:xfrm>
              <a:off x="609600" y="40576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600456" y="4206240"/>
              <a:ext cx="1162763" cy="352044"/>
            </a:xfrm>
            <a:prstGeom prst="rect">
              <a:avLst/>
            </a:prstGeom>
            <a:noFill/>
            <a:ln>
              <a:noFill/>
            </a:ln>
          </p:spPr>
          <p:txBody>
            <a:bodyPr wrap="none" lIns="0" tIns="0" rIns="0" bIns="0" anchor="t" anchorCtr="0">
              <a:spAutoFit/>
            </a:bodyPr>
            <a:lstStyle/>
            <a:p>
              <a:pPr algn="l"/>
              <a:r>
                <a:rPr lang="vi" sz="1800" b="1" dirty="0">
                  <a:solidFill>
                    <a:schemeClr val="accent1"/>
                  </a:solidFill>
                  <a:latin typeface="+mn-lt"/>
                  <a:ea typeface="+mn-ea"/>
                  <a:cs typeface="+mn-cs"/>
                </a:rPr>
                <a:t>Across RC</a:t>
              </a:r>
            </a:p>
          </p:txBody>
        </p:sp>
        <p:sp>
          <p:nvSpPr>
            <p:cNvPr id="20" name="TextBox 20"/>
            <p:cNvSpPr txBox="1"/>
            <p:nvPr/>
          </p:nvSpPr>
          <p:spPr>
            <a:xfrm>
              <a:off x="2505456" y="4206240"/>
              <a:ext cx="3668984"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The athlete that the managers like</a:t>
              </a:r>
            </a:p>
          </p:txBody>
        </p:sp>
        <p:sp>
          <p:nvSpPr>
            <p:cNvPr id="21" name="TextBox 21"/>
            <p:cNvSpPr txBox="1"/>
            <p:nvPr/>
          </p:nvSpPr>
          <p:spPr>
            <a:xfrm>
              <a:off x="9741503" y="4222432"/>
              <a:ext cx="1849279" cy="322707"/>
            </a:xfrm>
            <a:prstGeom prst="rect">
              <a:avLst/>
            </a:prstGeom>
            <a:noFill/>
            <a:ln>
              <a:noFill/>
            </a:ln>
          </p:spPr>
          <p:txBody>
            <a:bodyPr wrap="none" lIns="0" tIns="0" rIns="0" bIns="0" anchor="t" anchorCtr="0">
              <a:spAutoFit/>
            </a:bodyPr>
            <a:lstStyle/>
            <a:p>
              <a:pPr algn="r"/>
              <a:r>
                <a:rPr lang="vi" sz="1650" dirty="0">
                  <a:solidFill>
                    <a:schemeClr val="dk1"/>
                  </a:solidFill>
                  <a:latin typeface="Consolas"/>
                  <a:ea typeface="Consolas"/>
                  <a:cs typeface="Consolas"/>
                </a:rPr>
                <a:t>p(do) - p(does)</a:t>
              </a:r>
            </a:p>
          </p:txBody>
        </p:sp>
        <p:sp>
          <p:nvSpPr>
            <p:cNvPr id="22" name="Line 22"/>
            <p:cNvSpPr/>
            <p:nvPr/>
          </p:nvSpPr>
          <p:spPr>
            <a:xfrm>
              <a:off x="609600" y="45910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600456" y="4739640"/>
              <a:ext cx="1150836" cy="352044"/>
            </a:xfrm>
            <a:prstGeom prst="rect">
              <a:avLst/>
            </a:prstGeom>
            <a:noFill/>
            <a:ln>
              <a:noFill/>
            </a:ln>
          </p:spPr>
          <p:txBody>
            <a:bodyPr wrap="none" lIns="0" tIns="0" rIns="0" bIns="0" anchor="t" anchorCtr="0">
              <a:spAutoFit/>
            </a:bodyPr>
            <a:lstStyle/>
            <a:p>
              <a:pPr algn="l"/>
              <a:r>
                <a:rPr lang="vi" sz="1800" b="1" dirty="0">
                  <a:solidFill>
                    <a:schemeClr val="accent1"/>
                  </a:solidFill>
                  <a:latin typeface="+mn-lt"/>
                  <a:ea typeface="+mn-ea"/>
                  <a:cs typeface="+mn-cs"/>
                </a:rPr>
                <a:t>Across PP</a:t>
              </a:r>
            </a:p>
          </p:txBody>
        </p:sp>
        <p:sp>
          <p:nvSpPr>
            <p:cNvPr id="24" name="TextBox 24"/>
            <p:cNvSpPr txBox="1"/>
            <p:nvPr/>
          </p:nvSpPr>
          <p:spPr>
            <a:xfrm>
              <a:off x="2505456" y="4739640"/>
              <a:ext cx="3051449"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The secretaries near the cars</a:t>
              </a:r>
            </a:p>
          </p:txBody>
        </p:sp>
        <p:sp>
          <p:nvSpPr>
            <p:cNvPr id="25" name="TextBox 25"/>
            <p:cNvSpPr txBox="1"/>
            <p:nvPr/>
          </p:nvSpPr>
          <p:spPr>
            <a:xfrm>
              <a:off x="9619336" y="4755832"/>
              <a:ext cx="1971446" cy="322707"/>
            </a:xfrm>
            <a:prstGeom prst="rect">
              <a:avLst/>
            </a:prstGeom>
            <a:noFill/>
            <a:ln>
              <a:noFill/>
            </a:ln>
          </p:spPr>
          <p:txBody>
            <a:bodyPr wrap="none" lIns="0" tIns="0" rIns="0" bIns="0" anchor="t" anchorCtr="0">
              <a:spAutoFit/>
            </a:bodyPr>
            <a:lstStyle/>
            <a:p>
              <a:pPr algn="r"/>
              <a:r>
                <a:rPr lang="vi" sz="1650" dirty="0">
                  <a:solidFill>
                    <a:schemeClr val="dk1"/>
                  </a:solidFill>
                  <a:latin typeface="Consolas"/>
                  <a:ea typeface="Consolas"/>
                  <a:cs typeface="Consolas"/>
                </a:rPr>
                <a:t>p(has) - p(have)</a:t>
              </a:r>
            </a:p>
          </p:txBody>
        </p:sp>
        <p:sp>
          <p:nvSpPr>
            <p:cNvPr id="26" name="Line 26"/>
            <p:cNvSpPr/>
            <p:nvPr/>
          </p:nvSpPr>
          <p:spPr>
            <a:xfrm>
              <a:off x="609600" y="51244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0" name="p14-nguon"/>
          <p:cNvGrpSpPr/>
          <p:nvPr/>
        </p:nvGrpSpPr>
        <p:grpSpPr>
          <a:xfrm>
            <a:off x="609600" y="5524500"/>
            <a:ext cx="7733938" cy="697039"/>
            <a:chOff x="609600" y="5524500"/>
            <a:chExt cx="7733938" cy="697039"/>
          </a:xfrm>
        </p:grpSpPr>
        <p:sp>
          <p:nvSpPr>
            <p:cNvPr id="28" name="Rectangle 28"/>
            <p:cNvSpPr/>
            <p:nvPr/>
          </p:nvSpPr>
          <p:spPr>
            <a:xfrm>
              <a:off x="609600" y="5524500"/>
              <a:ext cx="76200" cy="609600"/>
            </a:xfrm>
            <a:prstGeom prst="roundRect">
              <a:avLst>
                <a:gd name="adj" fmla="val 50000"/>
              </a:avLst>
            </a:prstGeom>
            <a:solidFill>
              <a:schemeClr val="accent2"/>
            </a:solidFill>
            <a:ln>
              <a:noFill/>
            </a:ln>
          </p:spPr>
        </p:sp>
        <p:sp>
          <p:nvSpPr>
            <p:cNvPr id="29" name="TextBox 29"/>
            <p:cNvSpPr txBox="1"/>
            <p:nvPr/>
          </p:nvSpPr>
          <p:spPr>
            <a:xfrm>
              <a:off x="944118" y="5613082"/>
              <a:ext cx="7399420" cy="608457"/>
            </a:xfrm>
            <a:prstGeom prst="rect">
              <a:avLst/>
            </a:prstGeom>
            <a:noFill/>
            <a:ln>
              <a:noFill/>
            </a:ln>
          </p:spPr>
          <p:txBody>
            <a:bodyPr wrap="none" lIns="0" tIns="0" rIns="0" bIns="0" anchor="t" anchorCtr="0">
              <a:spAutoFit/>
            </a:bodyPr>
            <a:lstStyle/>
            <a:p>
              <a:pPr algn="l">
                <a:lnSpc>
                  <a:spcPts val="2250"/>
                </a:lnSpc>
              </a:pPr>
              <a:r>
                <a:rPr lang="vi" sz="1650" dirty="0">
                  <a:solidFill>
                    <a:schemeClr val="dk1"/>
                  </a:solidFill>
                  <a:latin typeface="+mn-lt"/>
                  <a:ea typeface="+mn-ea"/>
                  <a:cs typeface="+mn-cs"/>
                </a:rPr>
                <a:t>Dữ liệu phỏng theo Finlayson et al. 2021, cũng là nơi phát hiện rằng model xử lý</a:t>
              </a:r>
              <a:br/>
              <a:r>
                <a:rPr lang="vi" sz="1650" dirty="0">
                  <a:solidFill>
                    <a:schemeClr val="dk1"/>
                  </a:solidFill>
                  <a:latin typeface="+mn-lt"/>
                  <a:ea typeface="+mn-ea"/>
                  <a:cs typeface="+mn-cs"/>
                </a:rPr>
                <a:t>simple agreement khác với agreement qua mệnh đề quan hệ và cụm giới từ.</a:t>
              </a:r>
            </a:p>
          </p:txBody>
        </p:sp>
      </p:grpSp>
      <p:sp>
        <p:nvSpPr>
          <p:cNvPr id="31" name="TextBox 31"/>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14</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542277" cy="1523619"/>
            <a:chOff x="592836" y="651510"/>
            <a:chExt cx="6542277" cy="1523619"/>
          </a:xfrm>
        </p:grpSpPr>
        <p:sp>
          <p:nvSpPr>
            <p:cNvPr id="4" name="TextBox 4"/>
            <p:cNvSpPr txBox="1"/>
            <p:nvPr/>
          </p:nvSpPr>
          <p:spPr>
            <a:xfrm>
              <a:off x="603504" y="651510"/>
              <a:ext cx="230838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3. Subject-verb agreement</a:t>
              </a:r>
            </a:p>
          </p:txBody>
        </p:sp>
        <p:sp>
          <p:nvSpPr>
            <p:cNvPr id="5" name="TextBox 5"/>
            <p:cNvSpPr txBox="1"/>
            <p:nvPr/>
          </p:nvSpPr>
          <p:spPr>
            <a:xfrm>
              <a:off x="592836" y="1034415"/>
              <a:ext cx="6542277"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Ba tiêu chí, và một lựa chọn</a:t>
              </a:r>
              <a:br/>
              <a:r>
                <a:rPr lang="vi" sz="3300" b="1" dirty="0">
                  <a:solidFill>
                    <a:schemeClr val="dk1"/>
                  </a:solidFill>
                  <a:latin typeface="+mn-lt"/>
                  <a:ea typeface="+mn-ea"/>
                  <a:cs typeface="+mn-cs"/>
                </a:rPr>
                <a:t>phương pháp luận đáng chất vấn</a:t>
              </a:r>
            </a:p>
          </p:txBody>
        </p:sp>
      </p:grpSp>
      <p:grpSp>
        <p:nvGrpSpPr>
          <p:cNvPr id="12" name="p15-interpretability"/>
          <p:cNvGrpSpPr/>
          <p:nvPr/>
        </p:nvGrpSpPr>
        <p:grpSpPr>
          <a:xfrm>
            <a:off x="601218" y="2286000"/>
            <a:ext cx="2319494" cy="1680401"/>
            <a:chOff x="601218" y="2286000"/>
            <a:chExt cx="2319494" cy="1680401"/>
          </a:xfrm>
        </p:grpSpPr>
        <p:sp>
          <p:nvSpPr>
            <p:cNvPr id="7" name="Rectangle 7"/>
            <p:cNvSpPr/>
            <p:nvPr/>
          </p:nvSpPr>
          <p:spPr>
            <a:xfrm>
              <a:off x="647700" y="2324100"/>
              <a:ext cx="419100" cy="419100"/>
            </a:xfrm>
            <a:prstGeom prst="roundRect">
              <a:avLst>
                <a:gd name="adj" fmla="val 22727"/>
              </a:avLst>
            </a:prstGeom>
            <a:noFill/>
            <a:ln w="14288">
              <a:solidFill>
                <a:srgbClr val="1B2430"/>
              </a:solidFill>
            </a:ln>
          </p:spPr>
        </p:sp>
        <p:sp>
          <p:nvSpPr>
            <p:cNvPr id="8" name="Rectangle 8"/>
            <p:cNvSpPr/>
            <p:nvPr/>
          </p:nvSpPr>
          <p:spPr>
            <a:xfrm>
              <a:off x="609600" y="2286000"/>
              <a:ext cx="419100" cy="419100"/>
            </a:xfrm>
            <a:prstGeom prst="roundRect">
              <a:avLst>
                <a:gd name="adj" fmla="val 22727"/>
              </a:avLst>
            </a:prstGeom>
            <a:solidFill>
              <a:schemeClr val="accent1"/>
            </a:solidFill>
            <a:ln w="14288">
              <a:solidFill>
                <a:srgbClr val="1B2430"/>
              </a:solidFill>
            </a:ln>
          </p:spPr>
        </p:sp>
        <p:sp>
          <p:nvSpPr>
            <p:cNvPr id="9" name="TextBox 9"/>
            <p:cNvSpPr txBox="1"/>
            <p:nvPr/>
          </p:nvSpPr>
          <p:spPr>
            <a:xfrm>
              <a:off x="695380" y="2400300"/>
              <a:ext cx="247540" cy="293370"/>
            </a:xfrm>
            <a:prstGeom prst="rect">
              <a:avLst/>
            </a:prstGeom>
            <a:noFill/>
            <a:ln>
              <a:noFill/>
            </a:ln>
          </p:spPr>
          <p:txBody>
            <a:bodyPr wrap="none" lIns="0" tIns="0" rIns="0" bIns="0" anchor="t" anchorCtr="0">
              <a:spAutoFit/>
            </a:bodyPr>
            <a:lstStyle/>
            <a:p>
              <a:pPr algn="ctr"/>
              <a:r>
                <a:rPr lang="vi" sz="1500" b="1" dirty="0">
                  <a:solidFill>
                    <a:srgbClr val="FFFFFF"/>
                  </a:solidFill>
                  <a:latin typeface="+mn-lt"/>
                  <a:ea typeface="+mn-ea"/>
                  <a:cs typeface="+mn-cs"/>
                </a:rPr>
                <a:t>01</a:t>
              </a:r>
            </a:p>
          </p:txBody>
        </p:sp>
        <p:sp>
          <p:nvSpPr>
            <p:cNvPr id="10" name="TextBox 10"/>
            <p:cNvSpPr txBox="1"/>
            <p:nvPr/>
          </p:nvSpPr>
          <p:spPr>
            <a:xfrm>
              <a:off x="601218" y="2869882"/>
              <a:ext cx="1607553"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Interpretability</a:t>
              </a:r>
            </a:p>
          </p:txBody>
        </p:sp>
        <p:sp>
          <p:nvSpPr>
            <p:cNvPr id="11" name="TextBox 11"/>
            <p:cNvSpPr txBox="1"/>
            <p:nvPr/>
          </p:nvSpPr>
          <p:spPr>
            <a:xfrm>
              <a:off x="602742" y="3207068"/>
              <a:ext cx="2317970"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Crowdworker chấm 0-100 trên</a:t>
              </a:r>
              <a:br/>
              <a:r>
                <a:rPr lang="vi" sz="1350" dirty="0">
                  <a:solidFill>
                    <a:schemeClr val="accent5"/>
                  </a:solidFill>
                  <a:latin typeface="+mn-lt"/>
                  <a:ea typeface="+mn-ea"/>
                  <a:cs typeface="+mn-cs"/>
                </a:rPr>
                <a:t>các đoạn kích hoạt mạnh nhất</a:t>
              </a:r>
              <a:br/>
              <a:r>
                <a:rPr lang="vi" sz="1350" dirty="0">
                  <a:solidFill>
                    <a:schemeClr val="accent5"/>
                  </a:solidFill>
                  <a:latin typeface="+mn-lt"/>
                  <a:ea typeface="+mn-ea"/>
                  <a:cs typeface="+mn-cs"/>
                </a:rPr>
                <a:t>của từng đơn vị.</a:t>
              </a:r>
            </a:p>
          </p:txBody>
        </p:sp>
      </p:grpSp>
      <p:grpSp>
        <p:nvGrpSpPr>
          <p:cNvPr id="18" name="p15-faithfulness"/>
          <p:cNvGrpSpPr/>
          <p:nvPr/>
        </p:nvGrpSpPr>
        <p:grpSpPr>
          <a:xfrm>
            <a:off x="4354068" y="2286000"/>
            <a:ext cx="2506203" cy="1680401"/>
            <a:chOff x="4354068" y="2286000"/>
            <a:chExt cx="2506203" cy="1680401"/>
          </a:xfrm>
        </p:grpSpPr>
        <p:sp>
          <p:nvSpPr>
            <p:cNvPr id="13" name="Rectangle 13"/>
            <p:cNvSpPr/>
            <p:nvPr/>
          </p:nvSpPr>
          <p:spPr>
            <a:xfrm>
              <a:off x="4400550" y="2324100"/>
              <a:ext cx="419100" cy="419100"/>
            </a:xfrm>
            <a:prstGeom prst="roundRect">
              <a:avLst>
                <a:gd name="adj" fmla="val 22727"/>
              </a:avLst>
            </a:prstGeom>
            <a:noFill/>
            <a:ln w="14288">
              <a:solidFill>
                <a:srgbClr val="1B2430"/>
              </a:solidFill>
            </a:ln>
          </p:spPr>
        </p:sp>
        <p:sp>
          <p:nvSpPr>
            <p:cNvPr id="14" name="Rectangle 14"/>
            <p:cNvSpPr/>
            <p:nvPr/>
          </p:nvSpPr>
          <p:spPr>
            <a:xfrm>
              <a:off x="4362450" y="2286000"/>
              <a:ext cx="419100" cy="419100"/>
            </a:xfrm>
            <a:prstGeom prst="roundRect">
              <a:avLst>
                <a:gd name="adj" fmla="val 22727"/>
              </a:avLst>
            </a:prstGeom>
            <a:solidFill>
              <a:schemeClr val="accent3"/>
            </a:solidFill>
            <a:ln w="14288">
              <a:solidFill>
                <a:srgbClr val="1B2430"/>
              </a:solidFill>
            </a:ln>
          </p:spPr>
        </p:sp>
        <p:sp>
          <p:nvSpPr>
            <p:cNvPr id="15" name="TextBox 15"/>
            <p:cNvSpPr txBox="1"/>
            <p:nvPr/>
          </p:nvSpPr>
          <p:spPr>
            <a:xfrm>
              <a:off x="4448230" y="2400300"/>
              <a:ext cx="247540" cy="293370"/>
            </a:xfrm>
            <a:prstGeom prst="rect">
              <a:avLst/>
            </a:prstGeom>
            <a:noFill/>
            <a:ln>
              <a:noFill/>
            </a:ln>
          </p:spPr>
          <p:txBody>
            <a:bodyPr wrap="none" lIns="0" tIns="0" rIns="0" bIns="0" anchor="t" anchorCtr="0">
              <a:spAutoFit/>
            </a:bodyPr>
            <a:lstStyle/>
            <a:p>
              <a:pPr algn="ctr"/>
              <a:r>
                <a:rPr lang="vi" sz="1500" b="1" dirty="0">
                  <a:solidFill>
                    <a:srgbClr val="FFFFFF"/>
                  </a:solidFill>
                  <a:latin typeface="+mn-lt"/>
                  <a:ea typeface="+mn-ea"/>
                  <a:cs typeface="+mn-cs"/>
                </a:rPr>
                <a:t>02</a:t>
              </a:r>
            </a:p>
          </p:txBody>
        </p:sp>
        <p:sp>
          <p:nvSpPr>
            <p:cNvPr id="16" name="TextBox 16"/>
            <p:cNvSpPr txBox="1"/>
            <p:nvPr/>
          </p:nvSpPr>
          <p:spPr>
            <a:xfrm>
              <a:off x="4354068" y="2869882"/>
              <a:ext cx="1273617" cy="322707"/>
            </a:xfrm>
            <a:prstGeom prst="rect">
              <a:avLst/>
            </a:prstGeom>
            <a:noFill/>
            <a:ln>
              <a:noFill/>
            </a:ln>
          </p:spPr>
          <p:txBody>
            <a:bodyPr wrap="none" lIns="0" tIns="0" rIns="0" bIns="0" anchor="t" anchorCtr="0">
              <a:spAutoFit/>
            </a:bodyPr>
            <a:lstStyle/>
            <a:p>
              <a:pPr algn="l"/>
              <a:r>
                <a:rPr lang="vi" sz="1650" b="1" dirty="0">
                  <a:solidFill>
                    <a:schemeClr val="accent3"/>
                  </a:solidFill>
                  <a:latin typeface="+mn-lt"/>
                  <a:ea typeface="+mn-ea"/>
                  <a:cs typeface="+mn-cs"/>
                </a:rPr>
                <a:t>Faithfulness</a:t>
              </a:r>
            </a:p>
          </p:txBody>
        </p:sp>
        <p:sp>
          <p:nvSpPr>
            <p:cNvPr id="17" name="TextBox 17"/>
            <p:cNvSpPr txBox="1"/>
            <p:nvPr/>
          </p:nvSpPr>
          <p:spPr>
            <a:xfrm>
              <a:off x="4355592" y="3207068"/>
              <a:ext cx="2504679"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Phần hiệu năng model mà circuit</a:t>
              </a:r>
              <a:br/>
              <a:r>
                <a:rPr lang="vi" sz="1350" dirty="0">
                  <a:solidFill>
                    <a:schemeClr val="accent5"/>
                  </a:solidFill>
                  <a:latin typeface="+mn-lt"/>
                  <a:ea typeface="+mn-ea"/>
                  <a:cs typeface="+mn-cs"/>
                </a:rPr>
                <a:t>giải thích được. Lý tưởng bằng 1,</a:t>
              </a:r>
              <a:br/>
              <a:r>
                <a:rPr lang="vi" sz="1350" dirty="0">
                  <a:solidFill>
                    <a:schemeClr val="accent5"/>
                  </a:solidFill>
                  <a:latin typeface="+mn-lt"/>
                  <a:ea typeface="+mn-ea"/>
                  <a:cs typeface="+mn-cs"/>
                </a:rPr>
                <a:t>và có thể vượt quá 1.</a:t>
              </a:r>
            </a:p>
          </p:txBody>
        </p:sp>
      </p:grpSp>
      <p:grpSp>
        <p:nvGrpSpPr>
          <p:cNvPr id="24" name="p15-completeness"/>
          <p:cNvGrpSpPr/>
          <p:nvPr/>
        </p:nvGrpSpPr>
        <p:grpSpPr>
          <a:xfrm>
            <a:off x="8106918" y="2286000"/>
            <a:ext cx="2317248" cy="1432751"/>
            <a:chOff x="8106918" y="2286000"/>
            <a:chExt cx="2317248" cy="1432751"/>
          </a:xfrm>
        </p:grpSpPr>
        <p:sp>
          <p:nvSpPr>
            <p:cNvPr id="19" name="Rectangle 19"/>
            <p:cNvSpPr/>
            <p:nvPr/>
          </p:nvSpPr>
          <p:spPr>
            <a:xfrm>
              <a:off x="8153400" y="2324100"/>
              <a:ext cx="419100" cy="419100"/>
            </a:xfrm>
            <a:prstGeom prst="roundRect">
              <a:avLst>
                <a:gd name="adj" fmla="val 22727"/>
              </a:avLst>
            </a:prstGeom>
            <a:noFill/>
            <a:ln w="14288">
              <a:solidFill>
                <a:srgbClr val="1B2430"/>
              </a:solidFill>
            </a:ln>
          </p:spPr>
        </p:sp>
        <p:sp>
          <p:nvSpPr>
            <p:cNvPr id="20" name="Rectangle 20"/>
            <p:cNvSpPr/>
            <p:nvPr/>
          </p:nvSpPr>
          <p:spPr>
            <a:xfrm>
              <a:off x="8115300" y="2286000"/>
              <a:ext cx="419100" cy="419100"/>
            </a:xfrm>
            <a:prstGeom prst="roundRect">
              <a:avLst>
                <a:gd name="adj" fmla="val 22727"/>
              </a:avLst>
            </a:prstGeom>
            <a:solidFill>
              <a:srgbClr val="8B5A5F"/>
            </a:solidFill>
            <a:ln w="14288">
              <a:solidFill>
                <a:srgbClr val="1B2430"/>
              </a:solidFill>
            </a:ln>
          </p:spPr>
        </p:sp>
        <p:sp>
          <p:nvSpPr>
            <p:cNvPr id="21" name="TextBox 21"/>
            <p:cNvSpPr txBox="1"/>
            <p:nvPr/>
          </p:nvSpPr>
          <p:spPr>
            <a:xfrm>
              <a:off x="8201080" y="2400300"/>
              <a:ext cx="247540" cy="293370"/>
            </a:xfrm>
            <a:prstGeom prst="rect">
              <a:avLst/>
            </a:prstGeom>
            <a:noFill/>
            <a:ln>
              <a:noFill/>
            </a:ln>
          </p:spPr>
          <p:txBody>
            <a:bodyPr wrap="none" lIns="0" tIns="0" rIns="0" bIns="0" anchor="t" anchorCtr="0">
              <a:spAutoFit/>
            </a:bodyPr>
            <a:lstStyle/>
            <a:p>
              <a:pPr algn="ctr"/>
              <a:r>
                <a:rPr lang="vi" sz="1500" b="1" dirty="0">
                  <a:solidFill>
                    <a:srgbClr val="FFFFFF"/>
                  </a:solidFill>
                  <a:latin typeface="+mn-lt"/>
                  <a:ea typeface="+mn-ea"/>
                  <a:cs typeface="+mn-cs"/>
                </a:rPr>
                <a:t>03</a:t>
              </a:r>
            </a:p>
          </p:txBody>
        </p:sp>
        <p:sp>
          <p:nvSpPr>
            <p:cNvPr id="22" name="TextBox 22"/>
            <p:cNvSpPr txBox="1"/>
            <p:nvPr/>
          </p:nvSpPr>
          <p:spPr>
            <a:xfrm>
              <a:off x="8106918" y="2869882"/>
              <a:ext cx="1479113" cy="322707"/>
            </a:xfrm>
            <a:prstGeom prst="rect">
              <a:avLst/>
            </a:prstGeom>
            <a:noFill/>
            <a:ln>
              <a:noFill/>
            </a:ln>
          </p:spPr>
          <p:txBody>
            <a:bodyPr wrap="none" lIns="0" tIns="0" rIns="0" bIns="0" anchor="t" anchorCtr="0">
              <a:spAutoFit/>
            </a:bodyPr>
            <a:lstStyle/>
            <a:p>
              <a:pPr algn="l"/>
              <a:r>
                <a:rPr lang="vi" sz="1650" b="1" dirty="0">
                  <a:solidFill>
                    <a:srgbClr val="8B5A5F"/>
                  </a:solidFill>
                  <a:latin typeface="+mn-lt"/>
                  <a:ea typeface="+mn-ea"/>
                  <a:cs typeface="+mn-cs"/>
                </a:rPr>
                <a:t>Completeness</a:t>
              </a:r>
            </a:p>
          </p:txBody>
        </p:sp>
        <p:sp>
          <p:nvSpPr>
            <p:cNvPr id="23" name="TextBox 23"/>
            <p:cNvSpPr txBox="1"/>
            <p:nvPr/>
          </p:nvSpPr>
          <p:spPr>
            <a:xfrm>
              <a:off x="8108442" y="3207068"/>
              <a:ext cx="2315724"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Đo bằng faithfulness của phần</a:t>
              </a:r>
              <a:br/>
              <a:r>
                <a:rPr lang="vi" sz="1350" dirty="0">
                  <a:solidFill>
                    <a:schemeClr val="accent5"/>
                  </a:solidFill>
                  <a:latin typeface="+mn-lt"/>
                  <a:ea typeface="+mn-ea"/>
                  <a:cs typeface="+mn-cs"/>
                </a:rPr>
                <a:t>bù M trừ C. Lý tưởng bằng 0.</a:t>
              </a:r>
            </a:p>
          </p:txBody>
        </p:sp>
      </p:grpSp>
      <mc:AlternateContent xmlns:mc="http://schemas.openxmlformats.org/markup-compatibility/2006">
        <mc:Choice xmlns:a14="http://schemas.microsoft.com/office/drawing/2010/main" Requires="a14">
          <p:sp>
            <p:nvSpPr>
              <p:cNvPr id="25" name="p15-cong-thuc-faithfulness"/>
              <p:cNvSpPr txBox="1">
                <a:spLocks noGrp="1"/>
              </p:cNvSpPr>
              <p:nvPr/>
            </p:nvSpPr>
            <p:spPr>
              <a:xfrm>
                <a:off x="609600" y="4076700"/>
                <a:ext cx="109728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m:rPr>
                          <m:sty m:val="p"/>
                        </m:rPr>
                        <a:rPr lang="vi" sz="2400" dirty="0">
                          <a:solidFill>
                            <a:srgbClr val="1B2430"/>
                          </a:solidFill>
                          <a:latin typeface="Cambria Math"/>
                          <a:ea typeface="Cambria Math"/>
                          <a:cs typeface="Cambria Math"/>
                        </a:rPr>
                        <m:t>faithfulness</m:t>
                      </m:r>
                      <m:d>
                        <m:dPr>
                          <m:begChr m:val="("/>
                          <m:sepChr m:val=""/>
                          <m:endChr m:val=")"/>
                          <m:grow m:val="on"/>
                          <m:ctrlPr>
                            <a:rPr lang="vi" sz="2400" dirty="0">
                              <a:solidFill>
                                <a:srgbClr val="1B2430"/>
                              </a:solidFill>
                              <a:latin typeface="Cambria Math"/>
                              <a:ea typeface="Cambria Math"/>
                              <a:cs typeface="Cambria Math"/>
                            </a:rPr>
                          </m:ctrlPr>
                        </m:dPr>
                        <m:e>
                          <m:r>
                            <a:rPr lang="vi" sz="2400" dirty="0">
                              <a:solidFill>
                                <a:srgbClr val="1B2430"/>
                              </a:solidFill>
                              <a:latin typeface="Cambria Math"/>
                              <a:ea typeface="Cambria Math"/>
                              <a:cs typeface="Cambria Math"/>
                            </a:rPr>
                            <m:t>C</m:t>
                          </m:r>
                        </m:e>
                      </m:d>
                      <m:r>
                        <m:rPr>
                          <m:sty m:val="p"/>
                        </m:rPr>
                        <a:rPr lang="vi" sz="2400" dirty="0">
                          <a:solidFill>
                            <a:srgbClr val="1B2430"/>
                          </a:solidFill>
                          <a:latin typeface="Cambria Math"/>
                          <a:ea typeface="Cambria Math"/>
                          <a:cs typeface="Cambria Math"/>
                        </a:rPr>
                        <m:t>=</m:t>
                      </m:r>
                      <m:f>
                        <m:fPr>
                          <m:type m:val="bar"/>
                          <m:ctrlPr>
                            <a:rPr lang="vi" sz="2400" dirty="0">
                              <a:solidFill>
                                <a:srgbClr val="1B2430"/>
                              </a:solidFill>
                              <a:latin typeface="Cambria Math"/>
                              <a:ea typeface="Cambria Math"/>
                              <a:cs typeface="Cambria Math"/>
                            </a:rPr>
                          </m:ctrlPr>
                        </m:fPr>
                        <m:num>
                          <m:r>
                            <a:rPr lang="vi" sz="2400" dirty="0">
                              <a:solidFill>
                                <a:srgbClr val="1B2430"/>
                              </a:solidFill>
                              <a:latin typeface="Cambria Math"/>
                              <a:ea typeface="Cambria Math"/>
                              <a:cs typeface="Cambria Math"/>
                            </a:rPr>
                            <m:t>m</m:t>
                          </m:r>
                          <m:d>
                            <m:dPr>
                              <m:begChr m:val="("/>
                              <m:sepChr m:val=""/>
                              <m:endChr m:val=")"/>
                              <m:grow m:val="on"/>
                              <m:ctrlPr>
                                <a:rPr lang="vi" sz="2400" dirty="0">
                                  <a:solidFill>
                                    <a:srgbClr val="1B2430"/>
                                  </a:solidFill>
                                  <a:latin typeface="Cambria Math"/>
                                  <a:ea typeface="Cambria Math"/>
                                  <a:cs typeface="Cambria Math"/>
                                </a:rPr>
                              </m:ctrlPr>
                            </m:dPr>
                            <m:e>
                              <m:r>
                                <a:rPr lang="vi" sz="2400" dirty="0">
                                  <a:solidFill>
                                    <a:srgbClr val="1B2430"/>
                                  </a:solidFill>
                                  <a:latin typeface="Cambria Math"/>
                                  <a:ea typeface="Cambria Math"/>
                                  <a:cs typeface="Cambria Math"/>
                                </a:rPr>
                                <m:t>C</m:t>
                              </m:r>
                            </m:e>
                          </m:d>
                          <m:r>
                            <m:rPr>
                              <m:sty m:val="p"/>
                            </m:rPr>
                            <a:rPr lang="vi" sz="2400" dirty="0">
                              <a:solidFill>
                                <a:srgbClr val="1B2430"/>
                              </a:solidFill>
                              <a:latin typeface="Cambria Math"/>
                              <a:ea typeface="Cambria Math"/>
                              <a:cs typeface="Cambria Math"/>
                            </a:rPr>
                            <m:t>−</m:t>
                          </m:r>
                          <m:r>
                            <a:rPr lang="vi" sz="2400" dirty="0">
                              <a:solidFill>
                                <a:srgbClr val="1B2430"/>
                              </a:solidFill>
                              <a:latin typeface="Cambria Math"/>
                              <a:ea typeface="Cambria Math"/>
                              <a:cs typeface="Cambria Math"/>
                            </a:rPr>
                            <m:t>m</m:t>
                          </m:r>
                          <m:d>
                            <m:dPr>
                              <m:begChr m:val="("/>
                              <m:sepChr m:val=""/>
                              <m:endChr m:val=")"/>
                              <m:grow m:val="on"/>
                              <m:ctrlPr>
                                <a:rPr lang="vi" sz="2400" dirty="0">
                                  <a:solidFill>
                                    <a:srgbClr val="1B2430"/>
                                  </a:solidFill>
                                  <a:latin typeface="Cambria Math"/>
                                  <a:ea typeface="Cambria Math"/>
                                  <a:cs typeface="Cambria Math"/>
                                </a:rPr>
                              </m:ctrlPr>
                            </m:dPr>
                            <m:e>
                              <m:r>
                                <m:rPr>
                                  <m:sty m:val="p"/>
                                </m:rPr>
                                <a:rPr lang="vi" sz="2400" dirty="0">
                                  <a:solidFill>
                                    <a:srgbClr val="1B2430"/>
                                  </a:solidFill>
                                  <a:latin typeface="Cambria Math"/>
                                  <a:ea typeface="Cambria Math"/>
                                  <a:cs typeface="Cambria Math"/>
                                </a:rPr>
                                <m:t>∅</m:t>
                              </m:r>
                            </m:e>
                          </m:d>
                        </m:num>
                        <m:den>
                          <m:r>
                            <a:rPr lang="vi" sz="2400" dirty="0">
                              <a:solidFill>
                                <a:srgbClr val="1B2430"/>
                              </a:solidFill>
                              <a:latin typeface="Cambria Math"/>
                              <a:ea typeface="Cambria Math"/>
                              <a:cs typeface="Cambria Math"/>
                            </a:rPr>
                            <m:t>m</m:t>
                          </m:r>
                          <m:d>
                            <m:dPr>
                              <m:begChr m:val="("/>
                              <m:sepChr m:val=""/>
                              <m:endChr m:val=")"/>
                              <m:grow m:val="on"/>
                              <m:ctrlPr>
                                <a:rPr lang="vi" sz="2400" dirty="0">
                                  <a:solidFill>
                                    <a:srgbClr val="1B2430"/>
                                  </a:solidFill>
                                  <a:latin typeface="Cambria Math"/>
                                  <a:ea typeface="Cambria Math"/>
                                  <a:cs typeface="Cambria Math"/>
                                </a:rPr>
                              </m:ctrlPr>
                            </m:dPr>
                            <m:e>
                              <m:r>
                                <a:rPr lang="vi" sz="2400" dirty="0">
                                  <a:solidFill>
                                    <a:srgbClr val="1B2430"/>
                                  </a:solidFill>
                                  <a:latin typeface="Cambria Math"/>
                                  <a:ea typeface="Cambria Math"/>
                                  <a:cs typeface="Cambria Math"/>
                                </a:rPr>
                                <m:t>M</m:t>
                              </m:r>
                            </m:e>
                          </m:d>
                          <m:r>
                            <m:rPr>
                              <m:sty m:val="p"/>
                            </m:rPr>
                            <a:rPr lang="vi" sz="2400" dirty="0">
                              <a:solidFill>
                                <a:srgbClr val="1B2430"/>
                              </a:solidFill>
                              <a:latin typeface="Cambria Math"/>
                              <a:ea typeface="Cambria Math"/>
                              <a:cs typeface="Cambria Math"/>
                            </a:rPr>
                            <m:t>−</m:t>
                          </m:r>
                          <m:r>
                            <a:rPr lang="vi" sz="2400" dirty="0">
                              <a:solidFill>
                                <a:srgbClr val="1B2430"/>
                              </a:solidFill>
                              <a:latin typeface="Cambria Math"/>
                              <a:ea typeface="Cambria Math"/>
                              <a:cs typeface="Cambria Math"/>
                            </a:rPr>
                            <m:t>m</m:t>
                          </m:r>
                          <m:d>
                            <m:dPr>
                              <m:begChr m:val="("/>
                              <m:sepChr m:val=""/>
                              <m:endChr m:val=")"/>
                              <m:grow m:val="on"/>
                              <m:ctrlPr>
                                <a:rPr lang="vi" sz="2400" dirty="0">
                                  <a:solidFill>
                                    <a:srgbClr val="1B2430"/>
                                  </a:solidFill>
                                  <a:latin typeface="Cambria Math"/>
                                  <a:ea typeface="Cambria Math"/>
                                  <a:cs typeface="Cambria Math"/>
                                </a:rPr>
                              </m:ctrlPr>
                            </m:dPr>
                            <m:e>
                              <m:r>
                                <m:rPr>
                                  <m:sty m:val="p"/>
                                </m:rPr>
                                <a:rPr lang="vi" sz="2400" dirty="0">
                                  <a:solidFill>
                                    <a:srgbClr val="1B2430"/>
                                  </a:solidFill>
                                  <a:latin typeface="Cambria Math"/>
                                  <a:ea typeface="Cambria Math"/>
                                  <a:cs typeface="Cambria Math"/>
                                </a:rPr>
                                <m:t>∅</m:t>
                              </m:r>
                            </m:e>
                          </m:d>
                        </m:den>
                      </m:f>
                    </m:oMath>
                  </m:oMathPara>
                </a14:m>
              </a:p>
            </p:txBody>
          </p:sp>
        </mc:Choice>
      </mc:AlternateContent>
      <p:grpSp>
        <p:nvGrpSpPr>
          <p:cNvPr id="28" name="p15-chat-van"/>
          <p:cNvGrpSpPr/>
          <p:nvPr/>
        </p:nvGrpSpPr>
        <p:grpSpPr>
          <a:xfrm>
            <a:off x="609600" y="5372100"/>
            <a:ext cx="8726912" cy="697039"/>
            <a:chOff x="609600" y="5372100"/>
            <a:chExt cx="8726912" cy="697039"/>
          </a:xfrm>
        </p:grpSpPr>
        <p:sp>
          <p:nvSpPr>
            <p:cNvPr id="26" name="Rectangle 26"/>
            <p:cNvSpPr/>
            <p:nvPr/>
          </p:nvSpPr>
          <p:spPr>
            <a:xfrm>
              <a:off x="609600" y="5372100"/>
              <a:ext cx="76200" cy="647700"/>
            </a:xfrm>
            <a:prstGeom prst="roundRect">
              <a:avLst>
                <a:gd name="adj" fmla="val 50000"/>
              </a:avLst>
            </a:prstGeom>
            <a:solidFill>
              <a:schemeClr val="accent2"/>
            </a:solidFill>
            <a:ln>
              <a:noFill/>
            </a:ln>
          </p:spPr>
        </p:sp>
        <p:sp>
          <p:nvSpPr>
            <p:cNvPr id="27" name="TextBox 27"/>
            <p:cNvSpPr txBox="1"/>
            <p:nvPr/>
          </p:nvSpPr>
          <p:spPr>
            <a:xfrm>
              <a:off x="944118" y="5460682"/>
              <a:ext cx="8392394" cy="608457"/>
            </a:xfrm>
            <a:prstGeom prst="rect">
              <a:avLst/>
            </a:prstGeom>
            <a:noFill/>
            <a:ln>
              <a:noFill/>
            </a:ln>
          </p:spPr>
          <p:txBody>
            <a:bodyPr wrap="none" lIns="0" tIns="0" rIns="0" bIns="0" anchor="t" anchorCtr="0">
              <a:spAutoFit/>
            </a:bodyPr>
            <a:lstStyle/>
            <a:p>
              <a:pPr algn="l">
                <a:lnSpc>
                  <a:spcPts val="2250"/>
                </a:lnSpc>
              </a:pPr>
              <a:r>
                <a:rPr lang="vi" sz="1650" dirty="0">
                  <a:solidFill>
                    <a:schemeClr val="dk1"/>
                  </a:solidFill>
                  <a:latin typeface="+mn-lt"/>
                  <a:ea typeface="+mn-ea"/>
                  <a:cs typeface="+mn-cs"/>
                </a:rPr>
                <a:t>Paper bỏ một phần ba circuit ở các layer đầu khi đánh giá, vì component layer đầu gắn với</a:t>
              </a:r>
              <a:br/>
              <a:r>
                <a:rPr lang="vi" sz="1650" dirty="0">
                  <a:solidFill>
                    <a:schemeClr val="dk1"/>
                  </a:solidFill>
                  <a:latin typeface="+mn-lt"/>
                  <a:ea typeface="+mn-ea"/>
                  <a:cs typeface="+mn-cs"/>
                </a:rPr>
                <a:t>token cụ thể mà train split và test split không dùng chung. Đây là lựa chọn có thể chất vấn.</a:t>
              </a:r>
            </a:p>
          </p:txBody>
        </p:sp>
      </p:grpSp>
      <p:sp>
        <p:nvSpPr>
          <p:cNvPr id="29" name="TextBox 29"/>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15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779048" cy="1028319"/>
            <a:chOff x="592836" y="651510"/>
            <a:chExt cx="6779048" cy="1028319"/>
          </a:xfrm>
        </p:grpSpPr>
        <p:sp>
          <p:nvSpPr>
            <p:cNvPr id="4" name="TextBox 4"/>
            <p:cNvSpPr txBox="1"/>
            <p:nvPr/>
          </p:nvSpPr>
          <p:spPr>
            <a:xfrm>
              <a:off x="603504" y="651510"/>
              <a:ext cx="230838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3. Subject-verb agreement</a:t>
              </a:r>
            </a:p>
          </p:txBody>
        </p:sp>
        <p:sp>
          <p:nvSpPr>
            <p:cNvPr id="5" name="TextBox 5"/>
            <p:cNvSpPr txBox="1"/>
            <p:nvPr/>
          </p:nvSpPr>
          <p:spPr>
            <a:xfrm>
              <a:off x="592836" y="1034415"/>
              <a:ext cx="6779048" cy="645414"/>
            </a:xfrm>
            <a:prstGeom prst="rect">
              <a:avLst/>
            </a:prstGeom>
            <a:noFill/>
            <a:ln>
              <a:noFill/>
            </a:ln>
          </p:spPr>
          <p:txBody>
            <a:bodyPr wrap="none" lIns="0" tIns="0" rIns="0" bIns="0" anchor="t" anchorCtr="0">
              <a:spAutoFit/>
            </a:bodyPr>
            <a:lstStyle/>
            <a:p>
              <a:pPr algn="l"/>
              <a:r>
                <a:rPr lang="vi" sz="3300" b="1" dirty="0">
                  <a:solidFill>
                    <a:schemeClr val="dk1"/>
                  </a:solidFill>
                  <a:latin typeface="+mn-lt"/>
                  <a:ea typeface="+mn-ea"/>
                  <a:cs typeface="+mn-cs"/>
                </a:rPr>
                <a:t>100 node thay cho 1 500 neuron</a:t>
              </a:r>
            </a:p>
          </p:txBody>
        </p:sp>
      </p:grpSp>
      <p:grpSp>
        <p:nvGrpSpPr>
          <p:cNvPr id="9" name="p16-figure"/>
          <p:cNvGrpSpPr/>
          <p:nvPr/>
        </p:nvGrpSpPr>
        <p:grpSpPr>
          <a:xfrm>
            <a:off x="603504" y="1905000"/>
            <a:ext cx="7054596" cy="3305556"/>
            <a:chOff x="603504" y="1905000"/>
            <a:chExt cx="7054596" cy="3305556"/>
          </a:xfrm>
        </p:grpSpPr>
        <p:pic>
          <p:nvPicPr>
            <p:cNvPr id="7" name="Image 7"/>
            <p:cNvPicPr>
              <a:picLocks noChangeAspect="1"/>
            </p:cNvPicPr>
            <p:nvPr/>
          </p:nvPicPr>
          <p:blipFill>
            <a:blip r:embed="rId2"/>
            <a:stretch>
              <a:fillRect/>
            </a:stretch>
          </p:blipFill>
          <p:spPr>
            <a:xfrm>
              <a:off x="609600" y="1905000"/>
              <a:ext cx="7048500" cy="2895600"/>
            </a:xfrm>
            <a:prstGeom prst="rect">
              <a:avLst/>
            </a:prstGeom>
          </p:spPr>
        </p:pic>
        <p:sp>
          <p:nvSpPr>
            <p:cNvPr id="8" name="TextBox 8"/>
            <p:cNvSpPr txBox="1"/>
            <p:nvPr/>
          </p:nvSpPr>
          <p:spPr>
            <a:xfrm>
              <a:off x="603504" y="4975860"/>
              <a:ext cx="6338351"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Figure 3, Marks et al. 2024, trang 5. Hàng trên là Pythia-70M, hàng dưới là Gemma-2-2B.</a:t>
              </a:r>
            </a:p>
          </p:txBody>
        </p:sp>
      </p:grpSp>
      <p:grpSp>
        <p:nvGrpSpPr>
          <p:cNvPr id="15" name="p16-so-lieu"/>
          <p:cNvGrpSpPr/>
          <p:nvPr/>
        </p:nvGrpSpPr>
        <p:grpSpPr>
          <a:xfrm>
            <a:off x="8030718" y="1974532"/>
            <a:ext cx="2992521" cy="2925319"/>
            <a:chOff x="8030718" y="1974532"/>
            <a:chExt cx="2992521" cy="2925319"/>
          </a:xfrm>
        </p:grpSpPr>
        <p:sp>
          <p:nvSpPr>
            <p:cNvPr id="10" name="TextBox 10"/>
            <p:cNvSpPr txBox="1"/>
            <p:nvPr/>
          </p:nvSpPr>
          <p:spPr>
            <a:xfrm>
              <a:off x="8030718" y="1974532"/>
              <a:ext cx="1253142"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Pythia-70M</a:t>
              </a:r>
            </a:p>
          </p:txBody>
        </p:sp>
        <p:sp>
          <p:nvSpPr>
            <p:cNvPr id="11" name="TextBox 11"/>
            <p:cNvSpPr txBox="1"/>
            <p:nvPr/>
          </p:nvSpPr>
          <p:spPr>
            <a:xfrm>
              <a:off x="8032242" y="2292668"/>
              <a:ext cx="2124266"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dk1"/>
                  </a:solidFill>
                  <a:latin typeface="+mn-lt"/>
                  <a:ea typeface="+mn-ea"/>
                  <a:cs typeface="+mn-cs"/>
                </a:rPr>
                <a:t>khoảng 100 node feature</a:t>
              </a:r>
              <a:br/>
              <a:r>
                <a:rPr lang="vi" sz="1350" dirty="0">
                  <a:solidFill>
                    <a:schemeClr val="dk1"/>
                  </a:solidFill>
                  <a:latin typeface="+mn-lt"/>
                  <a:ea typeface="+mn-ea"/>
                  <a:cs typeface="+mn-cs"/>
                </a:rPr>
                <a:t>so với khoảng 1 500 neuron</a:t>
              </a:r>
            </a:p>
          </p:txBody>
        </p:sp>
        <p:sp>
          <p:nvSpPr>
            <p:cNvPr id="12" name="TextBox 12"/>
            <p:cNvSpPr txBox="1"/>
            <p:nvPr/>
          </p:nvSpPr>
          <p:spPr>
            <a:xfrm>
              <a:off x="8030718" y="3041332"/>
              <a:ext cx="1424912" cy="322707"/>
            </a:xfrm>
            <a:prstGeom prst="rect">
              <a:avLst/>
            </a:prstGeom>
            <a:noFill/>
            <a:ln>
              <a:noFill/>
            </a:ln>
          </p:spPr>
          <p:txBody>
            <a:bodyPr wrap="none" lIns="0" tIns="0" rIns="0" bIns="0" anchor="t" anchorCtr="0">
              <a:spAutoFit/>
            </a:bodyPr>
            <a:lstStyle/>
            <a:p>
              <a:pPr algn="l"/>
              <a:r>
                <a:rPr lang="vi" sz="1650" b="1" dirty="0">
                  <a:solidFill>
                    <a:schemeClr val="accent3"/>
                  </a:solidFill>
                  <a:latin typeface="+mn-lt"/>
                  <a:ea typeface="+mn-ea"/>
                  <a:cs typeface="+mn-cs"/>
                </a:rPr>
                <a:t>Gemma-2-2B</a:t>
              </a:r>
            </a:p>
          </p:txBody>
        </p:sp>
        <p:sp>
          <p:nvSpPr>
            <p:cNvPr id="13" name="TextBox 13"/>
            <p:cNvSpPr txBox="1"/>
            <p:nvPr/>
          </p:nvSpPr>
          <p:spPr>
            <a:xfrm>
              <a:off x="8032242" y="3359468"/>
              <a:ext cx="1953176"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dk1"/>
                  </a:solidFill>
                  <a:latin typeface="+mn-lt"/>
                  <a:ea typeface="+mn-ea"/>
                  <a:cs typeface="+mn-cs"/>
                </a:rPr>
                <a:t>khoảng 500 so với 50 000</a:t>
              </a:r>
              <a:br/>
              <a:r>
                <a:rPr lang="vi" sz="1350" dirty="0">
                  <a:solidFill>
                    <a:schemeClr val="dk1"/>
                  </a:solidFill>
                  <a:latin typeface="+mn-lt"/>
                  <a:ea typeface="+mn-ea"/>
                  <a:cs typeface="+mn-cs"/>
                </a:rPr>
                <a:t>chênh khoảng 100 lần</a:t>
              </a:r>
            </a:p>
          </p:txBody>
        </p:sp>
        <p:sp>
          <p:nvSpPr>
            <p:cNvPr id="14" name="TextBox 14"/>
            <p:cNvSpPr txBox="1"/>
            <p:nvPr/>
          </p:nvSpPr>
          <p:spPr>
            <a:xfrm>
              <a:off x="8032242" y="4140518"/>
              <a:ext cx="2990997"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Đường đỏ là circuit bỏ hết error</a:t>
              </a:r>
              <a:br/>
              <a:r>
                <a:rPr lang="vi" sz="1350" dirty="0">
                  <a:solidFill>
                    <a:schemeClr val="accent5"/>
                  </a:solidFill>
                  <a:latin typeface="+mn-lt"/>
                  <a:ea typeface="+mn-ea"/>
                  <a:cs typeface="+mn-cs"/>
                </a:rPr>
                <a:t>node: nó tụt hẳn. Bỏ error node</a:t>
              </a:r>
              <a:br/>
              <a:r>
                <a:rPr lang="vi" sz="1350" dirty="0">
                  <a:solidFill>
                    <a:schemeClr val="accent5"/>
                  </a:solidFill>
                  <a:latin typeface="+mn-lt"/>
                  <a:ea typeface="+mn-ea"/>
                  <a:cs typeface="+mn-cs"/>
                </a:rPr>
                <a:t>của residual stream là phá hỏng model.</a:t>
              </a:r>
            </a:p>
          </p:txBody>
        </p:sp>
      </p:grpSp>
      <p:grpSp>
        <p:nvGrpSpPr>
          <p:cNvPr id="18" name="p16-completeness"/>
          <p:cNvGrpSpPr/>
          <p:nvPr/>
        </p:nvGrpSpPr>
        <p:grpSpPr>
          <a:xfrm>
            <a:off x="609600" y="5581650"/>
            <a:ext cx="8493494" cy="697039"/>
            <a:chOff x="609600" y="5581650"/>
            <a:chExt cx="8493494" cy="697039"/>
          </a:xfrm>
        </p:grpSpPr>
        <p:sp>
          <p:nvSpPr>
            <p:cNvPr id="16" name="Rectangle 16"/>
            <p:cNvSpPr/>
            <p:nvPr/>
          </p:nvSpPr>
          <p:spPr>
            <a:xfrm>
              <a:off x="609600" y="5581650"/>
              <a:ext cx="76200" cy="647700"/>
            </a:xfrm>
            <a:prstGeom prst="roundRect">
              <a:avLst>
                <a:gd name="adj" fmla="val 50000"/>
              </a:avLst>
            </a:prstGeom>
            <a:solidFill>
              <a:schemeClr val="accent2"/>
            </a:solidFill>
            <a:ln>
              <a:noFill/>
            </a:ln>
          </p:spPr>
        </p:sp>
        <p:sp>
          <p:nvSpPr>
            <p:cNvPr id="17" name="TextBox 17"/>
            <p:cNvSpPr txBox="1"/>
            <p:nvPr/>
          </p:nvSpPr>
          <p:spPr>
            <a:xfrm>
              <a:off x="944118" y="5670232"/>
              <a:ext cx="8158976" cy="608457"/>
            </a:xfrm>
            <a:prstGeom prst="rect">
              <a:avLst/>
            </a:prstGeom>
            <a:noFill/>
            <a:ln>
              <a:noFill/>
            </a:ln>
          </p:spPr>
          <p:txBody>
            <a:bodyPr wrap="none" lIns="0" tIns="0" rIns="0" bIns="0" anchor="t" anchorCtr="0">
              <a:spAutoFit/>
            </a:bodyPr>
            <a:lstStyle/>
            <a:p>
              <a:pPr algn="l">
                <a:lnSpc>
                  <a:spcPts val="2250"/>
                </a:lnSpc>
              </a:pPr>
              <a:r>
                <a:rPr lang="vi" sz="1650" dirty="0">
                  <a:solidFill>
                    <a:schemeClr val="dk1"/>
                  </a:solidFill>
                  <a:latin typeface="+mn-lt"/>
                  <a:ea typeface="+mn-ea"/>
                  <a:cs typeface="+mn-cs"/>
                </a:rPr>
                <a:t>Ablate vài node trong feature circuit là xoá sạch khả năng làm task, kể cả khi giữ nguyên</a:t>
              </a:r>
              <a:br/>
              <a:r>
                <a:rPr lang="vi" sz="1650" dirty="0">
                  <a:solidFill>
                    <a:schemeClr val="dk1"/>
                  </a:solidFill>
                  <a:latin typeface="+mn-lt"/>
                  <a:ea typeface="+mn-ea"/>
                  <a:cs typeface="+mn-cs"/>
                </a:rPr>
                <a:t>toàn bộ SAE error node. Với neuron cần hàng trăm tới hàng nghìn node.</a:t>
              </a:r>
            </a:p>
          </p:txBody>
        </p:sp>
      </p:grpSp>
      <p:sp>
        <p:nvSpPr>
          <p:cNvPr id="19" name="TextBox 19"/>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16</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463234" cy="1523619"/>
            <a:chOff x="592836" y="651510"/>
            <a:chExt cx="6463234" cy="1523619"/>
          </a:xfrm>
        </p:grpSpPr>
        <p:sp>
          <p:nvSpPr>
            <p:cNvPr id="4" name="TextBox 4"/>
            <p:cNvSpPr txBox="1"/>
            <p:nvPr/>
          </p:nvSpPr>
          <p:spPr>
            <a:xfrm>
              <a:off x="603504" y="651510"/>
              <a:ext cx="230838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3. Subject-verb agreement</a:t>
              </a:r>
            </a:p>
          </p:txBody>
        </p:sp>
        <p:sp>
          <p:nvSpPr>
            <p:cNvPr id="5" name="TextBox 5"/>
            <p:cNvSpPr txBox="1"/>
            <p:nvPr/>
          </p:nvSpPr>
          <p:spPr>
            <a:xfrm>
              <a:off x="592836" y="1034415"/>
              <a:ext cx="6463234"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Cả hai model chọn dạng động từ</a:t>
              </a:r>
              <a:br/>
              <a:r>
                <a:rPr lang="vi" sz="3300" b="1" dirty="0">
                  <a:solidFill>
                    <a:schemeClr val="dk1"/>
                  </a:solidFill>
                  <a:latin typeface="+mn-lt"/>
                  <a:ea typeface="+mn-ea"/>
                  <a:cs typeface="+mn-cs"/>
                </a:rPr>
                <a:t>qua hai đường song song</a:t>
              </a:r>
            </a:p>
          </p:txBody>
        </p:sp>
      </p:grpSp>
      <p:grpSp>
        <p:nvGrpSpPr>
          <p:cNvPr id="10" name="p17-pythia"/>
          <p:cNvGrpSpPr/>
          <p:nvPr/>
        </p:nvGrpSpPr>
        <p:grpSpPr>
          <a:xfrm>
            <a:off x="601218" y="2355532"/>
            <a:ext cx="5304282" cy="3706369"/>
            <a:chOff x="601218" y="2355532"/>
            <a:chExt cx="5304282" cy="3706369"/>
          </a:xfrm>
        </p:grpSpPr>
        <p:sp>
          <p:nvSpPr>
            <p:cNvPr id="7" name="TextBox 7"/>
            <p:cNvSpPr txBox="1"/>
            <p:nvPr/>
          </p:nvSpPr>
          <p:spPr>
            <a:xfrm>
              <a:off x="601218" y="2355532"/>
              <a:ext cx="4066287"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Pythia-70M, 86 node, faithfulness 0.21</a:t>
              </a:r>
            </a:p>
          </p:txBody>
        </p:sp>
        <p:pic>
          <p:nvPicPr>
            <p:cNvPr id="8" name="Image 8"/>
            <p:cNvPicPr>
              <a:picLocks noChangeAspect="1"/>
            </p:cNvPicPr>
            <p:nvPr/>
          </p:nvPicPr>
          <p:blipFill>
            <a:blip r:embed="rId2"/>
            <a:stretch>
              <a:fillRect/>
            </a:stretch>
          </p:blipFill>
          <p:spPr>
            <a:xfrm>
              <a:off x="609600" y="2692598"/>
              <a:ext cx="5295900" cy="2482453"/>
            </a:xfrm>
            <a:prstGeom prst="rect">
              <a:avLst/>
            </a:prstGeom>
          </p:spPr>
        </p:pic>
        <p:sp>
          <p:nvSpPr>
            <p:cNvPr id="9" name="TextBox 9"/>
            <p:cNvSpPr txBox="1"/>
            <p:nvPr/>
          </p:nvSpPr>
          <p:spPr>
            <a:xfrm>
              <a:off x="602742" y="5302568"/>
              <a:ext cx="3738879"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Đường 1: feature phát hiện số của chủ ngữ chính,</a:t>
              </a:r>
              <a:br/>
              <a:r>
                <a:rPr lang="vi" sz="1350" dirty="0">
                  <a:solidFill>
                    <a:schemeClr val="accent5"/>
                  </a:solidFill>
                  <a:latin typeface="+mn-lt"/>
                  <a:ea typeface="+mn-ea"/>
                  <a:cs typeface="+mn-cs"/>
                </a:rPr>
                <a:t>thúc đẩy trực tiếp dạng động từ khớp. Đường 2:</a:t>
              </a:r>
              <a:br/>
              <a:r>
                <a:rPr lang="vi" sz="1350" dirty="0">
                  <a:solidFill>
                    <a:schemeClr val="accent5"/>
                  </a:solidFill>
                  <a:latin typeface="+mn-lt"/>
                  <a:ea typeface="+mn-ea"/>
                  <a:cs typeface="+mn-cs"/>
                </a:rPr>
                <a:t>chuyển số qua PP/RC boundary detector.</a:t>
              </a:r>
            </a:p>
          </p:txBody>
        </p:sp>
      </p:grpSp>
      <p:grpSp>
        <p:nvGrpSpPr>
          <p:cNvPr id="14" name="p17-gemma"/>
          <p:cNvGrpSpPr/>
          <p:nvPr/>
        </p:nvGrpSpPr>
        <p:grpSpPr>
          <a:xfrm>
            <a:off x="6278118" y="2355532"/>
            <a:ext cx="5304282" cy="3706369"/>
            <a:chOff x="6278118" y="2355532"/>
            <a:chExt cx="5304282" cy="3706369"/>
          </a:xfrm>
        </p:grpSpPr>
        <p:sp>
          <p:nvSpPr>
            <p:cNvPr id="11" name="TextBox 11"/>
            <p:cNvSpPr txBox="1"/>
            <p:nvPr/>
          </p:nvSpPr>
          <p:spPr>
            <a:xfrm>
              <a:off x="6278118" y="2355532"/>
              <a:ext cx="4361833" cy="322707"/>
            </a:xfrm>
            <a:prstGeom prst="rect">
              <a:avLst/>
            </a:prstGeom>
            <a:noFill/>
            <a:ln>
              <a:noFill/>
            </a:ln>
          </p:spPr>
          <p:txBody>
            <a:bodyPr wrap="none" lIns="0" tIns="0" rIns="0" bIns="0" anchor="t" anchorCtr="0">
              <a:spAutoFit/>
            </a:bodyPr>
            <a:lstStyle/>
            <a:p>
              <a:pPr algn="l"/>
              <a:r>
                <a:rPr lang="vi" sz="1650" b="1" dirty="0">
                  <a:solidFill>
                    <a:schemeClr val="accent3"/>
                  </a:solidFill>
                  <a:latin typeface="+mn-lt"/>
                  <a:ea typeface="+mn-ea"/>
                  <a:cs typeface="+mn-cs"/>
                </a:rPr>
                <a:t>Gemma-2-2B, 223 node, faithfulness 0.21</a:t>
              </a:r>
            </a:p>
          </p:txBody>
        </p:sp>
        <p:pic>
          <p:nvPicPr>
            <p:cNvPr id="12" name="Image 12"/>
            <p:cNvPicPr>
              <a:picLocks noChangeAspect="1"/>
            </p:cNvPicPr>
            <p:nvPr/>
          </p:nvPicPr>
          <p:blipFill>
            <a:blip r:embed="rId3"/>
            <a:stretch>
              <a:fillRect/>
            </a:stretch>
          </p:blipFill>
          <p:spPr>
            <a:xfrm>
              <a:off x="6286500" y="2965268"/>
              <a:ext cx="5295900" cy="1937114"/>
            </a:xfrm>
            <a:prstGeom prst="rect">
              <a:avLst/>
            </a:prstGeom>
          </p:spPr>
        </p:pic>
        <p:sp>
          <p:nvSpPr>
            <p:cNvPr id="13" name="TextBox 13"/>
            <p:cNvSpPr txBox="1"/>
            <p:nvPr/>
          </p:nvSpPr>
          <p:spPr>
            <a:xfrm>
              <a:off x="6279642" y="5302568"/>
              <a:ext cx="3614595"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Thêm loại thứ ba là NP number tracker: giữ kích</a:t>
              </a:r>
              <a:br/>
              <a:r>
                <a:rPr lang="vi" sz="1350" dirty="0">
                  <a:solidFill>
                    <a:schemeClr val="accent5"/>
                  </a:solidFill>
                  <a:latin typeface="+mn-lt"/>
                  <a:ea typeface="+mn-ea"/>
                  <a:cs typeface="+mn-cs"/>
                </a:rPr>
                <a:t>hoạt trên mọi token cho tới hết noun phrase.</a:t>
              </a:r>
              <a:br/>
              <a:r>
                <a:rPr lang="vi" sz="1350" dirty="0">
                  <a:solidFill>
                    <a:schemeClr val="accent5"/>
                  </a:solidFill>
                  <a:latin typeface="+mn-lt"/>
                  <a:ea typeface="+mn-ea"/>
                  <a:cs typeface="+mn-cs"/>
                </a:rPr>
                <a:t>Ví dụ feature resid 12/13561.</a:t>
              </a:r>
            </a:p>
          </p:txBody>
        </p:sp>
      </p:grpSp>
      <p:grpSp>
        <p:nvGrpSpPr>
          <p:cNvPr id="17" name="p17-overlap"/>
          <p:cNvGrpSpPr/>
          <p:nvPr/>
        </p:nvGrpSpPr>
        <p:grpSpPr>
          <a:xfrm>
            <a:off x="609600" y="6076950"/>
            <a:ext cx="8663358" cy="392239"/>
            <a:chOff x="609600" y="6076950"/>
            <a:chExt cx="8663358" cy="392239"/>
          </a:xfrm>
        </p:grpSpPr>
        <p:sp>
          <p:nvSpPr>
            <p:cNvPr id="15" name="Rectangle 15"/>
            <p:cNvSpPr/>
            <p:nvPr/>
          </p:nvSpPr>
          <p:spPr>
            <a:xfrm>
              <a:off x="609600" y="6076950"/>
              <a:ext cx="76200" cy="323850"/>
            </a:xfrm>
            <a:prstGeom prst="roundRect">
              <a:avLst>
                <a:gd name="adj" fmla="val 50000"/>
              </a:avLst>
            </a:prstGeom>
            <a:solidFill>
              <a:schemeClr val="accent2"/>
            </a:solidFill>
            <a:ln>
              <a:noFill/>
            </a:ln>
          </p:spPr>
        </p:sp>
        <p:sp>
          <p:nvSpPr>
            <p:cNvPr id="16" name="TextBox 16"/>
            <p:cNvSpPr txBox="1"/>
            <p:nvPr/>
          </p:nvSpPr>
          <p:spPr>
            <a:xfrm>
              <a:off x="944118" y="6146482"/>
              <a:ext cx="8328840" cy="322707"/>
            </a:xfrm>
            <a:prstGeom prst="rect">
              <a:avLst/>
            </a:prstGeom>
            <a:noFill/>
            <a:ln>
              <a:noFill/>
            </a:ln>
          </p:spPr>
          <p:txBody>
            <a:bodyPr wrap="none" lIns="0" tIns="0" rIns="0" bIns="0" anchor="t" anchorCtr="0">
              <a:spAutoFit/>
            </a:bodyPr>
            <a:lstStyle/>
            <a:p>
              <a:pPr algn="l"/>
              <a:r>
                <a:rPr lang="vi" sz="1650" dirty="0">
                  <a:solidFill>
                    <a:schemeClr val="dk1"/>
                  </a:solidFill>
                  <a:latin typeface="+mn-lt"/>
                  <a:ea typeface="+mn-ea"/>
                  <a:cs typeface="+mn-cs"/>
                </a:rPr>
                <a:t>Across-RC và across-PP chồng nhau nhiều, còn simple và within-RC thì ít chồng hơn.</a:t>
              </a:r>
            </a:p>
          </p:txBody>
        </p:sp>
      </p:grpSp>
      <p:sp>
        <p:nvSpPr>
          <p:cNvPr id="18" name="TextBox 1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17</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8203044" cy="1523619"/>
            <a:chOff x="592836" y="651510"/>
            <a:chExt cx="8203044" cy="15236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4. SHIFT</a:t>
              </a:r>
            </a:p>
          </p:txBody>
        </p:sp>
        <p:sp>
          <p:nvSpPr>
            <p:cNvPr id="5" name="TextBox 5"/>
            <p:cNvSpPr txBox="1"/>
            <p:nvPr/>
          </p:nvSpPr>
          <p:spPr>
            <a:xfrm>
              <a:off x="592836" y="1034415"/>
              <a:ext cx="8203044"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Vấn đề nằm ở chỗ tín hiệu đó không</a:t>
              </a:r>
              <a:br/>
              <a:r>
                <a:rPr lang="vi" sz="3300" b="1" dirty="0">
                  <a:solidFill>
                    <a:schemeClr val="dk1"/>
                  </a:solidFill>
                  <a:latin typeface="+mn-lt"/>
                  <a:ea typeface="+mn-ea"/>
                  <a:cs typeface="+mn-cs"/>
                </a:rPr>
                <a:t>mong muốn, không ở chỗ nó kém dự báo</a:t>
              </a:r>
            </a:p>
          </p:txBody>
        </p:sp>
      </p:grpSp>
      <p:grpSp>
        <p:nvGrpSpPr>
          <p:cNvPr id="10" name="p18-dinh-nghia"/>
          <p:cNvGrpSpPr/>
          <p:nvPr/>
        </p:nvGrpSpPr>
        <p:grpSpPr>
          <a:xfrm>
            <a:off x="609600" y="2286000"/>
            <a:ext cx="10972800" cy="781050"/>
            <a:chOff x="609600" y="2286000"/>
            <a:chExt cx="10972800" cy="781050"/>
          </a:xfrm>
        </p:grpSpPr>
        <p:sp>
          <p:nvSpPr>
            <p:cNvPr id="7" name="Rectangle 7"/>
            <p:cNvSpPr/>
            <p:nvPr/>
          </p:nvSpPr>
          <p:spPr>
            <a:xfrm>
              <a:off x="609600" y="2286000"/>
              <a:ext cx="10972800" cy="781050"/>
            </a:xfrm>
            <a:prstGeom prst="roundRect">
              <a:avLst>
                <a:gd name="adj" fmla="val 14634"/>
              </a:avLst>
            </a:prstGeom>
            <a:solidFill>
              <a:schemeClr val="lt2"/>
            </a:solidFill>
            <a:ln>
              <a:noFill/>
            </a:ln>
          </p:spPr>
        </p:sp>
        <p:sp>
          <p:nvSpPr>
            <p:cNvPr id="8" name="TextBox 8"/>
            <p:cNvSpPr txBox="1"/>
            <p:nvPr/>
          </p:nvSpPr>
          <p:spPr>
            <a:xfrm>
              <a:off x="946404" y="2461260"/>
              <a:ext cx="1286007"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Dữ liệu phân định</a:t>
              </a:r>
            </a:p>
          </p:txBody>
        </p:sp>
        <p:sp>
          <p:nvSpPr>
            <p:cNvPr id="9" name="TextBox 9"/>
            <p:cNvSpPr txBox="1"/>
            <p:nvPr/>
          </p:nvSpPr>
          <p:spPr>
            <a:xfrm>
              <a:off x="944118" y="2736532"/>
              <a:ext cx="7935553" cy="322707"/>
            </a:xfrm>
            <a:prstGeom prst="rect">
              <a:avLst/>
            </a:prstGeom>
            <a:noFill/>
            <a:ln>
              <a:noFill/>
            </a:ln>
          </p:spPr>
          <p:txBody>
            <a:bodyPr wrap="none" lIns="0" tIns="0" rIns="0" bIns="0" anchor="t" anchorCtr="0">
              <a:spAutoFit/>
            </a:bodyPr>
            <a:lstStyle/>
            <a:p>
              <a:pPr algn="l"/>
              <a:r>
                <a:rPr lang="vi" sz="1650" dirty="0">
                  <a:solidFill>
                    <a:schemeClr val="dk1"/>
                  </a:solidFill>
                  <a:latin typeface="+mn-lt"/>
                  <a:ea typeface="+mn-ea"/>
                  <a:cs typeface="+mn-cs"/>
                </a:rPr>
                <a:t>Dữ liệu trong đó tín hiệu không mong muốn dự báo nhãn kém hơn tín hiệu đích.</a:t>
              </a:r>
            </a:p>
          </p:txBody>
        </p:sp>
      </p:grpSp>
      <p:grpSp>
        <p:nvGrpSpPr>
          <p:cNvPr id="16" name="p18-ly-do-1"/>
          <p:cNvGrpSpPr/>
          <p:nvPr/>
        </p:nvGrpSpPr>
        <p:grpSpPr>
          <a:xfrm>
            <a:off x="609600" y="3390900"/>
            <a:ext cx="9125727" cy="626745"/>
            <a:chOff x="609600" y="3390900"/>
            <a:chExt cx="9125727" cy="626745"/>
          </a:xfrm>
        </p:grpSpPr>
        <p:sp>
          <p:nvSpPr>
            <p:cNvPr id="11" name="Rectangle 11"/>
            <p:cNvSpPr/>
            <p:nvPr/>
          </p:nvSpPr>
          <p:spPr>
            <a:xfrm>
              <a:off x="647700" y="3429000"/>
              <a:ext cx="495300" cy="495300"/>
            </a:xfrm>
            <a:prstGeom prst="roundRect">
              <a:avLst>
                <a:gd name="adj" fmla="val 19231"/>
              </a:avLst>
            </a:prstGeom>
            <a:noFill/>
            <a:ln w="14288">
              <a:solidFill>
                <a:srgbClr val="1B2430"/>
              </a:solidFill>
            </a:ln>
          </p:spPr>
        </p:sp>
        <p:sp>
          <p:nvSpPr>
            <p:cNvPr id="12" name="Rectangle 12"/>
            <p:cNvSpPr/>
            <p:nvPr/>
          </p:nvSpPr>
          <p:spPr>
            <a:xfrm>
              <a:off x="609600" y="3390900"/>
              <a:ext cx="495300" cy="495300"/>
            </a:xfrm>
            <a:prstGeom prst="roundRect">
              <a:avLst>
                <a:gd name="adj" fmla="val 19231"/>
              </a:avLst>
            </a:prstGeom>
            <a:solidFill>
              <a:schemeClr val="accent1"/>
            </a:solidFill>
            <a:ln w="14288">
              <a:solidFill>
                <a:srgbClr val="1B2430"/>
              </a:solidFill>
            </a:ln>
          </p:spPr>
        </p:sp>
        <p:sp>
          <p:nvSpPr>
            <p:cNvPr id="13" name="TextBox 13"/>
            <p:cNvSpPr txBox="1"/>
            <p:nvPr/>
          </p:nvSpPr>
          <p:spPr>
            <a:xfrm>
              <a:off x="721103" y="3527108"/>
              <a:ext cx="272294" cy="322707"/>
            </a:xfrm>
            <a:prstGeom prst="rect">
              <a:avLst/>
            </a:prstGeom>
            <a:noFill/>
            <a:ln>
              <a:noFill/>
            </a:ln>
          </p:spPr>
          <p:txBody>
            <a:bodyPr wrap="none" lIns="0" tIns="0" rIns="0" bIns="0" anchor="t" anchorCtr="0">
              <a:spAutoFit/>
            </a:bodyPr>
            <a:lstStyle/>
            <a:p>
              <a:pPr algn="ctr"/>
              <a:r>
                <a:rPr lang="vi" sz="1650" b="1" dirty="0">
                  <a:solidFill>
                    <a:srgbClr val="FFFFFF"/>
                  </a:solidFill>
                  <a:latin typeface="+mn-lt"/>
                  <a:ea typeface="+mn-ea"/>
                  <a:cs typeface="+mn-cs"/>
                </a:rPr>
                <a:t>01</a:t>
              </a:r>
            </a:p>
          </p:txBody>
        </p:sp>
        <p:sp>
          <p:nvSpPr>
            <p:cNvPr id="14" name="TextBox 14"/>
            <p:cNvSpPr txBox="1"/>
            <p:nvPr/>
          </p:nvSpPr>
          <p:spPr>
            <a:xfrm>
              <a:off x="1363218" y="3422332"/>
              <a:ext cx="4551323"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Input của các class đến từ nguồn khác nhau</a:t>
              </a:r>
            </a:p>
          </p:txBody>
        </p:sp>
        <p:sp>
          <p:nvSpPr>
            <p:cNvPr id="15" name="TextBox 15"/>
            <p:cNvSpPr txBox="1"/>
            <p:nvPr/>
          </p:nvSpPr>
          <p:spPr>
            <a:xfrm>
              <a:off x="1363980" y="3724275"/>
              <a:ext cx="8371347" cy="293370"/>
            </a:xfrm>
            <a:prstGeom prst="rect">
              <a:avLst/>
            </a:prstGeom>
            <a:noFill/>
            <a:ln>
              <a:noFill/>
            </a:ln>
          </p:spPr>
          <p:txBody>
            <a:bodyPr wrap="none" lIns="0" tIns="0" rIns="0" bIns="0" anchor="t" anchorCtr="0">
              <a:spAutoFit/>
            </a:bodyPr>
            <a:lstStyle/>
            <a:p>
              <a:pPr algn="l"/>
              <a:r>
                <a:rPr lang="vi" sz="1500" dirty="0">
                  <a:solidFill>
                    <a:schemeClr val="accent5"/>
                  </a:solidFill>
                  <a:latin typeface="+mn-lt"/>
                  <a:ea typeface="+mn-ea"/>
                  <a:cs typeface="+mn-cs"/>
                </a:rPr>
                <a:t>Zech et al. 2018: model phát hiện viêm phổi học theo đặc điểm máy chụp của từng bệnh viện.</a:t>
              </a:r>
            </a:p>
          </p:txBody>
        </p:sp>
      </p:grpSp>
      <p:grpSp>
        <p:nvGrpSpPr>
          <p:cNvPr id="22" name="p18-ly-do-2"/>
          <p:cNvGrpSpPr/>
          <p:nvPr/>
        </p:nvGrpSpPr>
        <p:grpSpPr>
          <a:xfrm>
            <a:off x="609600" y="4267200"/>
            <a:ext cx="9621144" cy="626745"/>
            <a:chOff x="609600" y="4267200"/>
            <a:chExt cx="9621144" cy="626745"/>
          </a:xfrm>
        </p:grpSpPr>
        <p:sp>
          <p:nvSpPr>
            <p:cNvPr id="17" name="Rectangle 17"/>
            <p:cNvSpPr/>
            <p:nvPr/>
          </p:nvSpPr>
          <p:spPr>
            <a:xfrm>
              <a:off x="647700" y="4305300"/>
              <a:ext cx="495300" cy="495300"/>
            </a:xfrm>
            <a:prstGeom prst="roundRect">
              <a:avLst>
                <a:gd name="adj" fmla="val 19231"/>
              </a:avLst>
            </a:prstGeom>
            <a:noFill/>
            <a:ln w="14288">
              <a:solidFill>
                <a:srgbClr val="1B2430"/>
              </a:solidFill>
            </a:ln>
          </p:spPr>
        </p:sp>
        <p:sp>
          <p:nvSpPr>
            <p:cNvPr id="18" name="Rectangle 18"/>
            <p:cNvSpPr/>
            <p:nvPr/>
          </p:nvSpPr>
          <p:spPr>
            <a:xfrm>
              <a:off x="609600" y="4267200"/>
              <a:ext cx="495300" cy="495300"/>
            </a:xfrm>
            <a:prstGeom prst="roundRect">
              <a:avLst>
                <a:gd name="adj" fmla="val 19231"/>
              </a:avLst>
            </a:prstGeom>
            <a:solidFill>
              <a:schemeClr val="accent3"/>
            </a:solidFill>
            <a:ln w="14288">
              <a:solidFill>
                <a:srgbClr val="1B2430"/>
              </a:solidFill>
            </a:ln>
          </p:spPr>
        </p:sp>
        <p:sp>
          <p:nvSpPr>
            <p:cNvPr id="19" name="TextBox 19"/>
            <p:cNvSpPr txBox="1"/>
            <p:nvPr/>
          </p:nvSpPr>
          <p:spPr>
            <a:xfrm>
              <a:off x="721103" y="4403408"/>
              <a:ext cx="272294" cy="322707"/>
            </a:xfrm>
            <a:prstGeom prst="rect">
              <a:avLst/>
            </a:prstGeom>
            <a:noFill/>
            <a:ln>
              <a:noFill/>
            </a:ln>
          </p:spPr>
          <p:txBody>
            <a:bodyPr wrap="none" lIns="0" tIns="0" rIns="0" bIns="0" anchor="t" anchorCtr="0">
              <a:spAutoFit/>
            </a:bodyPr>
            <a:lstStyle/>
            <a:p>
              <a:pPr algn="ctr"/>
              <a:r>
                <a:rPr lang="vi" sz="1650" b="1" dirty="0">
                  <a:solidFill>
                    <a:srgbClr val="FFFFFF"/>
                  </a:solidFill>
                  <a:latin typeface="+mn-lt"/>
                  <a:ea typeface="+mn-ea"/>
                  <a:cs typeface="+mn-cs"/>
                </a:rPr>
                <a:t>02</a:t>
              </a:r>
            </a:p>
          </p:txBody>
        </p:sp>
        <p:sp>
          <p:nvSpPr>
            <p:cNvPr id="20" name="TextBox 20"/>
            <p:cNvSpPr txBox="1"/>
            <p:nvPr/>
          </p:nvSpPr>
          <p:spPr>
            <a:xfrm>
              <a:off x="1363218" y="4298632"/>
              <a:ext cx="3753280" cy="322707"/>
            </a:xfrm>
            <a:prstGeom prst="rect">
              <a:avLst/>
            </a:prstGeom>
            <a:noFill/>
            <a:ln>
              <a:noFill/>
            </a:ln>
          </p:spPr>
          <p:txBody>
            <a:bodyPr wrap="none" lIns="0" tIns="0" rIns="0" bIns="0" anchor="t" anchorCtr="0">
              <a:spAutoFit/>
            </a:bodyPr>
            <a:lstStyle/>
            <a:p>
              <a:pPr algn="l"/>
              <a:r>
                <a:rPr lang="vi" sz="1650" b="1" dirty="0">
                  <a:solidFill>
                    <a:schemeClr val="accent3"/>
                  </a:solidFill>
                  <a:latin typeface="+mn-lt"/>
                  <a:ea typeface="+mn-ea"/>
                  <a:cs typeface="+mn-cs"/>
                </a:rPr>
                <a:t>RLHF với easy-to-hard domain shift</a:t>
              </a:r>
            </a:p>
          </p:txBody>
        </p:sp>
        <p:sp>
          <p:nvSpPr>
            <p:cNvPr id="21" name="TextBox 21"/>
            <p:cNvSpPr txBox="1"/>
            <p:nvPr/>
          </p:nvSpPr>
          <p:spPr>
            <a:xfrm>
              <a:off x="1363980" y="4600575"/>
              <a:ext cx="8866764" cy="293370"/>
            </a:xfrm>
            <a:prstGeom prst="rect">
              <a:avLst/>
            </a:prstGeom>
            <a:noFill/>
            <a:ln>
              <a:noFill/>
            </a:ln>
          </p:spPr>
          <p:txBody>
            <a:bodyPr wrap="none" lIns="0" tIns="0" rIns="0" bIns="0" anchor="t" anchorCtr="0">
              <a:spAutoFit/>
            </a:bodyPr>
            <a:lstStyle/>
            <a:p>
              <a:pPr algn="l"/>
              <a:r>
                <a:rPr lang="vi" sz="1500" dirty="0">
                  <a:solidFill>
                    <a:schemeClr val="accent5"/>
                  </a:solidFill>
                  <a:latin typeface="+mn-lt"/>
                  <a:ea typeface="+mn-ea"/>
                  <a:cs typeface="+mn-cs"/>
                </a:rPr>
                <a:t>“Được người giám sát chấp thuận” và “hành vi đúng mong muốn” dự báo reward label ngang nhau.</a:t>
              </a:r>
            </a:p>
          </p:txBody>
        </p:sp>
      </p:grpSp>
      <p:grpSp>
        <p:nvGrpSpPr>
          <p:cNvPr id="28" name="p18-ly-do-3"/>
          <p:cNvGrpSpPr/>
          <p:nvPr/>
        </p:nvGrpSpPr>
        <p:grpSpPr>
          <a:xfrm>
            <a:off x="609600" y="5143500"/>
            <a:ext cx="8195405" cy="626745"/>
            <a:chOff x="609600" y="5143500"/>
            <a:chExt cx="8195405" cy="626745"/>
          </a:xfrm>
        </p:grpSpPr>
        <p:sp>
          <p:nvSpPr>
            <p:cNvPr id="23" name="Rectangle 23"/>
            <p:cNvSpPr/>
            <p:nvPr/>
          </p:nvSpPr>
          <p:spPr>
            <a:xfrm>
              <a:off x="647700" y="5181600"/>
              <a:ext cx="495300" cy="495300"/>
            </a:xfrm>
            <a:prstGeom prst="roundRect">
              <a:avLst>
                <a:gd name="adj" fmla="val 19231"/>
              </a:avLst>
            </a:prstGeom>
            <a:noFill/>
            <a:ln w="14288">
              <a:solidFill>
                <a:srgbClr val="1B2430"/>
              </a:solidFill>
            </a:ln>
          </p:spPr>
        </p:sp>
        <p:sp>
          <p:nvSpPr>
            <p:cNvPr id="24" name="Rectangle 24"/>
            <p:cNvSpPr/>
            <p:nvPr/>
          </p:nvSpPr>
          <p:spPr>
            <a:xfrm>
              <a:off x="609600" y="5143500"/>
              <a:ext cx="495300" cy="495300"/>
            </a:xfrm>
            <a:prstGeom prst="roundRect">
              <a:avLst>
                <a:gd name="adj" fmla="val 19231"/>
              </a:avLst>
            </a:prstGeom>
            <a:solidFill>
              <a:srgbClr val="8B5A5F"/>
            </a:solidFill>
            <a:ln w="14288">
              <a:solidFill>
                <a:srgbClr val="1B2430"/>
              </a:solidFill>
            </a:ln>
          </p:spPr>
        </p:sp>
        <p:sp>
          <p:nvSpPr>
            <p:cNvPr id="25" name="TextBox 25"/>
            <p:cNvSpPr txBox="1"/>
            <p:nvPr/>
          </p:nvSpPr>
          <p:spPr>
            <a:xfrm>
              <a:off x="721103" y="5279708"/>
              <a:ext cx="272294" cy="322707"/>
            </a:xfrm>
            <a:prstGeom prst="rect">
              <a:avLst/>
            </a:prstGeom>
            <a:noFill/>
            <a:ln>
              <a:noFill/>
            </a:ln>
          </p:spPr>
          <p:txBody>
            <a:bodyPr wrap="none" lIns="0" tIns="0" rIns="0" bIns="0" anchor="t" anchorCtr="0">
              <a:spAutoFit/>
            </a:bodyPr>
            <a:lstStyle/>
            <a:p>
              <a:pPr algn="ctr"/>
              <a:r>
                <a:rPr lang="vi" sz="1650" b="1" dirty="0">
                  <a:solidFill>
                    <a:srgbClr val="FFFFFF"/>
                  </a:solidFill>
                  <a:latin typeface="+mn-lt"/>
                  <a:ea typeface="+mn-ea"/>
                  <a:cs typeface="+mn-cs"/>
                </a:rPr>
                <a:t>03</a:t>
              </a:r>
            </a:p>
          </p:txBody>
        </p:sp>
        <p:sp>
          <p:nvSpPr>
            <p:cNvPr id="26" name="TextBox 26"/>
            <p:cNvSpPr txBox="1"/>
            <p:nvPr/>
          </p:nvSpPr>
          <p:spPr>
            <a:xfrm>
              <a:off x="1363218" y="5174932"/>
              <a:ext cx="1807709" cy="322707"/>
            </a:xfrm>
            <a:prstGeom prst="rect">
              <a:avLst/>
            </a:prstGeom>
            <a:noFill/>
            <a:ln>
              <a:noFill/>
            </a:ln>
          </p:spPr>
          <p:txBody>
            <a:bodyPr wrap="none" lIns="0" tIns="0" rIns="0" bIns="0" anchor="t" anchorCtr="0">
              <a:spAutoFit/>
            </a:bodyPr>
            <a:lstStyle/>
            <a:p>
              <a:pPr algn="l"/>
              <a:r>
                <a:rPr lang="vi" sz="1650" b="1" dirty="0">
                  <a:solidFill>
                    <a:srgbClr val="8B5A5F"/>
                  </a:solidFill>
                  <a:latin typeface="+mn-lt"/>
                  <a:ea typeface="+mn-ea"/>
                  <a:cs typeface="+mn-cs"/>
                </a:rPr>
                <a:t>Lý do nguyên tắc</a:t>
              </a:r>
            </a:p>
          </p:txBody>
        </p:sp>
        <p:sp>
          <p:nvSpPr>
            <p:cNvPr id="27" name="TextBox 27"/>
            <p:cNvSpPr txBox="1"/>
            <p:nvPr/>
          </p:nvSpPr>
          <p:spPr>
            <a:xfrm>
              <a:off x="1363980" y="5476875"/>
              <a:ext cx="7441025" cy="293370"/>
            </a:xfrm>
            <a:prstGeom prst="rect">
              <a:avLst/>
            </a:prstGeom>
            <a:noFill/>
            <a:ln>
              <a:noFill/>
            </a:ln>
          </p:spPr>
          <p:txBody>
            <a:bodyPr wrap="none" lIns="0" tIns="0" rIns="0" bIns="0" anchor="t" anchorCtr="0">
              <a:spAutoFit/>
            </a:bodyPr>
            <a:lstStyle/>
            <a:p>
              <a:pPr algn="l"/>
              <a:r>
                <a:rPr lang="vi" sz="1500" dirty="0">
                  <a:solidFill>
                    <a:schemeClr val="accent5"/>
                  </a:solidFill>
                  <a:latin typeface="+mn-lt"/>
                  <a:ea typeface="+mn-ea"/>
                  <a:cs typeface="+mn-cs"/>
                </a:rPr>
                <a:t>Vấn đề của tín hiệu đó là nó không mong muốn, chứ không phải là nó kém dự báo.</a:t>
              </a:r>
            </a:p>
          </p:txBody>
        </p:sp>
      </p:grpSp>
      <p:sp>
        <p:nvSpPr>
          <p:cNvPr id="29" name="TextBox 29"/>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18</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5646199" cy="1523619"/>
            <a:chOff x="592836" y="651510"/>
            <a:chExt cx="5646199" cy="15236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4. SHIFT</a:t>
              </a:r>
            </a:p>
          </p:txBody>
        </p:sp>
        <p:sp>
          <p:nvSpPr>
            <p:cNvPr id="5" name="TextBox 5"/>
            <p:cNvSpPr txBox="1"/>
            <p:nvPr/>
          </p:nvSpPr>
          <p:spPr>
            <a:xfrm>
              <a:off x="592836" y="1034415"/>
              <a:ext cx="5646199"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Sparse Human-interpretable</a:t>
              </a:r>
              <a:br/>
              <a:r>
                <a:rPr lang="vi" sz="3300" b="1" dirty="0">
                  <a:solidFill>
                    <a:schemeClr val="dk1"/>
                  </a:solidFill>
                  <a:latin typeface="+mn-lt"/>
                  <a:ea typeface="+mn-ea"/>
                  <a:cs typeface="+mn-cs"/>
                </a:rPr>
                <a:t>Feature Trimming, bốn bước</a:t>
              </a:r>
            </a:p>
          </p:txBody>
        </p:sp>
      </p:grpSp>
      <p:grpSp>
        <p:nvGrpSpPr>
          <p:cNvPr id="19" name="p19-buoc-strip"/>
          <p:cNvGrpSpPr/>
          <p:nvPr/>
        </p:nvGrpSpPr>
        <p:grpSpPr>
          <a:xfrm>
            <a:off x="609600" y="2819400"/>
            <a:ext cx="10744200" cy="1947101"/>
            <a:chOff x="609600" y="2819400"/>
            <a:chExt cx="10744200" cy="1947101"/>
          </a:xfrm>
        </p:grpSpPr>
        <p:sp>
          <p:nvSpPr>
            <p:cNvPr id="7" name="Freeform 7"/>
            <p:cNvSpPr/>
            <p:nvPr/>
          </p:nvSpPr>
          <p:spPr>
            <a:xfrm>
              <a:off x="609600" y="2819400"/>
              <a:ext cx="2857500" cy="914400"/>
            </a:xfrm>
            <a:prstGeom prst="chevron">
              <a:avLst/>
            </a:prstGeom>
            <a:solidFill>
              <a:schemeClr val="accent1"/>
            </a:solidFill>
            <a:ln w="14288">
              <a:solidFill>
                <a:srgbClr val="1B2430"/>
              </a:solidFill>
            </a:ln>
          </p:spPr>
        </p:sp>
        <p:sp>
          <p:nvSpPr>
            <p:cNvPr id="8" name="Freeform 8"/>
            <p:cNvSpPr/>
            <p:nvPr/>
          </p:nvSpPr>
          <p:spPr>
            <a:xfrm>
              <a:off x="3238500" y="2819400"/>
              <a:ext cx="2857500" cy="914400"/>
            </a:xfrm>
            <a:prstGeom prst="chevron">
              <a:avLst/>
            </a:prstGeom>
            <a:solidFill>
              <a:schemeClr val="accent3"/>
            </a:solidFill>
            <a:ln w="14288">
              <a:solidFill>
                <a:srgbClr val="1B2430"/>
              </a:solidFill>
            </a:ln>
          </p:spPr>
        </p:sp>
        <p:sp>
          <p:nvSpPr>
            <p:cNvPr id="9" name="Freeform 9"/>
            <p:cNvSpPr/>
            <p:nvPr/>
          </p:nvSpPr>
          <p:spPr>
            <a:xfrm>
              <a:off x="5867400" y="2819400"/>
              <a:ext cx="2857500" cy="914400"/>
            </a:xfrm>
            <a:prstGeom prst="chevron">
              <a:avLst/>
            </a:prstGeom>
            <a:solidFill>
              <a:srgbClr val="6E757E"/>
            </a:solidFill>
            <a:ln w="14288">
              <a:solidFill>
                <a:srgbClr val="1B2430"/>
              </a:solidFill>
            </a:ln>
          </p:spPr>
        </p:sp>
        <p:sp>
          <p:nvSpPr>
            <p:cNvPr id="10" name="Freeform 10"/>
            <p:cNvSpPr/>
            <p:nvPr/>
          </p:nvSpPr>
          <p:spPr>
            <a:xfrm>
              <a:off x="8496300" y="2819400"/>
              <a:ext cx="2857500" cy="914400"/>
            </a:xfrm>
            <a:prstGeom prst="chevron">
              <a:avLst/>
            </a:prstGeom>
            <a:solidFill>
              <a:srgbClr val="8B5A5F"/>
            </a:solidFill>
            <a:ln w="14288">
              <a:solidFill>
                <a:srgbClr val="1B2430"/>
              </a:solidFill>
            </a:ln>
          </p:spPr>
        </p:sp>
        <p:sp>
          <p:nvSpPr>
            <p:cNvPr id="11" name="TextBox 11"/>
            <p:cNvSpPr txBox="1"/>
            <p:nvPr/>
          </p:nvSpPr>
          <p:spPr>
            <a:xfrm>
              <a:off x="1681245" y="3148012"/>
              <a:ext cx="371310" cy="440055"/>
            </a:xfrm>
            <a:prstGeom prst="rect">
              <a:avLst/>
            </a:prstGeom>
            <a:noFill/>
            <a:ln>
              <a:noFill/>
            </a:ln>
          </p:spPr>
          <p:txBody>
            <a:bodyPr wrap="none" lIns="0" tIns="0" rIns="0" bIns="0" anchor="t" anchorCtr="0">
              <a:spAutoFit/>
            </a:bodyPr>
            <a:lstStyle/>
            <a:p>
              <a:pPr algn="ctr"/>
              <a:r>
                <a:rPr lang="vi" sz="2250" b="1" dirty="0">
                  <a:solidFill>
                    <a:srgbClr val="FFFFFF"/>
                  </a:solidFill>
                  <a:latin typeface="+mn-lt"/>
                  <a:ea typeface="+mn-ea"/>
                  <a:cs typeface="+mn-cs"/>
                </a:rPr>
                <a:t>01</a:t>
              </a:r>
            </a:p>
          </p:txBody>
        </p:sp>
        <p:sp>
          <p:nvSpPr>
            <p:cNvPr id="12" name="TextBox 12"/>
            <p:cNvSpPr txBox="1"/>
            <p:nvPr/>
          </p:nvSpPr>
          <p:spPr>
            <a:xfrm>
              <a:off x="4310145" y="3148012"/>
              <a:ext cx="371310" cy="440055"/>
            </a:xfrm>
            <a:prstGeom prst="rect">
              <a:avLst/>
            </a:prstGeom>
            <a:noFill/>
            <a:ln>
              <a:noFill/>
            </a:ln>
          </p:spPr>
          <p:txBody>
            <a:bodyPr wrap="none" lIns="0" tIns="0" rIns="0" bIns="0" anchor="t" anchorCtr="0">
              <a:spAutoFit/>
            </a:bodyPr>
            <a:lstStyle/>
            <a:p>
              <a:pPr algn="ctr"/>
              <a:r>
                <a:rPr lang="vi" sz="2250" b="1" dirty="0">
                  <a:solidFill>
                    <a:srgbClr val="FFFFFF"/>
                  </a:solidFill>
                  <a:latin typeface="+mn-lt"/>
                  <a:ea typeface="+mn-ea"/>
                  <a:cs typeface="+mn-cs"/>
                </a:rPr>
                <a:t>02</a:t>
              </a:r>
            </a:p>
          </p:txBody>
        </p:sp>
        <p:sp>
          <p:nvSpPr>
            <p:cNvPr id="13" name="TextBox 13"/>
            <p:cNvSpPr txBox="1"/>
            <p:nvPr/>
          </p:nvSpPr>
          <p:spPr>
            <a:xfrm>
              <a:off x="6939045" y="3148012"/>
              <a:ext cx="371310" cy="440055"/>
            </a:xfrm>
            <a:prstGeom prst="rect">
              <a:avLst/>
            </a:prstGeom>
            <a:noFill/>
            <a:ln>
              <a:noFill/>
            </a:ln>
          </p:spPr>
          <p:txBody>
            <a:bodyPr wrap="none" lIns="0" tIns="0" rIns="0" bIns="0" anchor="t" anchorCtr="0">
              <a:spAutoFit/>
            </a:bodyPr>
            <a:lstStyle/>
            <a:p>
              <a:pPr algn="ctr"/>
              <a:r>
                <a:rPr lang="vi" sz="2250" b="1" dirty="0">
                  <a:solidFill>
                    <a:srgbClr val="FFFFFF"/>
                  </a:solidFill>
                  <a:latin typeface="+mn-lt"/>
                  <a:ea typeface="+mn-ea"/>
                  <a:cs typeface="+mn-cs"/>
                </a:rPr>
                <a:t>03</a:t>
              </a:r>
            </a:p>
          </p:txBody>
        </p:sp>
        <p:sp>
          <p:nvSpPr>
            <p:cNvPr id="14" name="TextBox 14"/>
            <p:cNvSpPr txBox="1"/>
            <p:nvPr/>
          </p:nvSpPr>
          <p:spPr>
            <a:xfrm>
              <a:off x="9567945" y="3148012"/>
              <a:ext cx="371310" cy="440055"/>
            </a:xfrm>
            <a:prstGeom prst="rect">
              <a:avLst/>
            </a:prstGeom>
            <a:noFill/>
            <a:ln>
              <a:noFill/>
            </a:ln>
          </p:spPr>
          <p:txBody>
            <a:bodyPr wrap="none" lIns="0" tIns="0" rIns="0" bIns="0" anchor="t" anchorCtr="0">
              <a:spAutoFit/>
            </a:bodyPr>
            <a:lstStyle/>
            <a:p>
              <a:pPr algn="ctr"/>
              <a:r>
                <a:rPr lang="vi" sz="2250" b="1" dirty="0">
                  <a:solidFill>
                    <a:srgbClr val="FFFFFF"/>
                  </a:solidFill>
                  <a:latin typeface="+mn-lt"/>
                  <a:ea typeface="+mn-ea"/>
                  <a:cs typeface="+mn-cs"/>
                </a:rPr>
                <a:t>04</a:t>
              </a:r>
            </a:p>
          </p:txBody>
        </p:sp>
        <p:sp>
          <p:nvSpPr>
            <p:cNvPr id="15" name="TextBox 15"/>
            <p:cNvSpPr txBox="1"/>
            <p:nvPr/>
          </p:nvSpPr>
          <p:spPr>
            <a:xfrm>
              <a:off x="1059942" y="4007168"/>
              <a:ext cx="1742395"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dk1"/>
                  </a:solidFill>
                  <a:latin typeface="+mn-lt"/>
                  <a:ea typeface="+mn-ea"/>
                  <a:cs typeface="+mn-cs"/>
                </a:rPr>
                <a:t>Tính feature circuit giải</a:t>
              </a:r>
              <a:br/>
              <a:r>
                <a:rPr lang="vi" sz="1350" dirty="0">
                  <a:solidFill>
                    <a:schemeClr val="dk1"/>
                  </a:solidFill>
                  <a:latin typeface="+mn-lt"/>
                  <a:ea typeface="+mn-ea"/>
                  <a:cs typeface="+mn-cs"/>
                </a:rPr>
                <a:t>thích độ chính xác của</a:t>
              </a:r>
              <a:br/>
              <a:r>
                <a:rPr lang="vi" sz="1350" dirty="0">
                  <a:solidFill>
                    <a:schemeClr val="dk1"/>
                  </a:solidFill>
                  <a:latin typeface="+mn-lt"/>
                  <a:ea typeface="+mn-ea"/>
                  <a:cs typeface="+mn-cs"/>
                </a:rPr>
                <a:t>classifier trên D.</a:t>
              </a:r>
            </a:p>
          </p:txBody>
        </p:sp>
        <p:sp>
          <p:nvSpPr>
            <p:cNvPr id="16" name="TextBox 16"/>
            <p:cNvSpPr txBox="1"/>
            <p:nvPr/>
          </p:nvSpPr>
          <p:spPr>
            <a:xfrm>
              <a:off x="3688842" y="4007168"/>
              <a:ext cx="1902684"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dk1"/>
                  </a:solidFill>
                  <a:latin typeface="+mn-lt"/>
                  <a:ea typeface="+mn-ea"/>
                  <a:cs typeface="+mn-cs"/>
                </a:rPr>
                <a:t>Người xem từng feature</a:t>
              </a:r>
              <a:br/>
              <a:r>
                <a:rPr lang="vi" sz="1350" dirty="0">
                  <a:solidFill>
                    <a:schemeClr val="dk1"/>
                  </a:solidFill>
                  <a:latin typeface="+mn-lt"/>
                  <a:ea typeface="+mn-ea"/>
                  <a:cs typeface="+mn-cs"/>
                </a:rPr>
                <a:t>trong circuit, đánh giá có</a:t>
              </a:r>
              <a:br/>
              <a:r>
                <a:rPr lang="vi" sz="1350" dirty="0">
                  <a:solidFill>
                    <a:schemeClr val="dk1"/>
                  </a:solidFill>
                  <a:latin typeface="+mn-lt"/>
                  <a:ea typeface="+mn-ea"/>
                  <a:cs typeface="+mn-cs"/>
                </a:rPr>
                <a:t>liên quan tới task không.</a:t>
              </a:r>
            </a:p>
          </p:txBody>
        </p:sp>
        <p:sp>
          <p:nvSpPr>
            <p:cNvPr id="17" name="TextBox 17"/>
            <p:cNvSpPr txBox="1"/>
            <p:nvPr/>
          </p:nvSpPr>
          <p:spPr>
            <a:xfrm>
              <a:off x="6317742" y="4007168"/>
              <a:ext cx="1762095"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dk1"/>
                  </a:solidFill>
                  <a:latin typeface="+mn-lt"/>
                  <a:ea typeface="+mn-ea"/>
                  <a:cs typeface="+mn-cs"/>
                </a:rPr>
                <a:t>Ablate các feature bị</a:t>
              </a:r>
              <a:br/>
              <a:r>
                <a:rPr lang="vi" sz="1350" dirty="0">
                  <a:solidFill>
                    <a:schemeClr val="dk1"/>
                  </a:solidFill>
                  <a:latin typeface="+mn-lt"/>
                  <a:ea typeface="+mn-ea"/>
                  <a:cs typeface="+mn-cs"/>
                </a:rPr>
                <a:t>đánh giá là không liên</a:t>
              </a:r>
              <a:br/>
              <a:r>
                <a:rPr lang="vi" sz="1350" dirty="0">
                  <a:solidFill>
                    <a:schemeClr val="dk1"/>
                  </a:solidFill>
                  <a:latin typeface="+mn-lt"/>
                  <a:ea typeface="+mn-ea"/>
                  <a:cs typeface="+mn-cs"/>
                </a:rPr>
                <a:t>quan, thu được C phẩy.</a:t>
              </a:r>
            </a:p>
          </p:txBody>
        </p:sp>
        <p:sp>
          <p:nvSpPr>
            <p:cNvPr id="18" name="TextBox 18"/>
            <p:cNvSpPr txBox="1"/>
            <p:nvPr/>
          </p:nvSpPr>
          <p:spPr>
            <a:xfrm>
              <a:off x="8946642" y="4007168"/>
              <a:ext cx="1749733"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dk1"/>
                  </a:solidFill>
                  <a:latin typeface="+mn-lt"/>
                  <a:ea typeface="+mn-ea"/>
                  <a:cs typeface="+mn-cs"/>
                </a:rPr>
                <a:t>Tuỳ chọn: fine-tune lại</a:t>
              </a:r>
              <a:br/>
              <a:r>
                <a:rPr lang="vi" sz="1350" dirty="0">
                  <a:solidFill>
                    <a:schemeClr val="dk1"/>
                  </a:solidFill>
                  <a:latin typeface="+mn-lt"/>
                  <a:ea typeface="+mn-ea"/>
                  <a:cs typeface="+mn-cs"/>
                </a:rPr>
                <a:t>C phẩy trên chính D để</a:t>
              </a:r>
              <a:br/>
              <a:r>
                <a:rPr lang="vi" sz="1350" dirty="0">
                  <a:solidFill>
                    <a:schemeClr val="dk1"/>
                  </a:solidFill>
                  <a:latin typeface="+mn-lt"/>
                  <a:ea typeface="+mn-ea"/>
                  <a:cs typeface="+mn-cs"/>
                </a:rPr>
                <a:t>khôi phục hiệu năng.</a:t>
              </a:r>
            </a:p>
          </p:txBody>
        </p:sp>
      </p:grpSp>
      <p:grpSp>
        <p:nvGrpSpPr>
          <p:cNvPr id="22" name="p19-nguon-tin-hieu"/>
          <p:cNvGrpSpPr/>
          <p:nvPr/>
        </p:nvGrpSpPr>
        <p:grpSpPr>
          <a:xfrm>
            <a:off x="609600" y="5257800"/>
            <a:ext cx="9028831" cy="1001839"/>
            <a:chOff x="609600" y="5257800"/>
            <a:chExt cx="9028831" cy="1001839"/>
          </a:xfrm>
        </p:grpSpPr>
        <p:sp>
          <p:nvSpPr>
            <p:cNvPr id="20" name="Rectangle 20"/>
            <p:cNvSpPr/>
            <p:nvPr/>
          </p:nvSpPr>
          <p:spPr>
            <a:xfrm>
              <a:off x="609600" y="5257800"/>
              <a:ext cx="76200" cy="952500"/>
            </a:xfrm>
            <a:prstGeom prst="roundRect">
              <a:avLst>
                <a:gd name="adj" fmla="val 50000"/>
              </a:avLst>
            </a:prstGeom>
            <a:solidFill>
              <a:schemeClr val="accent2"/>
            </a:solidFill>
            <a:ln>
              <a:noFill/>
            </a:ln>
          </p:spPr>
        </p:sp>
        <p:sp>
          <p:nvSpPr>
            <p:cNvPr id="21" name="TextBox 21"/>
            <p:cNvSpPr txBox="1"/>
            <p:nvPr/>
          </p:nvSpPr>
          <p:spPr>
            <a:xfrm>
              <a:off x="944118" y="5365432"/>
              <a:ext cx="8694313" cy="894207"/>
            </a:xfrm>
            <a:prstGeom prst="rect">
              <a:avLst/>
            </a:prstGeom>
            <a:noFill/>
            <a:ln>
              <a:noFill/>
            </a:ln>
          </p:spPr>
          <p:txBody>
            <a:bodyPr wrap="none" lIns="0" tIns="0" rIns="0" bIns="0" anchor="t" anchorCtr="0">
              <a:spAutoFit/>
            </a:bodyPr>
            <a:lstStyle/>
            <a:p>
              <a:pPr algn="l">
                <a:lnSpc>
                  <a:spcPts val="2250"/>
                </a:lnSpc>
              </a:pPr>
              <a:r>
                <a:rPr lang="vi" sz="1650" dirty="0">
                  <a:solidFill>
                    <a:schemeClr val="dk1"/>
                  </a:solidFill>
                  <a:latin typeface="+mn-lt"/>
                  <a:ea typeface="+mn-ea"/>
                  <a:cs typeface="+mn-cs"/>
                </a:rPr>
                <a:t>Bước 2 là chỗ duy nhất cần con người, và là nơi tín hiệu phân định đi vào. Người chú thích</a:t>
              </a:r>
              <a:br/>
              <a:r>
                <a:rPr lang="vi" sz="1650" dirty="0">
                  <a:solidFill>
                    <a:schemeClr val="dk1"/>
                  </a:solidFill>
                  <a:latin typeface="+mn-lt"/>
                  <a:ea typeface="+mn-ea"/>
                  <a:cs typeface="+mn-cs"/>
                </a:rPr>
                <a:t>duyệt feature trên Neuronpedia, tức dùng thêm dữ liệu không nhãn, nhưng không dùng thêm</a:t>
              </a:r>
              <a:br/>
              <a:r>
                <a:rPr lang="vi" sz="1650" dirty="0">
                  <a:solidFill>
                    <a:schemeClr val="dk1"/>
                  </a:solidFill>
                  <a:latin typeface="+mn-lt"/>
                  <a:ea typeface="+mn-ea"/>
                  <a:cs typeface="+mn-cs"/>
                </a:rPr>
                <a:t>bất kỳ dữ liệu có nhãn nào ngoài ambiguous set.</a:t>
              </a:r>
            </a:p>
          </p:txBody>
        </p:sp>
      </p:grpSp>
      <p:sp>
        <p:nvSpPr>
          <p:cNvPr id="23" name="TextBox 23"/>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19</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8119214" cy="1028319"/>
            <a:chOff x="592836" y="651510"/>
            <a:chExt cx="8119214" cy="10283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4. SHIFT</a:t>
              </a:r>
            </a:p>
          </p:txBody>
        </p:sp>
        <p:sp>
          <p:nvSpPr>
            <p:cNvPr id="5" name="TextBox 5"/>
            <p:cNvSpPr txBox="1"/>
            <p:nvPr/>
          </p:nvSpPr>
          <p:spPr>
            <a:xfrm>
              <a:off x="592836" y="1034415"/>
              <a:ext cx="8119214" cy="645414"/>
            </a:xfrm>
            <a:prstGeom prst="rect">
              <a:avLst/>
            </a:prstGeom>
            <a:noFill/>
            <a:ln>
              <a:noFill/>
            </a:ln>
          </p:spPr>
          <p:txBody>
            <a:bodyPr wrap="none" lIns="0" tIns="0" rIns="0" bIns="0" anchor="t" anchorCtr="0">
              <a:spAutoFit/>
            </a:bodyPr>
            <a:lstStyle/>
            <a:p>
              <a:pPr algn="l"/>
              <a:r>
                <a:rPr lang="vi" sz="3300" b="1" dirty="0">
                  <a:solidFill>
                    <a:schemeClr val="dk1"/>
                  </a:solidFill>
                  <a:latin typeface="+mn-lt"/>
                  <a:ea typeface="+mn-ea"/>
                  <a:cs typeface="+mn-cs"/>
                </a:rPr>
                <a:t>Ambiguous set: nam giáo sư và nữ y tá</a:t>
              </a:r>
            </a:p>
          </p:txBody>
        </p:sp>
      </p:grpSp>
      <p:grpSp>
        <p:nvGrpSpPr>
          <p:cNvPr id="10" name="p20-ambiguous"/>
          <p:cNvGrpSpPr/>
          <p:nvPr/>
        </p:nvGrpSpPr>
        <p:grpSpPr>
          <a:xfrm>
            <a:off x="609600" y="1866900"/>
            <a:ext cx="5295900" cy="1293495"/>
            <a:chOff x="609600" y="1866900"/>
            <a:chExt cx="5295900" cy="1293495"/>
          </a:xfrm>
        </p:grpSpPr>
        <p:sp>
          <p:nvSpPr>
            <p:cNvPr id="7" name="Rectangle 7"/>
            <p:cNvSpPr/>
            <p:nvPr/>
          </p:nvSpPr>
          <p:spPr>
            <a:xfrm>
              <a:off x="609600" y="1866900"/>
              <a:ext cx="5295900" cy="1238250"/>
            </a:xfrm>
            <a:prstGeom prst="roundRect">
              <a:avLst>
                <a:gd name="adj" fmla="val 9231"/>
              </a:avLst>
            </a:prstGeom>
            <a:solidFill>
              <a:schemeClr val="lt2"/>
            </a:solidFill>
            <a:ln>
              <a:noFill/>
            </a:ln>
          </p:spPr>
        </p:sp>
        <p:sp>
          <p:nvSpPr>
            <p:cNvPr id="8" name="TextBox 8"/>
            <p:cNvSpPr txBox="1"/>
            <p:nvPr/>
          </p:nvSpPr>
          <p:spPr>
            <a:xfrm>
              <a:off x="906018" y="1993582"/>
              <a:ext cx="1590051" cy="322707"/>
            </a:xfrm>
            <a:prstGeom prst="rect">
              <a:avLst/>
            </a:prstGeom>
            <a:noFill/>
            <a:ln>
              <a:noFill/>
            </a:ln>
          </p:spPr>
          <p:txBody>
            <a:bodyPr wrap="none" lIns="0" tIns="0" rIns="0" bIns="0" anchor="t" anchorCtr="0">
              <a:spAutoFit/>
            </a:bodyPr>
            <a:lstStyle/>
            <a:p>
              <a:pPr algn="l"/>
              <a:r>
                <a:rPr lang="vi" sz="1650" b="1" dirty="0">
                  <a:solidFill>
                    <a:srgbClr val="8B5A5F"/>
                  </a:solidFill>
                  <a:latin typeface="+mn-lt"/>
                  <a:ea typeface="+mn-ea"/>
                  <a:cs typeface="+mn-cs"/>
                </a:rPr>
                <a:t>Ambiguous set</a:t>
              </a:r>
            </a:p>
          </p:txBody>
        </p:sp>
        <p:sp>
          <p:nvSpPr>
            <p:cNvPr id="9" name="TextBox 9"/>
            <p:cNvSpPr txBox="1"/>
            <p:nvPr/>
          </p:nvSpPr>
          <p:spPr>
            <a:xfrm>
              <a:off x="906780" y="2333625"/>
              <a:ext cx="3066364" cy="826770"/>
            </a:xfrm>
            <a:prstGeom prst="rect">
              <a:avLst/>
            </a:prstGeom>
            <a:noFill/>
            <a:ln>
              <a:noFill/>
            </a:ln>
          </p:spPr>
          <p:txBody>
            <a:bodyPr wrap="none" lIns="0" tIns="0" rIns="0" bIns="0" anchor="t" anchorCtr="0">
              <a:spAutoFit/>
            </a:bodyPr>
            <a:lstStyle/>
            <a:p>
              <a:pPr algn="l">
                <a:lnSpc>
                  <a:spcPts val="2100"/>
                </a:lnSpc>
              </a:pPr>
              <a:r>
                <a:rPr lang="vi" sz="1500" dirty="0">
                  <a:solidFill>
                    <a:schemeClr val="dk1"/>
                  </a:solidFill>
                  <a:latin typeface="+mn-lt"/>
                  <a:ea typeface="+mn-ea"/>
                  <a:cs typeface="+mn-cs"/>
                </a:rPr>
                <a:t>Chỉ tiểu sử của nam giáo sư (nhãn 0)</a:t>
              </a:r>
              <a:br/>
              <a:r>
                <a:rPr lang="vi" sz="1500" dirty="0">
                  <a:solidFill>
                    <a:schemeClr val="dk1"/>
                  </a:solidFill>
                  <a:latin typeface="+mn-lt"/>
                  <a:ea typeface="+mn-ea"/>
                  <a:cs typeface="+mn-cs"/>
                </a:rPr>
                <a:t>và nữ y tá (nhãn 1). Giới tính dự báo</a:t>
              </a:r>
              <a:br/>
              <a:r>
                <a:rPr lang="vi" sz="1500" dirty="0">
                  <a:solidFill>
                    <a:schemeClr val="dk1"/>
                  </a:solidFill>
                  <a:latin typeface="+mn-lt"/>
                  <a:ea typeface="+mn-ea"/>
                  <a:cs typeface="+mn-cs"/>
                </a:rPr>
                <a:t>nhãn đúng 100%.</a:t>
              </a:r>
            </a:p>
          </p:txBody>
        </p:sp>
      </p:grpSp>
      <p:grpSp>
        <p:nvGrpSpPr>
          <p:cNvPr id="14" name="p20-balanced"/>
          <p:cNvGrpSpPr/>
          <p:nvPr/>
        </p:nvGrpSpPr>
        <p:grpSpPr>
          <a:xfrm>
            <a:off x="6286500" y="1866900"/>
            <a:ext cx="5295900" cy="1293495"/>
            <a:chOff x="6286500" y="1866900"/>
            <a:chExt cx="5295900" cy="1293495"/>
          </a:xfrm>
        </p:grpSpPr>
        <p:sp>
          <p:nvSpPr>
            <p:cNvPr id="11" name="Rectangle 11"/>
            <p:cNvSpPr/>
            <p:nvPr/>
          </p:nvSpPr>
          <p:spPr>
            <a:xfrm>
              <a:off x="6286500" y="1866900"/>
              <a:ext cx="5295900" cy="1238250"/>
            </a:xfrm>
            <a:prstGeom prst="roundRect">
              <a:avLst>
                <a:gd name="adj" fmla="val 9231"/>
              </a:avLst>
            </a:prstGeom>
            <a:solidFill>
              <a:schemeClr val="lt2"/>
            </a:solidFill>
            <a:ln>
              <a:noFill/>
            </a:ln>
          </p:spPr>
        </p:sp>
        <p:sp>
          <p:nvSpPr>
            <p:cNvPr id="12" name="TextBox 12"/>
            <p:cNvSpPr txBox="1"/>
            <p:nvPr/>
          </p:nvSpPr>
          <p:spPr>
            <a:xfrm>
              <a:off x="6582918" y="1993582"/>
              <a:ext cx="1332381"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Balanced set</a:t>
              </a:r>
            </a:p>
          </p:txBody>
        </p:sp>
        <p:sp>
          <p:nvSpPr>
            <p:cNvPr id="13" name="TextBox 13"/>
            <p:cNvSpPr txBox="1"/>
            <p:nvPr/>
          </p:nvSpPr>
          <p:spPr>
            <a:xfrm>
              <a:off x="6583680" y="2333625"/>
              <a:ext cx="3186417" cy="826770"/>
            </a:xfrm>
            <a:prstGeom prst="rect">
              <a:avLst/>
            </a:prstGeom>
            <a:noFill/>
            <a:ln>
              <a:noFill/>
            </a:ln>
          </p:spPr>
          <p:txBody>
            <a:bodyPr wrap="none" lIns="0" tIns="0" rIns="0" bIns="0" anchor="t" anchorCtr="0">
              <a:spAutoFit/>
            </a:bodyPr>
            <a:lstStyle/>
            <a:p>
              <a:pPr algn="l">
                <a:lnSpc>
                  <a:spcPts val="2100"/>
                </a:lnSpc>
              </a:pPr>
              <a:r>
                <a:rPr lang="vi" sz="1500" dirty="0">
                  <a:solidFill>
                    <a:schemeClr val="dk1"/>
                  </a:solidFill>
                  <a:latin typeface="+mn-lt"/>
                  <a:ea typeface="+mn-ea"/>
                  <a:cs typeface="+mn-cs"/>
                </a:rPr>
                <a:t>Số lượng bằng nhau của nam giáo sư,</a:t>
              </a:r>
              <a:br/>
              <a:r>
                <a:rPr lang="vi" sz="1500" dirty="0">
                  <a:solidFill>
                    <a:schemeClr val="dk1"/>
                  </a:solidFill>
                  <a:latin typeface="+mn-lt"/>
                  <a:ea typeface="+mn-ea"/>
                  <a:cs typeface="+mn-cs"/>
                </a:rPr>
                <a:t>nam y tá, nữ giáo sư và nữ y tá. Chỉ</a:t>
              </a:r>
              <a:br/>
              <a:r>
                <a:rPr lang="vi" sz="1500" dirty="0">
                  <a:solidFill>
                    <a:schemeClr val="dk1"/>
                  </a:solidFill>
                  <a:latin typeface="+mn-lt"/>
                  <a:ea typeface="+mn-ea"/>
                  <a:cs typeface="+mn-cs"/>
                </a:rPr>
                <a:t>dùng để đo, không dùng để tạo.</a:t>
              </a:r>
            </a:p>
          </p:txBody>
        </p:sp>
      </p:grpSp>
      <p:grpSp>
        <p:nvGrpSpPr>
          <p:cNvPr id="17" name="p20-luat-choi"/>
          <p:cNvGrpSpPr/>
          <p:nvPr/>
        </p:nvGrpSpPr>
        <p:grpSpPr>
          <a:xfrm>
            <a:off x="609600" y="3467100"/>
            <a:ext cx="9844169" cy="462534"/>
            <a:chOff x="609600" y="3467100"/>
            <a:chExt cx="9844169" cy="462534"/>
          </a:xfrm>
        </p:grpSpPr>
        <p:sp>
          <p:nvSpPr>
            <p:cNvPr id="15" name="Rectangle 15"/>
            <p:cNvSpPr/>
            <p:nvPr/>
          </p:nvSpPr>
          <p:spPr>
            <a:xfrm>
              <a:off x="609600" y="3467100"/>
              <a:ext cx="76200" cy="457200"/>
            </a:xfrm>
            <a:prstGeom prst="roundRect">
              <a:avLst>
                <a:gd name="adj" fmla="val 50000"/>
              </a:avLst>
            </a:prstGeom>
            <a:solidFill>
              <a:schemeClr val="accent2"/>
            </a:solidFill>
            <a:ln>
              <a:noFill/>
            </a:ln>
          </p:spPr>
        </p:sp>
        <p:sp>
          <p:nvSpPr>
            <p:cNvPr id="16" name="TextBox 16"/>
            <p:cNvSpPr txBox="1"/>
            <p:nvPr/>
          </p:nvSpPr>
          <p:spPr>
            <a:xfrm>
              <a:off x="943356" y="3577590"/>
              <a:ext cx="9510413" cy="352044"/>
            </a:xfrm>
            <a:prstGeom prst="rect">
              <a:avLst/>
            </a:prstGeom>
            <a:noFill/>
            <a:ln>
              <a:noFill/>
            </a:ln>
          </p:spPr>
          <p:txBody>
            <a:bodyPr wrap="none" lIns="0" tIns="0" rIns="0" bIns="0" anchor="t" anchorCtr="0">
              <a:spAutoFit/>
            </a:bodyPr>
            <a:lstStyle/>
            <a:p>
              <a:pPr algn="l"/>
              <a:r>
                <a:rPr lang="vi" sz="1800" dirty="0">
                  <a:solidFill>
                    <a:schemeClr val="dk1"/>
                  </a:solidFill>
                  <a:latin typeface="+mn-lt"/>
                  <a:ea typeface="+mn-ea"/>
                  <a:cs typeface="+mn-cs"/>
                </a:rPr>
                <a:t>Chỉ được dùng ambiguous set, tạo ra classifier nghề nghiệp chạy đúng trên balanced set.</a:t>
              </a:r>
            </a:p>
          </p:txBody>
        </p:sp>
      </p:grpSp>
      <p:grpSp>
        <p:nvGrpSpPr>
          <p:cNvPr id="20" name="p20-classifier"/>
          <p:cNvGrpSpPr/>
          <p:nvPr/>
        </p:nvGrpSpPr>
        <p:grpSpPr>
          <a:xfrm>
            <a:off x="601980" y="4752975"/>
            <a:ext cx="4137988" cy="1556576"/>
            <a:chOff x="601980" y="4752975"/>
            <a:chExt cx="4137988" cy="1556576"/>
          </a:xfrm>
        </p:grpSpPr>
        <p:sp>
          <p:nvSpPr>
            <p:cNvPr id="18" name="TextBox 18"/>
            <p:cNvSpPr txBox="1"/>
            <p:nvPr/>
          </p:nvSpPr>
          <p:spPr>
            <a:xfrm>
              <a:off x="601980" y="4752975"/>
              <a:ext cx="871558" cy="293370"/>
            </a:xfrm>
            <a:prstGeom prst="rect">
              <a:avLst/>
            </a:prstGeom>
            <a:noFill/>
            <a:ln>
              <a:noFill/>
            </a:ln>
          </p:spPr>
          <p:txBody>
            <a:bodyPr wrap="none" lIns="0" tIns="0" rIns="0" bIns="0" anchor="t" anchorCtr="0">
              <a:spAutoFit/>
            </a:bodyPr>
            <a:lstStyle/>
            <a:p>
              <a:pPr algn="l"/>
              <a:r>
                <a:rPr lang="vi" sz="1500" b="1" dirty="0">
                  <a:solidFill>
                    <a:schemeClr val="accent1"/>
                  </a:solidFill>
                  <a:latin typeface="+mn-lt"/>
                  <a:ea typeface="+mn-ea"/>
                  <a:cs typeface="+mn-cs"/>
                </a:rPr>
                <a:t>Classifier</a:t>
              </a:r>
            </a:p>
          </p:txBody>
        </p:sp>
        <p:sp>
          <p:nvSpPr>
            <p:cNvPr id="19" name="TextBox 19"/>
            <p:cNvSpPr txBox="1"/>
            <p:nvPr/>
          </p:nvSpPr>
          <p:spPr>
            <a:xfrm>
              <a:off x="602742" y="5054918"/>
              <a:ext cx="4137226" cy="12546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Mean-pool residual stream ở một layer trên các token</a:t>
              </a:r>
              <a:br/>
              <a:r>
                <a:rPr lang="vi" sz="1350" dirty="0">
                  <a:solidFill>
                    <a:schemeClr val="accent5"/>
                  </a:solidFill>
                  <a:latin typeface="+mn-lt"/>
                  <a:ea typeface="+mn-ea"/>
                  <a:cs typeface="+mn-cs"/>
                </a:rPr>
                <a:t>không phải padding, rồi train linear head bằng logistic</a:t>
              </a:r>
              <a:br/>
              <a:r>
                <a:rPr lang="vi" sz="1350" dirty="0">
                  <a:solidFill>
                    <a:schemeClr val="accent5"/>
                  </a:solidFill>
                  <a:latin typeface="+mn-lt"/>
                  <a:ea typeface="+mn-ea"/>
                  <a:cs typeface="+mn-cs"/>
                </a:rPr>
                <a:t>regression. Pythia lấy layer 4. Gemma có nhiều layer</a:t>
              </a:r>
              <a:br/>
              <a:r>
                <a:rPr lang="vi" sz="1350" dirty="0">
                  <a:solidFill>
                    <a:schemeClr val="accent5"/>
                  </a:solidFill>
                  <a:latin typeface="+mn-lt"/>
                  <a:ea typeface="+mn-ea"/>
                  <a:cs typeface="+mn-cs"/>
                </a:rPr>
                <a:t>ngang nhau nên riêng lựa chọn này dùng balanced set</a:t>
              </a:r>
              <a:br/>
              <a:r>
                <a:rPr lang="vi" sz="1350" dirty="0">
                  <a:solidFill>
                    <a:schemeClr val="accent5"/>
                  </a:solidFill>
                  <a:latin typeface="+mn-lt"/>
                  <a:ea typeface="+mn-ea"/>
                  <a:cs typeface="+mn-cs"/>
                </a:rPr>
                <a:t>để lấy layer 22, layer mà baseline generalize tệ nhất.</a:t>
              </a:r>
            </a:p>
          </p:txBody>
        </p:sp>
      </p:grpSp>
      <p:grpSp>
        <p:nvGrpSpPr>
          <p:cNvPr id="23" name="p20-circuit"/>
          <p:cNvGrpSpPr/>
          <p:nvPr/>
        </p:nvGrpSpPr>
        <p:grpSpPr>
          <a:xfrm>
            <a:off x="6278880" y="4752975"/>
            <a:ext cx="4311941" cy="1556576"/>
            <a:chOff x="6278880" y="4752975"/>
            <a:chExt cx="4311941" cy="1556576"/>
          </a:xfrm>
        </p:grpSpPr>
        <p:sp>
          <p:nvSpPr>
            <p:cNvPr id="21" name="TextBox 21"/>
            <p:cNvSpPr txBox="1"/>
            <p:nvPr/>
          </p:nvSpPr>
          <p:spPr>
            <a:xfrm>
              <a:off x="6278880" y="4752975"/>
              <a:ext cx="1541515" cy="293370"/>
            </a:xfrm>
            <a:prstGeom prst="rect">
              <a:avLst/>
            </a:prstGeom>
            <a:noFill/>
            <a:ln>
              <a:noFill/>
            </a:ln>
          </p:spPr>
          <p:txBody>
            <a:bodyPr wrap="none" lIns="0" tIns="0" rIns="0" bIns="0" anchor="t" anchorCtr="0">
              <a:spAutoFit/>
            </a:bodyPr>
            <a:lstStyle/>
            <a:p>
              <a:pPr algn="l"/>
              <a:r>
                <a:rPr lang="vi" sz="1500" b="1" dirty="0">
                  <a:solidFill>
                    <a:schemeClr val="accent3"/>
                  </a:solidFill>
                  <a:latin typeface="+mn-lt"/>
                  <a:ea typeface="+mn-ea"/>
                  <a:cs typeface="+mn-cs"/>
                </a:rPr>
                <a:t>Circuit thu được</a:t>
              </a:r>
            </a:p>
          </p:txBody>
        </p:sp>
        <p:sp>
          <p:nvSpPr>
            <p:cNvPr id="22" name="TextBox 22"/>
            <p:cNvSpPr txBox="1"/>
            <p:nvPr/>
          </p:nvSpPr>
          <p:spPr>
            <a:xfrm>
              <a:off x="6279642" y="5054918"/>
              <a:ext cx="4311179" cy="12546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Pythia: 67 feature, loại bỏ 55. Gemma: 46 feature, loại 43.</a:t>
              </a:r>
              <a:br/>
              <a:r>
                <a:rPr lang="vi" sz="1350" dirty="0">
                  <a:solidFill>
                    <a:schemeClr val="accent5"/>
                  </a:solidFill>
                  <a:latin typeface="+mn-lt"/>
                  <a:ea typeface="+mn-ea"/>
                  <a:cs typeface="+mn-cs"/>
                </a:rPr>
                <a:t>Gemma Scope còn có BOS feature: chỉ kích hoạt trên</a:t>
              </a:r>
              <a:br/>
              <a:r>
                <a:rPr lang="vi" sz="1350" dirty="0">
                  <a:solidFill>
                    <a:schemeClr val="accent5"/>
                  </a:solidFill>
                  <a:latin typeface="+mn-lt"/>
                  <a:ea typeface="+mn-ea"/>
                  <a:cs typeface="+mn-cs"/>
                </a:rPr>
                <a:t>token BOS, indirect effect lớn nhưng không diễn giải</a:t>
              </a:r>
              <a:br/>
              <a:r>
                <a:rPr lang="vi" sz="1350" dirty="0">
                  <a:solidFill>
                    <a:schemeClr val="accent5"/>
                  </a:solidFill>
                  <a:latin typeface="+mn-lt"/>
                  <a:ea typeface="+mn-ea"/>
                  <a:cs typeface="+mn-cs"/>
                </a:rPr>
                <a:t>được, nên bị loại khỏi chú thích, khỏi SHIFT và khỏi</a:t>
              </a:r>
              <a:br/>
              <a:r>
                <a:rPr lang="vi" sz="1350" dirty="0">
                  <a:solidFill>
                    <a:schemeClr val="accent5"/>
                  </a:solidFill>
                  <a:latin typeface="+mn-lt"/>
                  <a:ea typeface="+mn-ea"/>
                  <a:cs typeface="+mn-cs"/>
                </a:rPr>
                <a:t>feature skyline.</a:t>
              </a:r>
            </a:p>
          </p:txBody>
        </p:sp>
      </p:grpSp>
      <p:sp>
        <p:nvSpPr>
          <p:cNvPr id="24" name="TextBox 24"/>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20</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920263" cy="1028319"/>
            <a:chOff x="592836" y="651510"/>
            <a:chExt cx="6920263" cy="10283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4. SHIFT</a:t>
              </a:r>
            </a:p>
          </p:txBody>
        </p:sp>
        <p:sp>
          <p:nvSpPr>
            <p:cNvPr id="5" name="TextBox 5"/>
            <p:cNvSpPr txBox="1"/>
            <p:nvPr/>
          </p:nvSpPr>
          <p:spPr>
            <a:xfrm>
              <a:off x="592836" y="1034415"/>
              <a:ext cx="6920263" cy="645414"/>
            </a:xfrm>
            <a:prstGeom prst="rect">
              <a:avLst/>
            </a:prstGeom>
            <a:noFill/>
            <a:ln>
              <a:noFill/>
            </a:ln>
          </p:spPr>
          <p:txBody>
            <a:bodyPr wrap="none" lIns="0" tIns="0" rIns="0" bIns="0" anchor="t" anchorCtr="0">
              <a:spAutoFit/>
            </a:bodyPr>
            <a:lstStyle/>
            <a:p>
              <a:pPr algn="l"/>
              <a:r>
                <a:rPr lang="vi" sz="3300" b="1" dirty="0">
                  <a:solidFill>
                    <a:schemeClr val="dk1"/>
                  </a:solidFill>
                  <a:latin typeface="+mn-lt"/>
                  <a:ea typeface="+mn-ea"/>
                  <a:cs typeface="+mn-cs"/>
                </a:rPr>
                <a:t>Đọc bảng theo bốn phép so sánh</a:t>
              </a:r>
            </a:p>
          </p:txBody>
        </p:sp>
      </p:grpSp>
      <p:grpSp>
        <p:nvGrpSpPr>
          <p:cNvPr id="8" name="p21-bon-so-sanh"/>
          <p:cNvGrpSpPr/>
          <p:nvPr/>
        </p:nvGrpSpPr>
        <p:grpSpPr>
          <a:xfrm>
            <a:off x="602742" y="1759268"/>
            <a:ext cx="8846083" cy="511683"/>
            <a:chOff x="602742" y="1759268"/>
            <a:chExt cx="8846083" cy="511683"/>
          </a:xfrm>
        </p:grpSpPr>
        <p:sp>
          <p:nvSpPr>
            <p:cNvPr id="7" name="TextBox 7"/>
            <p:cNvSpPr txBox="1"/>
            <p:nvPr/>
          </p:nvSpPr>
          <p:spPr>
            <a:xfrm>
              <a:off x="602742" y="1759268"/>
              <a:ext cx="8846083"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Accuracy trên balanced set. Với cột Gender thì càng gần 50 càng tốt, vì 50 nghĩa là đoán ngẫu nhiên.</a:t>
              </a:r>
              <a:br/>
              <a:r>
                <a:rPr lang="vi" sz="1350" dirty="0">
                  <a:solidFill>
                    <a:schemeClr val="accent5"/>
                  </a:solidFill>
                  <a:latin typeface="+mn-lt"/>
                  <a:ea typeface="+mn-ea"/>
                  <a:cs typeface="+mn-cs"/>
                </a:rPr>
                <a:t>Bốn cặp cần so: SHIFT+retrain với Oracle, Random với Original, SHIFT với Feature skyline, Neuron skyline với Original.</a:t>
              </a:r>
            </a:p>
          </p:txBody>
        </p:sp>
      </p:grpSp>
      <p:grpSp>
        <p:nvGrpSpPr>
          <p:cNvPr id="81" name="p21-ket-qua-shift"/>
          <p:cNvGrpSpPr/>
          <p:nvPr/>
        </p:nvGrpSpPr>
        <p:grpSpPr>
          <a:xfrm>
            <a:off x="601980" y="2747010"/>
            <a:ext cx="10988040" cy="3396615"/>
            <a:chOff x="601980" y="2747010"/>
            <a:chExt cx="10988040" cy="3396615"/>
          </a:xfrm>
        </p:grpSpPr>
        <p:sp>
          <p:nvSpPr>
            <p:cNvPr id="9" name="TextBox 9"/>
            <p:cNvSpPr txBox="1"/>
            <p:nvPr/>
          </p:nvSpPr>
          <p:spPr>
            <a:xfrm>
              <a:off x="603504" y="2747010"/>
              <a:ext cx="979957"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Phương pháp</a:t>
              </a:r>
            </a:p>
          </p:txBody>
        </p:sp>
        <p:sp>
          <p:nvSpPr>
            <p:cNvPr id="10" name="TextBox 10"/>
            <p:cNvSpPr txBox="1"/>
            <p:nvPr/>
          </p:nvSpPr>
          <p:spPr>
            <a:xfrm>
              <a:off x="4032567" y="2747010"/>
              <a:ext cx="79317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Pythia Prof</a:t>
              </a:r>
            </a:p>
          </p:txBody>
        </p:sp>
        <p:sp>
          <p:nvSpPr>
            <p:cNvPr id="11" name="TextBox 11"/>
            <p:cNvSpPr txBox="1"/>
            <p:nvPr/>
          </p:nvSpPr>
          <p:spPr>
            <a:xfrm>
              <a:off x="5153745" y="2747010"/>
              <a:ext cx="1024551"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Pythia Gender</a:t>
              </a:r>
            </a:p>
          </p:txBody>
        </p:sp>
        <p:sp>
          <p:nvSpPr>
            <p:cNvPr id="12" name="TextBox 12"/>
            <p:cNvSpPr txBox="1"/>
            <p:nvPr/>
          </p:nvSpPr>
          <p:spPr>
            <a:xfrm>
              <a:off x="6603947" y="2747010"/>
              <a:ext cx="92689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Pythia Worst</a:t>
              </a:r>
            </a:p>
          </p:txBody>
        </p:sp>
        <p:sp>
          <p:nvSpPr>
            <p:cNvPr id="13" name="TextBox 13"/>
            <p:cNvSpPr txBox="1"/>
            <p:nvPr/>
          </p:nvSpPr>
          <p:spPr>
            <a:xfrm>
              <a:off x="7968101" y="2747010"/>
              <a:ext cx="915295"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Gemma Prof</a:t>
              </a:r>
            </a:p>
          </p:txBody>
        </p:sp>
        <p:sp>
          <p:nvSpPr>
            <p:cNvPr id="14" name="TextBox 14"/>
            <p:cNvSpPr txBox="1"/>
            <p:nvPr/>
          </p:nvSpPr>
          <p:spPr>
            <a:xfrm>
              <a:off x="9089664" y="2747010"/>
              <a:ext cx="1146282"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Gemma Gender</a:t>
              </a:r>
            </a:p>
          </p:txBody>
        </p:sp>
        <p:sp>
          <p:nvSpPr>
            <p:cNvPr id="15" name="TextBox 15"/>
            <p:cNvSpPr txBox="1"/>
            <p:nvPr/>
          </p:nvSpPr>
          <p:spPr>
            <a:xfrm>
              <a:off x="10539671" y="2747010"/>
              <a:ext cx="1048825"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Gemma Worst</a:t>
              </a:r>
            </a:p>
          </p:txBody>
        </p:sp>
        <p:sp>
          <p:nvSpPr>
            <p:cNvPr id="16" name="Line 16"/>
            <p:cNvSpPr/>
            <p:nvPr/>
          </p:nvSpPr>
          <p:spPr>
            <a:xfrm>
              <a:off x="609600" y="2990850"/>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17" name="TextBox 17"/>
            <p:cNvSpPr txBox="1"/>
            <p:nvPr/>
          </p:nvSpPr>
          <p:spPr>
            <a:xfrm>
              <a:off x="601980" y="3171825"/>
              <a:ext cx="725328" cy="293370"/>
            </a:xfrm>
            <a:prstGeom prst="rect">
              <a:avLst/>
            </a:prstGeom>
            <a:noFill/>
            <a:ln>
              <a:noFill/>
            </a:ln>
          </p:spPr>
          <p:txBody>
            <a:bodyPr wrap="none" lIns="0" tIns="0" rIns="0" bIns="0" anchor="t" anchorCtr="0">
              <a:spAutoFit/>
            </a:bodyPr>
            <a:lstStyle/>
            <a:p>
              <a:pPr algn="l"/>
              <a:r>
                <a:rPr lang="vi" sz="1500" dirty="0">
                  <a:solidFill>
                    <a:schemeClr val="accent5"/>
                  </a:solidFill>
                  <a:latin typeface="+mn-lt"/>
                  <a:ea typeface="+mn-ea"/>
                  <a:cs typeface="+mn-cs"/>
                </a:rPr>
                <a:t>Original</a:t>
              </a:r>
            </a:p>
          </p:txBody>
        </p:sp>
        <p:sp>
          <p:nvSpPr>
            <p:cNvPr id="18" name="TextBox 18"/>
            <p:cNvSpPr txBox="1"/>
            <p:nvPr/>
          </p:nvSpPr>
          <p:spPr>
            <a:xfrm>
              <a:off x="4441670" y="3171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61.9</a:t>
              </a:r>
            </a:p>
          </p:txBody>
        </p:sp>
        <p:sp>
          <p:nvSpPr>
            <p:cNvPr id="19" name="TextBox 19"/>
            <p:cNvSpPr txBox="1"/>
            <p:nvPr/>
          </p:nvSpPr>
          <p:spPr>
            <a:xfrm>
              <a:off x="5794220" y="3171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87.4</a:t>
              </a:r>
            </a:p>
          </p:txBody>
        </p:sp>
        <p:sp>
          <p:nvSpPr>
            <p:cNvPr id="20" name="TextBox 20"/>
            <p:cNvSpPr txBox="1"/>
            <p:nvPr/>
          </p:nvSpPr>
          <p:spPr>
            <a:xfrm>
              <a:off x="7146770" y="3171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24.4</a:t>
              </a:r>
            </a:p>
          </p:txBody>
        </p:sp>
        <p:sp>
          <p:nvSpPr>
            <p:cNvPr id="21" name="TextBox 21"/>
            <p:cNvSpPr txBox="1"/>
            <p:nvPr/>
          </p:nvSpPr>
          <p:spPr>
            <a:xfrm>
              <a:off x="8499320" y="3171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67.7</a:t>
              </a:r>
            </a:p>
          </p:txBody>
        </p:sp>
        <p:sp>
          <p:nvSpPr>
            <p:cNvPr id="22" name="TextBox 22"/>
            <p:cNvSpPr txBox="1"/>
            <p:nvPr/>
          </p:nvSpPr>
          <p:spPr>
            <a:xfrm>
              <a:off x="9851870" y="3171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81.9</a:t>
              </a:r>
            </a:p>
          </p:txBody>
        </p:sp>
        <p:sp>
          <p:nvSpPr>
            <p:cNvPr id="23" name="TextBox 23"/>
            <p:cNvSpPr txBox="1"/>
            <p:nvPr/>
          </p:nvSpPr>
          <p:spPr>
            <a:xfrm>
              <a:off x="11204420" y="3171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18.2</a:t>
              </a:r>
            </a:p>
          </p:txBody>
        </p:sp>
        <p:sp>
          <p:nvSpPr>
            <p:cNvPr id="24" name="Line 24"/>
            <p:cNvSpPr/>
            <p:nvPr/>
          </p:nvSpPr>
          <p:spPr>
            <a:xfrm>
              <a:off x="609600" y="3467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5" name="TextBox 25"/>
            <p:cNvSpPr txBox="1"/>
            <p:nvPr/>
          </p:nvSpPr>
          <p:spPr>
            <a:xfrm>
              <a:off x="601980" y="3552825"/>
              <a:ext cx="389153" cy="293370"/>
            </a:xfrm>
            <a:prstGeom prst="rect">
              <a:avLst/>
            </a:prstGeom>
            <a:noFill/>
            <a:ln>
              <a:noFill/>
            </a:ln>
          </p:spPr>
          <p:txBody>
            <a:bodyPr wrap="none" lIns="0" tIns="0" rIns="0" bIns="0" anchor="t" anchorCtr="0">
              <a:spAutoFit/>
            </a:bodyPr>
            <a:lstStyle/>
            <a:p>
              <a:pPr algn="l"/>
              <a:r>
                <a:rPr lang="vi" sz="1500" dirty="0">
                  <a:solidFill>
                    <a:schemeClr val="dk1"/>
                  </a:solidFill>
                  <a:latin typeface="+mn-lt"/>
                  <a:ea typeface="+mn-ea"/>
                  <a:cs typeface="+mn-cs"/>
                </a:rPr>
                <a:t>CBP</a:t>
              </a:r>
            </a:p>
          </p:txBody>
        </p:sp>
        <p:sp>
          <p:nvSpPr>
            <p:cNvPr id="26" name="TextBox 26"/>
            <p:cNvSpPr txBox="1"/>
            <p:nvPr/>
          </p:nvSpPr>
          <p:spPr>
            <a:xfrm>
              <a:off x="4441670" y="3552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83.3</a:t>
              </a:r>
            </a:p>
          </p:txBody>
        </p:sp>
        <p:sp>
          <p:nvSpPr>
            <p:cNvPr id="27" name="TextBox 27"/>
            <p:cNvSpPr txBox="1"/>
            <p:nvPr/>
          </p:nvSpPr>
          <p:spPr>
            <a:xfrm>
              <a:off x="5794220" y="3552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60.1</a:t>
              </a:r>
            </a:p>
          </p:txBody>
        </p:sp>
        <p:sp>
          <p:nvSpPr>
            <p:cNvPr id="28" name="TextBox 28"/>
            <p:cNvSpPr txBox="1"/>
            <p:nvPr/>
          </p:nvSpPr>
          <p:spPr>
            <a:xfrm>
              <a:off x="7146770" y="3552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67.7</a:t>
              </a:r>
            </a:p>
          </p:txBody>
        </p:sp>
        <p:sp>
          <p:nvSpPr>
            <p:cNvPr id="29" name="TextBox 29"/>
            <p:cNvSpPr txBox="1"/>
            <p:nvPr/>
          </p:nvSpPr>
          <p:spPr>
            <a:xfrm>
              <a:off x="8499320" y="3552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90.2</a:t>
              </a:r>
            </a:p>
          </p:txBody>
        </p:sp>
        <p:sp>
          <p:nvSpPr>
            <p:cNvPr id="30" name="TextBox 30"/>
            <p:cNvSpPr txBox="1"/>
            <p:nvPr/>
          </p:nvSpPr>
          <p:spPr>
            <a:xfrm>
              <a:off x="9851870" y="3552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50.1</a:t>
              </a:r>
            </a:p>
          </p:txBody>
        </p:sp>
        <p:sp>
          <p:nvSpPr>
            <p:cNvPr id="31" name="TextBox 31"/>
            <p:cNvSpPr txBox="1"/>
            <p:nvPr/>
          </p:nvSpPr>
          <p:spPr>
            <a:xfrm>
              <a:off x="11204420" y="3552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86.7</a:t>
              </a:r>
            </a:p>
          </p:txBody>
        </p:sp>
        <p:sp>
          <p:nvSpPr>
            <p:cNvPr id="32" name="Line 32"/>
            <p:cNvSpPr/>
            <p:nvPr/>
          </p:nvSpPr>
          <p:spPr>
            <a:xfrm>
              <a:off x="609600" y="3848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3" name="TextBox 33"/>
            <p:cNvSpPr txBox="1"/>
            <p:nvPr/>
          </p:nvSpPr>
          <p:spPr>
            <a:xfrm>
              <a:off x="601980" y="3933825"/>
              <a:ext cx="1548692" cy="293370"/>
            </a:xfrm>
            <a:prstGeom prst="rect">
              <a:avLst/>
            </a:prstGeom>
            <a:noFill/>
            <a:ln>
              <a:noFill/>
            </a:ln>
          </p:spPr>
          <p:txBody>
            <a:bodyPr wrap="none" lIns="0" tIns="0" rIns="0" bIns="0" anchor="t" anchorCtr="0">
              <a:spAutoFit/>
            </a:bodyPr>
            <a:lstStyle/>
            <a:p>
              <a:pPr algn="l"/>
              <a:r>
                <a:rPr lang="vi" sz="1500" dirty="0">
                  <a:solidFill>
                    <a:schemeClr val="accent5"/>
                  </a:solidFill>
                  <a:latin typeface="+mn-lt"/>
                  <a:ea typeface="+mn-ea"/>
                  <a:cs typeface="+mn-cs"/>
                </a:rPr>
                <a:t>Random ablation</a:t>
              </a:r>
            </a:p>
          </p:txBody>
        </p:sp>
        <p:sp>
          <p:nvSpPr>
            <p:cNvPr id="34" name="TextBox 34"/>
            <p:cNvSpPr txBox="1"/>
            <p:nvPr/>
          </p:nvSpPr>
          <p:spPr>
            <a:xfrm>
              <a:off x="4441670" y="3933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61.8</a:t>
              </a:r>
            </a:p>
          </p:txBody>
        </p:sp>
        <p:sp>
          <p:nvSpPr>
            <p:cNvPr id="35" name="TextBox 35"/>
            <p:cNvSpPr txBox="1"/>
            <p:nvPr/>
          </p:nvSpPr>
          <p:spPr>
            <a:xfrm>
              <a:off x="5794220" y="3933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87.5</a:t>
              </a:r>
            </a:p>
          </p:txBody>
        </p:sp>
        <p:sp>
          <p:nvSpPr>
            <p:cNvPr id="36" name="TextBox 36"/>
            <p:cNvSpPr txBox="1"/>
            <p:nvPr/>
          </p:nvSpPr>
          <p:spPr>
            <a:xfrm>
              <a:off x="7146770" y="3933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24.4</a:t>
              </a:r>
            </a:p>
          </p:txBody>
        </p:sp>
        <p:sp>
          <p:nvSpPr>
            <p:cNvPr id="37" name="TextBox 37"/>
            <p:cNvSpPr txBox="1"/>
            <p:nvPr/>
          </p:nvSpPr>
          <p:spPr>
            <a:xfrm>
              <a:off x="8499320" y="3933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67.3</a:t>
              </a:r>
            </a:p>
          </p:txBody>
        </p:sp>
        <p:sp>
          <p:nvSpPr>
            <p:cNvPr id="38" name="TextBox 38"/>
            <p:cNvSpPr txBox="1"/>
            <p:nvPr/>
          </p:nvSpPr>
          <p:spPr>
            <a:xfrm>
              <a:off x="9851870" y="3933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82.3</a:t>
              </a:r>
            </a:p>
          </p:txBody>
        </p:sp>
        <p:sp>
          <p:nvSpPr>
            <p:cNvPr id="39" name="TextBox 39"/>
            <p:cNvSpPr txBox="1"/>
            <p:nvPr/>
          </p:nvSpPr>
          <p:spPr>
            <a:xfrm>
              <a:off x="11204420" y="3933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18.0</a:t>
              </a:r>
            </a:p>
          </p:txBody>
        </p:sp>
        <p:sp>
          <p:nvSpPr>
            <p:cNvPr id="40" name="Line 40"/>
            <p:cNvSpPr/>
            <p:nvPr/>
          </p:nvSpPr>
          <p:spPr>
            <a:xfrm>
              <a:off x="609600" y="4229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1" name="TextBox 41"/>
            <p:cNvSpPr txBox="1"/>
            <p:nvPr/>
          </p:nvSpPr>
          <p:spPr>
            <a:xfrm>
              <a:off x="601980" y="4314825"/>
              <a:ext cx="552801" cy="293370"/>
            </a:xfrm>
            <a:prstGeom prst="rect">
              <a:avLst/>
            </a:prstGeom>
            <a:noFill/>
            <a:ln>
              <a:noFill/>
            </a:ln>
          </p:spPr>
          <p:txBody>
            <a:bodyPr wrap="none" lIns="0" tIns="0" rIns="0" bIns="0" anchor="t" anchorCtr="0">
              <a:spAutoFit/>
            </a:bodyPr>
            <a:lstStyle/>
            <a:p>
              <a:pPr algn="l"/>
              <a:r>
                <a:rPr lang="vi" sz="1500" dirty="0">
                  <a:solidFill>
                    <a:schemeClr val="dk1"/>
                  </a:solidFill>
                  <a:latin typeface="+mn-lt"/>
                  <a:ea typeface="+mn-ea"/>
                  <a:cs typeface="+mn-cs"/>
                </a:rPr>
                <a:t>SHIFT</a:t>
              </a:r>
            </a:p>
          </p:txBody>
        </p:sp>
        <p:sp>
          <p:nvSpPr>
            <p:cNvPr id="42" name="TextBox 42"/>
            <p:cNvSpPr txBox="1"/>
            <p:nvPr/>
          </p:nvSpPr>
          <p:spPr>
            <a:xfrm>
              <a:off x="4408857" y="4314825"/>
              <a:ext cx="418413" cy="293370"/>
            </a:xfrm>
            <a:prstGeom prst="rect">
              <a:avLst/>
            </a:prstGeom>
            <a:noFill/>
            <a:ln>
              <a:noFill/>
            </a:ln>
          </p:spPr>
          <p:txBody>
            <a:bodyPr wrap="none" lIns="0" tIns="0" rIns="0" bIns="0" anchor="t" anchorCtr="0">
              <a:spAutoFit/>
            </a:bodyPr>
            <a:lstStyle/>
            <a:p>
              <a:pPr algn="r"/>
              <a:r>
                <a:rPr lang="vi" sz="1500" b="1" dirty="0">
                  <a:solidFill>
                    <a:schemeClr val="accent1"/>
                  </a:solidFill>
                  <a:latin typeface="+mn-lt"/>
                  <a:ea typeface="+mn-ea"/>
                  <a:cs typeface="+mn-cs"/>
                </a:rPr>
                <a:t>88.5</a:t>
              </a:r>
            </a:p>
          </p:txBody>
        </p:sp>
        <p:sp>
          <p:nvSpPr>
            <p:cNvPr id="43" name="TextBox 43"/>
            <p:cNvSpPr txBox="1"/>
            <p:nvPr/>
          </p:nvSpPr>
          <p:spPr>
            <a:xfrm>
              <a:off x="5794220" y="4314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54.0</a:t>
              </a:r>
            </a:p>
          </p:txBody>
        </p:sp>
        <p:sp>
          <p:nvSpPr>
            <p:cNvPr id="44" name="TextBox 44"/>
            <p:cNvSpPr txBox="1"/>
            <p:nvPr/>
          </p:nvSpPr>
          <p:spPr>
            <a:xfrm>
              <a:off x="7113957" y="4314825"/>
              <a:ext cx="418413" cy="293370"/>
            </a:xfrm>
            <a:prstGeom prst="rect">
              <a:avLst/>
            </a:prstGeom>
            <a:noFill/>
            <a:ln>
              <a:noFill/>
            </a:ln>
          </p:spPr>
          <p:txBody>
            <a:bodyPr wrap="none" lIns="0" tIns="0" rIns="0" bIns="0" anchor="t" anchorCtr="0">
              <a:spAutoFit/>
            </a:bodyPr>
            <a:lstStyle/>
            <a:p>
              <a:pPr algn="r"/>
              <a:r>
                <a:rPr lang="vi" sz="1500" b="1" dirty="0">
                  <a:solidFill>
                    <a:schemeClr val="accent1"/>
                  </a:solidFill>
                  <a:latin typeface="+mn-lt"/>
                  <a:ea typeface="+mn-ea"/>
                  <a:cs typeface="+mn-cs"/>
                </a:rPr>
                <a:t>76.0</a:t>
              </a:r>
            </a:p>
          </p:txBody>
        </p:sp>
        <p:sp>
          <p:nvSpPr>
            <p:cNvPr id="45" name="TextBox 45"/>
            <p:cNvSpPr txBox="1"/>
            <p:nvPr/>
          </p:nvSpPr>
          <p:spPr>
            <a:xfrm>
              <a:off x="8499320" y="4314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76.0</a:t>
              </a:r>
            </a:p>
          </p:txBody>
        </p:sp>
        <p:sp>
          <p:nvSpPr>
            <p:cNvPr id="46" name="TextBox 46"/>
            <p:cNvSpPr txBox="1"/>
            <p:nvPr/>
          </p:nvSpPr>
          <p:spPr>
            <a:xfrm>
              <a:off x="9851870" y="4314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51.5</a:t>
              </a:r>
            </a:p>
          </p:txBody>
        </p:sp>
        <p:sp>
          <p:nvSpPr>
            <p:cNvPr id="47" name="TextBox 47"/>
            <p:cNvSpPr txBox="1"/>
            <p:nvPr/>
          </p:nvSpPr>
          <p:spPr>
            <a:xfrm>
              <a:off x="11204420" y="4314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50.0</a:t>
              </a:r>
            </a:p>
          </p:txBody>
        </p:sp>
        <p:sp>
          <p:nvSpPr>
            <p:cNvPr id="48" name="Line 48"/>
            <p:cNvSpPr/>
            <p:nvPr/>
          </p:nvSpPr>
          <p:spPr>
            <a:xfrm>
              <a:off x="609600" y="4610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9" name="TextBox 49"/>
            <p:cNvSpPr txBox="1"/>
            <p:nvPr/>
          </p:nvSpPr>
          <p:spPr>
            <a:xfrm>
              <a:off x="601980" y="4695825"/>
              <a:ext cx="1495510" cy="293370"/>
            </a:xfrm>
            <a:prstGeom prst="rect">
              <a:avLst/>
            </a:prstGeom>
            <a:noFill/>
            <a:ln>
              <a:noFill/>
            </a:ln>
          </p:spPr>
          <p:txBody>
            <a:bodyPr wrap="none" lIns="0" tIns="0" rIns="0" bIns="0" anchor="t" anchorCtr="0">
              <a:spAutoFit/>
            </a:bodyPr>
            <a:lstStyle/>
            <a:p>
              <a:pPr algn="l"/>
              <a:r>
                <a:rPr lang="vi" sz="1500" b="1" dirty="0">
                  <a:solidFill>
                    <a:schemeClr val="accent1"/>
                  </a:solidFill>
                  <a:latin typeface="+mn-lt"/>
                  <a:ea typeface="+mn-ea"/>
                  <a:cs typeface="+mn-cs"/>
                </a:rPr>
                <a:t>SHIFT + retrain</a:t>
              </a:r>
            </a:p>
          </p:txBody>
        </p:sp>
        <p:sp>
          <p:nvSpPr>
            <p:cNvPr id="50" name="TextBox 50"/>
            <p:cNvSpPr txBox="1"/>
            <p:nvPr/>
          </p:nvSpPr>
          <p:spPr>
            <a:xfrm>
              <a:off x="4408857" y="4695825"/>
              <a:ext cx="418413" cy="293370"/>
            </a:xfrm>
            <a:prstGeom prst="rect">
              <a:avLst/>
            </a:prstGeom>
            <a:noFill/>
            <a:ln>
              <a:noFill/>
            </a:ln>
          </p:spPr>
          <p:txBody>
            <a:bodyPr wrap="none" lIns="0" tIns="0" rIns="0" bIns="0" anchor="t" anchorCtr="0">
              <a:spAutoFit/>
            </a:bodyPr>
            <a:lstStyle/>
            <a:p>
              <a:pPr algn="r"/>
              <a:r>
                <a:rPr lang="vi" sz="1500" b="1" dirty="0">
                  <a:solidFill>
                    <a:schemeClr val="accent1"/>
                  </a:solidFill>
                  <a:latin typeface="+mn-lt"/>
                  <a:ea typeface="+mn-ea"/>
                  <a:cs typeface="+mn-cs"/>
                </a:rPr>
                <a:t>93.1</a:t>
              </a:r>
            </a:p>
          </p:txBody>
        </p:sp>
        <p:sp>
          <p:nvSpPr>
            <p:cNvPr id="51" name="TextBox 51"/>
            <p:cNvSpPr txBox="1"/>
            <p:nvPr/>
          </p:nvSpPr>
          <p:spPr>
            <a:xfrm>
              <a:off x="5761407" y="4695825"/>
              <a:ext cx="418413" cy="293370"/>
            </a:xfrm>
            <a:prstGeom prst="rect">
              <a:avLst/>
            </a:prstGeom>
            <a:noFill/>
            <a:ln>
              <a:noFill/>
            </a:ln>
          </p:spPr>
          <p:txBody>
            <a:bodyPr wrap="none" lIns="0" tIns="0" rIns="0" bIns="0" anchor="t" anchorCtr="0">
              <a:spAutoFit/>
            </a:bodyPr>
            <a:lstStyle/>
            <a:p>
              <a:pPr algn="r"/>
              <a:r>
                <a:rPr lang="vi" sz="1500" b="1" dirty="0">
                  <a:solidFill>
                    <a:schemeClr val="accent1"/>
                  </a:solidFill>
                  <a:latin typeface="+mn-lt"/>
                  <a:ea typeface="+mn-ea"/>
                  <a:cs typeface="+mn-cs"/>
                </a:rPr>
                <a:t>52.0</a:t>
              </a:r>
            </a:p>
          </p:txBody>
        </p:sp>
        <p:sp>
          <p:nvSpPr>
            <p:cNvPr id="52" name="TextBox 52"/>
            <p:cNvSpPr txBox="1"/>
            <p:nvPr/>
          </p:nvSpPr>
          <p:spPr>
            <a:xfrm>
              <a:off x="7113957" y="4695825"/>
              <a:ext cx="418413" cy="293370"/>
            </a:xfrm>
            <a:prstGeom prst="rect">
              <a:avLst/>
            </a:prstGeom>
            <a:noFill/>
            <a:ln>
              <a:noFill/>
            </a:ln>
          </p:spPr>
          <p:txBody>
            <a:bodyPr wrap="none" lIns="0" tIns="0" rIns="0" bIns="0" anchor="t" anchorCtr="0">
              <a:spAutoFit/>
            </a:bodyPr>
            <a:lstStyle/>
            <a:p>
              <a:pPr algn="r"/>
              <a:r>
                <a:rPr lang="vi" sz="1500" b="1" dirty="0">
                  <a:solidFill>
                    <a:schemeClr val="accent1"/>
                  </a:solidFill>
                  <a:latin typeface="+mn-lt"/>
                  <a:ea typeface="+mn-ea"/>
                  <a:cs typeface="+mn-cs"/>
                </a:rPr>
                <a:t>89.0</a:t>
              </a:r>
            </a:p>
          </p:txBody>
        </p:sp>
        <p:sp>
          <p:nvSpPr>
            <p:cNvPr id="53" name="TextBox 53"/>
            <p:cNvSpPr txBox="1"/>
            <p:nvPr/>
          </p:nvSpPr>
          <p:spPr>
            <a:xfrm>
              <a:off x="8466507" y="4695825"/>
              <a:ext cx="418413" cy="293370"/>
            </a:xfrm>
            <a:prstGeom prst="rect">
              <a:avLst/>
            </a:prstGeom>
            <a:noFill/>
            <a:ln>
              <a:noFill/>
            </a:ln>
          </p:spPr>
          <p:txBody>
            <a:bodyPr wrap="none" lIns="0" tIns="0" rIns="0" bIns="0" anchor="t" anchorCtr="0">
              <a:spAutoFit/>
            </a:bodyPr>
            <a:lstStyle/>
            <a:p>
              <a:pPr algn="r"/>
              <a:r>
                <a:rPr lang="vi" sz="1500" b="1" dirty="0">
                  <a:solidFill>
                    <a:schemeClr val="accent1"/>
                  </a:solidFill>
                  <a:latin typeface="+mn-lt"/>
                  <a:ea typeface="+mn-ea"/>
                  <a:cs typeface="+mn-cs"/>
                </a:rPr>
                <a:t>95.0</a:t>
              </a:r>
            </a:p>
          </p:txBody>
        </p:sp>
        <p:sp>
          <p:nvSpPr>
            <p:cNvPr id="54" name="TextBox 54"/>
            <p:cNvSpPr txBox="1"/>
            <p:nvPr/>
          </p:nvSpPr>
          <p:spPr>
            <a:xfrm>
              <a:off x="9819057" y="4695825"/>
              <a:ext cx="418413" cy="293370"/>
            </a:xfrm>
            <a:prstGeom prst="rect">
              <a:avLst/>
            </a:prstGeom>
            <a:noFill/>
            <a:ln>
              <a:noFill/>
            </a:ln>
          </p:spPr>
          <p:txBody>
            <a:bodyPr wrap="none" lIns="0" tIns="0" rIns="0" bIns="0" anchor="t" anchorCtr="0">
              <a:spAutoFit/>
            </a:bodyPr>
            <a:lstStyle/>
            <a:p>
              <a:pPr algn="r"/>
              <a:r>
                <a:rPr lang="vi" sz="1500" b="1" dirty="0">
                  <a:solidFill>
                    <a:schemeClr val="accent1"/>
                  </a:solidFill>
                  <a:latin typeface="+mn-lt"/>
                  <a:ea typeface="+mn-ea"/>
                  <a:cs typeface="+mn-cs"/>
                </a:rPr>
                <a:t>52.4</a:t>
              </a:r>
            </a:p>
          </p:txBody>
        </p:sp>
        <p:sp>
          <p:nvSpPr>
            <p:cNvPr id="55" name="TextBox 55"/>
            <p:cNvSpPr txBox="1"/>
            <p:nvPr/>
          </p:nvSpPr>
          <p:spPr>
            <a:xfrm>
              <a:off x="11171607" y="4695825"/>
              <a:ext cx="418413" cy="293370"/>
            </a:xfrm>
            <a:prstGeom prst="rect">
              <a:avLst/>
            </a:prstGeom>
            <a:noFill/>
            <a:ln>
              <a:noFill/>
            </a:ln>
          </p:spPr>
          <p:txBody>
            <a:bodyPr wrap="none" lIns="0" tIns="0" rIns="0" bIns="0" anchor="t" anchorCtr="0">
              <a:spAutoFit/>
            </a:bodyPr>
            <a:lstStyle/>
            <a:p>
              <a:pPr algn="r"/>
              <a:r>
                <a:rPr lang="vi" sz="1500" b="1" dirty="0">
                  <a:solidFill>
                    <a:schemeClr val="accent1"/>
                  </a:solidFill>
                  <a:latin typeface="+mn-lt"/>
                  <a:ea typeface="+mn-ea"/>
                  <a:cs typeface="+mn-cs"/>
                </a:rPr>
                <a:t>92.9</a:t>
              </a:r>
            </a:p>
          </p:txBody>
        </p:sp>
        <p:sp>
          <p:nvSpPr>
            <p:cNvPr id="56" name="Line 56"/>
            <p:cNvSpPr/>
            <p:nvPr/>
          </p:nvSpPr>
          <p:spPr>
            <a:xfrm>
              <a:off x="609600" y="4991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7" name="TextBox 57"/>
            <p:cNvSpPr txBox="1"/>
            <p:nvPr/>
          </p:nvSpPr>
          <p:spPr>
            <a:xfrm>
              <a:off x="601980" y="5076825"/>
              <a:ext cx="1351530" cy="293370"/>
            </a:xfrm>
            <a:prstGeom prst="rect">
              <a:avLst/>
            </a:prstGeom>
            <a:noFill/>
            <a:ln>
              <a:noFill/>
            </a:ln>
          </p:spPr>
          <p:txBody>
            <a:bodyPr wrap="none" lIns="0" tIns="0" rIns="0" bIns="0" anchor="t" anchorCtr="0">
              <a:spAutoFit/>
            </a:bodyPr>
            <a:lstStyle/>
            <a:p>
              <a:pPr algn="l"/>
              <a:r>
                <a:rPr lang="vi" sz="1500" dirty="0">
                  <a:solidFill>
                    <a:schemeClr val="dk1"/>
                  </a:solidFill>
                  <a:latin typeface="+mn-lt"/>
                  <a:ea typeface="+mn-ea"/>
                  <a:cs typeface="+mn-cs"/>
                </a:rPr>
                <a:t>Neuron skyline</a:t>
              </a:r>
            </a:p>
          </p:txBody>
        </p:sp>
        <p:sp>
          <p:nvSpPr>
            <p:cNvPr id="58" name="TextBox 58"/>
            <p:cNvSpPr txBox="1"/>
            <p:nvPr/>
          </p:nvSpPr>
          <p:spPr>
            <a:xfrm>
              <a:off x="4441670" y="5076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75.5</a:t>
              </a:r>
            </a:p>
          </p:txBody>
        </p:sp>
        <p:sp>
          <p:nvSpPr>
            <p:cNvPr id="59" name="TextBox 59"/>
            <p:cNvSpPr txBox="1"/>
            <p:nvPr/>
          </p:nvSpPr>
          <p:spPr>
            <a:xfrm>
              <a:off x="5794220" y="5076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73.2</a:t>
              </a:r>
            </a:p>
          </p:txBody>
        </p:sp>
        <p:sp>
          <p:nvSpPr>
            <p:cNvPr id="60" name="TextBox 60"/>
            <p:cNvSpPr txBox="1"/>
            <p:nvPr/>
          </p:nvSpPr>
          <p:spPr>
            <a:xfrm>
              <a:off x="7146770" y="5076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41.5</a:t>
              </a:r>
            </a:p>
          </p:txBody>
        </p:sp>
        <p:sp>
          <p:nvSpPr>
            <p:cNvPr id="61" name="TextBox 61"/>
            <p:cNvSpPr txBox="1"/>
            <p:nvPr/>
          </p:nvSpPr>
          <p:spPr>
            <a:xfrm>
              <a:off x="8499320" y="5076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65.1</a:t>
              </a:r>
            </a:p>
          </p:txBody>
        </p:sp>
        <p:sp>
          <p:nvSpPr>
            <p:cNvPr id="62" name="TextBox 62"/>
            <p:cNvSpPr txBox="1"/>
            <p:nvPr/>
          </p:nvSpPr>
          <p:spPr>
            <a:xfrm>
              <a:off x="9851870" y="5076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84.3</a:t>
              </a:r>
            </a:p>
          </p:txBody>
        </p:sp>
        <p:sp>
          <p:nvSpPr>
            <p:cNvPr id="63" name="TextBox 63"/>
            <p:cNvSpPr txBox="1"/>
            <p:nvPr/>
          </p:nvSpPr>
          <p:spPr>
            <a:xfrm>
              <a:off x="11287757" y="5076825"/>
              <a:ext cx="302263" cy="293370"/>
            </a:xfrm>
            <a:prstGeom prst="rect">
              <a:avLst/>
            </a:prstGeom>
            <a:noFill/>
            <a:ln>
              <a:noFill/>
            </a:ln>
          </p:spPr>
          <p:txBody>
            <a:bodyPr wrap="none" lIns="0" tIns="0" rIns="0" bIns="0" anchor="t" anchorCtr="0">
              <a:spAutoFit/>
            </a:bodyPr>
            <a:lstStyle/>
            <a:p>
              <a:pPr algn="r"/>
              <a:r>
                <a:rPr lang="vi" sz="1500" b="1" dirty="0">
                  <a:solidFill>
                    <a:srgbClr val="C62828"/>
                  </a:solidFill>
                  <a:latin typeface="+mn-lt"/>
                  <a:ea typeface="+mn-ea"/>
                  <a:cs typeface="+mn-cs"/>
                </a:rPr>
                <a:t>5.6</a:t>
              </a:r>
            </a:p>
          </p:txBody>
        </p:sp>
        <p:sp>
          <p:nvSpPr>
            <p:cNvPr id="64" name="Line 64"/>
            <p:cNvSpPr/>
            <p:nvPr/>
          </p:nvSpPr>
          <p:spPr>
            <a:xfrm>
              <a:off x="609600" y="5372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5" name="TextBox 65"/>
            <p:cNvSpPr txBox="1"/>
            <p:nvPr/>
          </p:nvSpPr>
          <p:spPr>
            <a:xfrm>
              <a:off x="601980" y="5457825"/>
              <a:ext cx="1342844" cy="293370"/>
            </a:xfrm>
            <a:prstGeom prst="rect">
              <a:avLst/>
            </a:prstGeom>
            <a:noFill/>
            <a:ln>
              <a:noFill/>
            </a:ln>
          </p:spPr>
          <p:txBody>
            <a:bodyPr wrap="none" lIns="0" tIns="0" rIns="0" bIns="0" anchor="t" anchorCtr="0">
              <a:spAutoFit/>
            </a:bodyPr>
            <a:lstStyle/>
            <a:p>
              <a:pPr algn="l"/>
              <a:r>
                <a:rPr lang="vi" sz="1500" dirty="0">
                  <a:solidFill>
                    <a:schemeClr val="dk1"/>
                  </a:solidFill>
                  <a:latin typeface="+mn-lt"/>
                  <a:ea typeface="+mn-ea"/>
                  <a:cs typeface="+mn-cs"/>
                </a:rPr>
                <a:t>Feature skyline</a:t>
              </a:r>
            </a:p>
          </p:txBody>
        </p:sp>
        <p:sp>
          <p:nvSpPr>
            <p:cNvPr id="66" name="TextBox 66"/>
            <p:cNvSpPr txBox="1"/>
            <p:nvPr/>
          </p:nvSpPr>
          <p:spPr>
            <a:xfrm>
              <a:off x="4441670" y="5457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88.5</a:t>
              </a:r>
            </a:p>
          </p:txBody>
        </p:sp>
        <p:sp>
          <p:nvSpPr>
            <p:cNvPr id="67" name="TextBox 67"/>
            <p:cNvSpPr txBox="1"/>
            <p:nvPr/>
          </p:nvSpPr>
          <p:spPr>
            <a:xfrm>
              <a:off x="5794220" y="5457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54.3</a:t>
              </a:r>
            </a:p>
          </p:txBody>
        </p:sp>
        <p:sp>
          <p:nvSpPr>
            <p:cNvPr id="68" name="TextBox 68"/>
            <p:cNvSpPr txBox="1"/>
            <p:nvPr/>
          </p:nvSpPr>
          <p:spPr>
            <a:xfrm>
              <a:off x="7146770" y="5457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62.9</a:t>
              </a:r>
            </a:p>
          </p:txBody>
        </p:sp>
        <p:sp>
          <p:nvSpPr>
            <p:cNvPr id="69" name="TextBox 69"/>
            <p:cNvSpPr txBox="1"/>
            <p:nvPr/>
          </p:nvSpPr>
          <p:spPr>
            <a:xfrm>
              <a:off x="8499320" y="5457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80.8</a:t>
              </a:r>
            </a:p>
          </p:txBody>
        </p:sp>
        <p:sp>
          <p:nvSpPr>
            <p:cNvPr id="70" name="TextBox 70"/>
            <p:cNvSpPr txBox="1"/>
            <p:nvPr/>
          </p:nvSpPr>
          <p:spPr>
            <a:xfrm>
              <a:off x="9851870" y="5457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53.7</a:t>
              </a:r>
            </a:p>
          </p:txBody>
        </p:sp>
        <p:sp>
          <p:nvSpPr>
            <p:cNvPr id="71" name="TextBox 71"/>
            <p:cNvSpPr txBox="1"/>
            <p:nvPr/>
          </p:nvSpPr>
          <p:spPr>
            <a:xfrm>
              <a:off x="11204420" y="5457825"/>
              <a:ext cx="385600" cy="293370"/>
            </a:xfrm>
            <a:prstGeom prst="rect">
              <a:avLst/>
            </a:prstGeom>
            <a:noFill/>
            <a:ln>
              <a:noFill/>
            </a:ln>
          </p:spPr>
          <p:txBody>
            <a:bodyPr wrap="none" lIns="0" tIns="0" rIns="0" bIns="0" anchor="t" anchorCtr="0">
              <a:spAutoFit/>
            </a:bodyPr>
            <a:lstStyle/>
            <a:p>
              <a:pPr algn="r"/>
              <a:r>
                <a:rPr lang="vi" sz="1500" dirty="0">
                  <a:solidFill>
                    <a:schemeClr val="dk1"/>
                  </a:solidFill>
                  <a:latin typeface="+mn-lt"/>
                  <a:ea typeface="+mn-ea"/>
                  <a:cs typeface="+mn-cs"/>
                </a:rPr>
                <a:t>56.7</a:t>
              </a:r>
            </a:p>
          </p:txBody>
        </p:sp>
        <p:sp>
          <p:nvSpPr>
            <p:cNvPr id="72" name="Line 72"/>
            <p:cNvSpPr/>
            <p:nvPr/>
          </p:nvSpPr>
          <p:spPr>
            <a:xfrm>
              <a:off x="609600" y="5753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3" name="TextBox 73"/>
            <p:cNvSpPr txBox="1"/>
            <p:nvPr/>
          </p:nvSpPr>
          <p:spPr>
            <a:xfrm>
              <a:off x="601980" y="5838825"/>
              <a:ext cx="593622" cy="293370"/>
            </a:xfrm>
            <a:prstGeom prst="rect">
              <a:avLst/>
            </a:prstGeom>
            <a:noFill/>
            <a:ln>
              <a:noFill/>
            </a:ln>
          </p:spPr>
          <p:txBody>
            <a:bodyPr wrap="none" lIns="0" tIns="0" rIns="0" bIns="0" anchor="t" anchorCtr="0">
              <a:spAutoFit/>
            </a:bodyPr>
            <a:lstStyle/>
            <a:p>
              <a:pPr algn="l"/>
              <a:r>
                <a:rPr lang="vi" sz="1500" dirty="0">
                  <a:solidFill>
                    <a:schemeClr val="accent5"/>
                  </a:solidFill>
                  <a:latin typeface="+mn-lt"/>
                  <a:ea typeface="+mn-ea"/>
                  <a:cs typeface="+mn-cs"/>
                </a:rPr>
                <a:t>Oracle</a:t>
              </a:r>
            </a:p>
          </p:txBody>
        </p:sp>
        <p:sp>
          <p:nvSpPr>
            <p:cNvPr id="74" name="TextBox 74"/>
            <p:cNvSpPr txBox="1"/>
            <p:nvPr/>
          </p:nvSpPr>
          <p:spPr>
            <a:xfrm>
              <a:off x="4441670" y="5838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93.0</a:t>
              </a:r>
            </a:p>
          </p:txBody>
        </p:sp>
        <p:sp>
          <p:nvSpPr>
            <p:cNvPr id="75" name="TextBox 75"/>
            <p:cNvSpPr txBox="1"/>
            <p:nvPr/>
          </p:nvSpPr>
          <p:spPr>
            <a:xfrm>
              <a:off x="5794220" y="5838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49.4</a:t>
              </a:r>
            </a:p>
          </p:txBody>
        </p:sp>
        <p:sp>
          <p:nvSpPr>
            <p:cNvPr id="76" name="TextBox 76"/>
            <p:cNvSpPr txBox="1"/>
            <p:nvPr/>
          </p:nvSpPr>
          <p:spPr>
            <a:xfrm>
              <a:off x="7146770" y="5838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91.9</a:t>
              </a:r>
            </a:p>
          </p:txBody>
        </p:sp>
        <p:sp>
          <p:nvSpPr>
            <p:cNvPr id="77" name="TextBox 77"/>
            <p:cNvSpPr txBox="1"/>
            <p:nvPr/>
          </p:nvSpPr>
          <p:spPr>
            <a:xfrm>
              <a:off x="8499320" y="5838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95.0</a:t>
              </a:r>
            </a:p>
          </p:txBody>
        </p:sp>
        <p:sp>
          <p:nvSpPr>
            <p:cNvPr id="78" name="TextBox 78"/>
            <p:cNvSpPr txBox="1"/>
            <p:nvPr/>
          </p:nvSpPr>
          <p:spPr>
            <a:xfrm>
              <a:off x="9851870" y="5838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50.6</a:t>
              </a:r>
            </a:p>
          </p:txBody>
        </p:sp>
        <p:sp>
          <p:nvSpPr>
            <p:cNvPr id="79" name="TextBox 79"/>
            <p:cNvSpPr txBox="1"/>
            <p:nvPr/>
          </p:nvSpPr>
          <p:spPr>
            <a:xfrm>
              <a:off x="11204420" y="5838825"/>
              <a:ext cx="385600" cy="293370"/>
            </a:xfrm>
            <a:prstGeom prst="rect">
              <a:avLst/>
            </a:prstGeom>
            <a:noFill/>
            <a:ln>
              <a:noFill/>
            </a:ln>
          </p:spPr>
          <p:txBody>
            <a:bodyPr wrap="none" lIns="0" tIns="0" rIns="0" bIns="0" anchor="t" anchorCtr="0">
              <a:spAutoFit/>
            </a:bodyPr>
            <a:lstStyle/>
            <a:p>
              <a:pPr algn="r"/>
              <a:r>
                <a:rPr lang="vi" sz="1500" dirty="0">
                  <a:solidFill>
                    <a:schemeClr val="accent5"/>
                  </a:solidFill>
                  <a:latin typeface="+mn-lt"/>
                  <a:ea typeface="+mn-ea"/>
                  <a:cs typeface="+mn-cs"/>
                </a:rPr>
                <a:t>93.1</a:t>
              </a:r>
            </a:p>
          </p:txBody>
        </p:sp>
        <p:sp>
          <p:nvSpPr>
            <p:cNvPr id="80" name="Line 80"/>
            <p:cNvSpPr/>
            <p:nvPr/>
          </p:nvSpPr>
          <p:spPr>
            <a:xfrm>
              <a:off x="609600" y="61341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sp>
        <p:nvSpPr>
          <p:cNvPr id="82" name="TextBox 82"/>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21</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936440" cy="1523619"/>
            <a:chOff x="592836" y="651510"/>
            <a:chExt cx="6936440" cy="15236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4. SHIFT</a:t>
              </a:r>
            </a:p>
          </p:txBody>
        </p:sp>
        <p:sp>
          <p:nvSpPr>
            <p:cNvPr id="5" name="TextBox 5"/>
            <p:cNvSpPr txBox="1"/>
            <p:nvPr/>
          </p:nvSpPr>
          <p:spPr>
            <a:xfrm>
              <a:off x="592836" y="1034415"/>
              <a:ext cx="6936440"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Cùng ảnh hưởng nhân quả cao,</a:t>
              </a:r>
              <a:br/>
              <a:r>
                <a:rPr lang="vi" sz="3300" b="1" dirty="0">
                  <a:solidFill>
                    <a:schemeClr val="dk1"/>
                  </a:solidFill>
                  <a:latin typeface="+mn-lt"/>
                  <a:ea typeface="+mn-ea"/>
                  <a:cs typeface="+mn-cs"/>
                </a:rPr>
                <a:t>một cái đọc được và một cái không</a:t>
              </a:r>
            </a:p>
          </p:txBody>
        </p:sp>
      </p:grpSp>
      <p:grpSp>
        <p:nvGrpSpPr>
          <p:cNvPr id="11" name="p22-feature"/>
          <p:cNvGrpSpPr/>
          <p:nvPr/>
        </p:nvGrpSpPr>
        <p:grpSpPr>
          <a:xfrm>
            <a:off x="601218" y="2336482"/>
            <a:ext cx="5304282" cy="2906269"/>
            <a:chOff x="601218" y="2336482"/>
            <a:chExt cx="5304282" cy="2906269"/>
          </a:xfrm>
        </p:grpSpPr>
        <p:sp>
          <p:nvSpPr>
            <p:cNvPr id="7" name="TextBox 7"/>
            <p:cNvSpPr txBox="1"/>
            <p:nvPr/>
          </p:nvSpPr>
          <p:spPr>
            <a:xfrm>
              <a:off x="601218" y="2336482"/>
              <a:ext cx="1482776" cy="322707"/>
            </a:xfrm>
            <a:prstGeom prst="rect">
              <a:avLst/>
            </a:prstGeom>
            <a:noFill/>
            <a:ln>
              <a:noFill/>
            </a:ln>
          </p:spPr>
          <p:txBody>
            <a:bodyPr wrap="none" lIns="0" tIns="0" rIns="0" bIns="0" anchor="t" anchorCtr="0">
              <a:spAutoFit/>
            </a:bodyPr>
            <a:lstStyle/>
            <a:p>
              <a:pPr algn="l"/>
              <a:r>
                <a:rPr lang="vi" sz="1650" dirty="0">
                  <a:solidFill>
                    <a:schemeClr val="accent1"/>
                  </a:solidFill>
                  <a:latin typeface="Consolas"/>
                  <a:ea typeface="Consolas"/>
                  <a:cs typeface="Consolas"/>
                </a:rPr>
                <a:t>attn 3/22029</a:t>
              </a:r>
            </a:p>
          </p:txBody>
        </p:sp>
        <p:sp>
          <p:nvSpPr>
            <p:cNvPr id="8" name="Rectangle 8"/>
            <p:cNvSpPr/>
            <p:nvPr/>
          </p:nvSpPr>
          <p:spPr>
            <a:xfrm>
              <a:off x="609600" y="2667000"/>
              <a:ext cx="5295900" cy="1562100"/>
            </a:xfrm>
            <a:prstGeom prst="roundRect">
              <a:avLst>
                <a:gd name="adj" fmla="val 7317"/>
              </a:avLst>
            </a:prstGeom>
            <a:solidFill>
              <a:srgbClr val="F7FAFB"/>
            </a:solidFill>
            <a:ln>
              <a:noFill/>
            </a:ln>
          </p:spPr>
        </p:sp>
        <p:sp>
          <p:nvSpPr>
            <p:cNvPr id="9" name="TextBox 9"/>
            <p:cNvSpPr txBox="1"/>
            <p:nvPr/>
          </p:nvSpPr>
          <p:spPr>
            <a:xfrm>
              <a:off x="831342" y="2807018"/>
              <a:ext cx="3981858" cy="1006983"/>
            </a:xfrm>
            <a:prstGeom prst="rect">
              <a:avLst/>
            </a:prstGeom>
            <a:noFill/>
            <a:ln>
              <a:noFill/>
            </a:ln>
          </p:spPr>
          <p:txBody>
            <a:bodyPr wrap="none" lIns="0" tIns="0" rIns="0" bIns="0" anchor="t" anchorCtr="0">
              <a:spAutoFit/>
            </a:bodyPr>
            <a:lstStyle/>
            <a:p>
              <a:pPr algn="l">
                <a:lnSpc>
                  <a:spcPts val="1950"/>
                </a:lnSpc>
              </a:pPr>
              <a:r>
                <a:rPr lang="vi" sz="1350" dirty="0">
                  <a:solidFill>
                    <a:schemeClr val="dk1"/>
                  </a:solidFill>
                  <a:latin typeface="+mn-lt"/>
                  <a:ea typeface="+mn-ea"/>
                  <a:cs typeface="+mn-cs"/>
                </a:rPr>
                <a:t>Gerda Gilboe (5 July 1914 to 11 April 2009) was a</a:t>
              </a:r>
              <a:br/>
              <a:r>
                <a:rPr lang="vi" sz="1350" dirty="0">
                  <a:solidFill>
                    <a:schemeClr val="dk1"/>
                  </a:solidFill>
                  <a:latin typeface="+mn-lt"/>
                  <a:ea typeface="+mn-ea"/>
                  <a:cs typeface="+mn-cs"/>
                </a:rPr>
                <a:t xml:space="preserve">Danish </a:t>
              </a:r>
              <a:r>
                <a:rPr lang="vi" sz="1350" b="1" dirty="0">
                  <a:solidFill>
                    <a:schemeClr val="accent1"/>
                  </a:solidFill>
                  <a:latin typeface="+mn-lt"/>
                  <a:ea typeface="+mn-ea"/>
                  <a:cs typeface="+mn-cs"/>
                </a:rPr>
                <a:t>actress and singer</a:t>
              </a:r>
              <a:r>
                <a:rPr lang="vi" sz="1350" dirty="0">
                  <a:solidFill>
                    <a:schemeClr val="dk1"/>
                  </a:solidFill>
                  <a:latin typeface="+mn-lt"/>
                  <a:ea typeface="+mn-ea"/>
                  <a:cs typeface="+mn-cs"/>
                </a:rPr>
                <a:t xml:space="preserve">. </a:t>
              </a:r>
              <a:r>
                <a:rPr lang="vi" sz="1350" b="1" dirty="0">
                  <a:solidFill>
                    <a:schemeClr val="accent1"/>
                  </a:solidFill>
                  <a:latin typeface="+mn-lt"/>
                  <a:ea typeface="+mn-ea"/>
                  <a:cs typeface="+mn-cs"/>
                </a:rPr>
                <a:t>She</a:t>
              </a:r>
              <a:r>
                <a:rPr lang="vi" sz="1350" dirty="0">
                  <a:solidFill>
                    <a:schemeClr val="dk1"/>
                  </a:solidFill>
                  <a:latin typeface="+mn-lt"/>
                  <a:ea typeface="+mn-ea"/>
                  <a:cs typeface="+mn-cs"/>
                </a:rPr>
                <a:t xml:space="preserve"> appeared in 18 films</a:t>
              </a:r>
              <a:br/>
              <a:r>
                <a:rPr lang="vi" sz="1350" dirty="0">
                  <a:solidFill>
                    <a:schemeClr val="dk1"/>
                  </a:solidFill>
                  <a:latin typeface="+mn-lt"/>
                  <a:ea typeface="+mn-ea"/>
                  <a:cs typeface="+mn-cs"/>
                </a:rPr>
                <a:t>between 1943 and 2003. Gilboe was born in 1914;</a:t>
              </a:r>
              <a:br/>
              <a:r>
                <a:rPr lang="vi" sz="1350" b="1" dirty="0">
                  <a:solidFill>
                    <a:schemeClr val="accent1"/>
                  </a:solidFill>
                  <a:latin typeface="+mn-lt"/>
                  <a:ea typeface="+mn-ea"/>
                  <a:cs typeface="+mn-cs"/>
                </a:rPr>
                <a:t>she</a:t>
              </a:r>
              <a:r>
                <a:rPr lang="vi" sz="1350" dirty="0">
                  <a:solidFill>
                    <a:schemeClr val="dk1"/>
                  </a:solidFill>
                  <a:latin typeface="+mn-lt"/>
                  <a:ea typeface="+mn-ea"/>
                  <a:cs typeface="+mn-cs"/>
                </a:rPr>
                <a:t xml:space="preserve"> was the </a:t>
              </a:r>
              <a:r>
                <a:rPr lang="vi" sz="1350" b="1" dirty="0">
                  <a:solidFill>
                    <a:schemeClr val="accent1"/>
                  </a:solidFill>
                  <a:latin typeface="+mn-lt"/>
                  <a:ea typeface="+mn-ea"/>
                  <a:cs typeface="+mn-cs"/>
                </a:rPr>
                <a:t>daughter</a:t>
              </a:r>
              <a:r>
                <a:rPr lang="vi" sz="1350" dirty="0">
                  <a:solidFill>
                    <a:schemeClr val="dk1"/>
                  </a:solidFill>
                  <a:latin typeface="+mn-lt"/>
                  <a:ea typeface="+mn-ea"/>
                  <a:cs typeface="+mn-cs"/>
                </a:rPr>
                <a:t xml:space="preserve"> of a blacksmith.</a:t>
              </a:r>
            </a:p>
          </p:txBody>
        </p:sp>
        <p:sp>
          <p:nvSpPr>
            <p:cNvPr id="10" name="TextBox 10"/>
            <p:cNvSpPr txBox="1"/>
            <p:nvPr/>
          </p:nvSpPr>
          <p:spPr>
            <a:xfrm>
              <a:off x="602742" y="4483418"/>
              <a:ext cx="3804938"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Kích hoạt trên từ ngữ gắn với nữ giới trong tiểu sử</a:t>
              </a:r>
              <a:br/>
              <a:r>
                <a:rPr lang="vi" sz="1350" dirty="0">
                  <a:solidFill>
                    <a:schemeClr val="accent5"/>
                  </a:solidFill>
                  <a:latin typeface="+mn-lt"/>
                  <a:ea typeface="+mn-ea"/>
                  <a:cs typeface="+mn-cs"/>
                </a:rPr>
                <a:t>phụ nữ, và thúc đẩy các từ như husband, née.</a:t>
              </a:r>
              <a:br/>
              <a:r>
                <a:rPr lang="vi" sz="1350" dirty="0">
                  <a:solidFill>
                    <a:schemeClr val="accent5"/>
                  </a:solidFill>
                  <a:latin typeface="+mn-lt"/>
                  <a:ea typeface="+mn-ea"/>
                  <a:cs typeface="+mn-cs"/>
                </a:rPr>
                <a:t>Người chú thích đọc xong thì ablate.</a:t>
              </a:r>
            </a:p>
          </p:txBody>
        </p:sp>
      </p:grpSp>
      <p:grpSp>
        <p:nvGrpSpPr>
          <p:cNvPr id="16" name="p22-neuron"/>
          <p:cNvGrpSpPr/>
          <p:nvPr/>
        </p:nvGrpSpPr>
        <p:grpSpPr>
          <a:xfrm>
            <a:off x="6278118" y="2336482"/>
            <a:ext cx="5304282" cy="2906269"/>
            <a:chOff x="6278118" y="2336482"/>
            <a:chExt cx="5304282" cy="2906269"/>
          </a:xfrm>
        </p:grpSpPr>
        <p:sp>
          <p:nvSpPr>
            <p:cNvPr id="12" name="TextBox 12"/>
            <p:cNvSpPr txBox="1"/>
            <p:nvPr/>
          </p:nvSpPr>
          <p:spPr>
            <a:xfrm>
              <a:off x="6278118" y="2336482"/>
              <a:ext cx="3070955" cy="322707"/>
            </a:xfrm>
            <a:prstGeom prst="rect">
              <a:avLst/>
            </a:prstGeom>
            <a:noFill/>
            <a:ln>
              <a:noFill/>
            </a:ln>
          </p:spPr>
          <p:txBody>
            <a:bodyPr wrap="none" lIns="0" tIns="0" rIns="0" bIns="0" anchor="t" anchorCtr="0">
              <a:spAutoFit/>
            </a:bodyPr>
            <a:lstStyle/>
            <a:p>
              <a:pPr algn="l"/>
              <a:r>
                <a:rPr lang="vi" sz="1650" dirty="0">
                  <a:solidFill>
                    <a:srgbClr val="8B5A5F"/>
                  </a:solidFill>
                  <a:latin typeface="Consolas"/>
                  <a:ea typeface="Consolas"/>
                  <a:cs typeface="Consolas"/>
                </a:rPr>
                <a:t>một neuron từ cùng tác vụ</a:t>
              </a:r>
            </a:p>
          </p:txBody>
        </p:sp>
        <p:sp>
          <p:nvSpPr>
            <p:cNvPr id="13" name="Rectangle 13"/>
            <p:cNvSpPr/>
            <p:nvPr/>
          </p:nvSpPr>
          <p:spPr>
            <a:xfrm>
              <a:off x="6286500" y="2667000"/>
              <a:ext cx="5295900" cy="1562100"/>
            </a:xfrm>
            <a:prstGeom prst="roundRect">
              <a:avLst>
                <a:gd name="adj" fmla="val 7317"/>
              </a:avLst>
            </a:prstGeom>
            <a:solidFill>
              <a:srgbClr val="F7FAFB"/>
            </a:solidFill>
            <a:ln>
              <a:noFill/>
            </a:ln>
          </p:spPr>
        </p:sp>
        <p:sp>
          <p:nvSpPr>
            <p:cNvPr id="14" name="TextBox 14"/>
            <p:cNvSpPr txBox="1"/>
            <p:nvPr/>
          </p:nvSpPr>
          <p:spPr>
            <a:xfrm>
              <a:off x="6508242" y="2807018"/>
              <a:ext cx="3927285" cy="1006983"/>
            </a:xfrm>
            <a:prstGeom prst="rect">
              <a:avLst/>
            </a:prstGeom>
            <a:noFill/>
            <a:ln>
              <a:noFill/>
            </a:ln>
          </p:spPr>
          <p:txBody>
            <a:bodyPr wrap="none" lIns="0" tIns="0" rIns="0" bIns="0" anchor="t" anchorCtr="0">
              <a:spAutoFit/>
            </a:bodyPr>
            <a:lstStyle/>
            <a:p>
              <a:pPr algn="l">
                <a:lnSpc>
                  <a:spcPts val="1950"/>
                </a:lnSpc>
              </a:pPr>
              <a:r>
                <a:rPr lang="vi" sz="1350" dirty="0">
                  <a:solidFill>
                    <a:schemeClr val="dk1"/>
                  </a:solidFill>
                  <a:latin typeface="+mn-lt"/>
                  <a:ea typeface="+mn-ea"/>
                  <a:cs typeface="+mn-cs"/>
                </a:rPr>
                <a:t xml:space="preserve">endoftext endoftext endoftext endoftext </a:t>
              </a:r>
              <a:r>
                <a:rPr lang="vi" sz="1350" b="1" dirty="0">
                  <a:solidFill>
                    <a:srgbClr val="8B5A5F"/>
                  </a:solidFill>
                  <a:latin typeface="+mn-lt"/>
                  <a:ea typeface="+mn-ea"/>
                  <a:cs typeface="+mn-cs"/>
                </a:rPr>
                <a:t>477 F</a:t>
              </a:r>
              <a:br/>
              <a:r>
                <a:rPr lang="vi" sz="1350" dirty="0">
                  <a:solidFill>
                    <a:schemeClr val="dk1"/>
                  </a:solidFill>
                  <a:latin typeface="+mn-lt"/>
                  <a:ea typeface="+mn-ea"/>
                  <a:cs typeface="+mn-cs"/>
                </a:rPr>
                <a:t>Dorsomedial hypothalamic lesions alter intake of an</a:t>
              </a:r>
              <a:br/>
              <a:r>
                <a:rPr lang="vi" sz="1350" dirty="0">
                  <a:solidFill>
                    <a:schemeClr val="dk1"/>
                  </a:solidFill>
                  <a:latin typeface="+mn-lt"/>
                  <a:ea typeface="+mn-ea"/>
                  <a:cs typeface="+mn-cs"/>
                </a:rPr>
                <a:t xml:space="preserve">imbalanced amino acid diet in </a:t>
              </a:r>
              <a:r>
                <a:rPr lang="vi" sz="1350" b="1" dirty="0">
                  <a:solidFill>
                    <a:srgbClr val="8B5A5F"/>
                  </a:solidFill>
                  <a:latin typeface="+mn-lt"/>
                  <a:ea typeface="+mn-ea"/>
                  <a:cs typeface="+mn-cs"/>
                </a:rPr>
                <a:t>rats</a:t>
              </a:r>
              <a:r>
                <a:rPr lang="vi" sz="1350" dirty="0">
                  <a:solidFill>
                    <a:schemeClr val="dk1"/>
                  </a:solidFill>
                  <a:latin typeface="+mn-lt"/>
                  <a:ea typeface="+mn-ea"/>
                  <a:cs typeface="+mn-cs"/>
                </a:rPr>
                <a:t>.</a:t>
              </a:r>
              <a:br/>
              <a:r>
                <a:rPr lang="vi" sz="1350" b="1" dirty="0">
                  <a:solidFill>
                    <a:srgbClr val="8B5A5F"/>
                  </a:solidFill>
                  <a:latin typeface="+mn-lt"/>
                  <a:ea typeface="+mn-ea"/>
                  <a:cs typeface="+mn-cs"/>
                </a:rPr>
                <a:t>OS 10</a:t>
              </a:r>
              <a:r>
                <a:rPr lang="vi" sz="1350" dirty="0">
                  <a:solidFill>
                    <a:schemeClr val="dk1"/>
                  </a:solidFill>
                  <a:latin typeface="+mn-lt"/>
                  <a:ea typeface="+mn-ea"/>
                  <a:cs typeface="+mn-cs"/>
                </a:rPr>
                <a:t xml:space="preserve">. TiO2 nanotubes for bone </a:t>
              </a:r>
              <a:r>
                <a:rPr lang="vi" sz="1350" b="1" dirty="0">
                  <a:solidFill>
                    <a:srgbClr val="8B5A5F"/>
                  </a:solidFill>
                  <a:latin typeface="+mn-lt"/>
                  <a:ea typeface="+mn-ea"/>
                  <a:cs typeface="+mn-cs"/>
                </a:rPr>
                <a:t>regeneration</a:t>
              </a:r>
              <a:r>
                <a:rPr lang="vi" sz="1350" dirty="0">
                  <a:solidFill>
                    <a:schemeClr val="dk1"/>
                  </a:solidFill>
                  <a:latin typeface="+mn-lt"/>
                  <a:ea typeface="+mn-ea"/>
                  <a:cs typeface="+mn-cs"/>
                </a:rPr>
                <a:t>.</a:t>
              </a:r>
            </a:p>
          </p:txBody>
        </p:sp>
        <p:sp>
          <p:nvSpPr>
            <p:cNvPr id="15" name="TextBox 15"/>
            <p:cNvSpPr txBox="1"/>
            <p:nvPr/>
          </p:nvSpPr>
          <p:spPr>
            <a:xfrm>
              <a:off x="6279642" y="4483418"/>
              <a:ext cx="4167247" cy="75933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Kích hoạt trên đầu và cuối câu, và mạnh hơn trên</a:t>
              </a:r>
              <a:br/>
              <a:r>
                <a:rPr lang="vi" sz="1350" dirty="0">
                  <a:solidFill>
                    <a:schemeClr val="accent5"/>
                  </a:solidFill>
                  <a:latin typeface="+mn-lt"/>
                  <a:ea typeface="+mn-ea"/>
                  <a:cs typeface="+mn-cs"/>
                </a:rPr>
                <a:t>token trong câu có chữ hoa hoặc chữ số. Không suy</a:t>
              </a:r>
              <a:br/>
              <a:r>
                <a:rPr lang="vi" sz="1350" dirty="0">
                  <a:solidFill>
                    <a:schemeClr val="accent5"/>
                  </a:solidFill>
                  <a:latin typeface="+mn-lt"/>
                  <a:ea typeface="+mn-ea"/>
                  <a:cs typeface="+mn-cs"/>
                </a:rPr>
                <a:t>ra được nó đóng góp gì cho giới tính hay nghề nghiệp.</a:t>
              </a:r>
            </a:p>
          </p:txBody>
        </p:sp>
      </p:grpSp>
      <p:grpSp>
        <p:nvGrpSpPr>
          <p:cNvPr id="19" name="p22-he-qua"/>
          <p:cNvGrpSpPr/>
          <p:nvPr/>
        </p:nvGrpSpPr>
        <p:grpSpPr>
          <a:xfrm>
            <a:off x="609600" y="5524500"/>
            <a:ext cx="9734219" cy="716089"/>
            <a:chOff x="609600" y="5524500"/>
            <a:chExt cx="9734219" cy="716089"/>
          </a:xfrm>
        </p:grpSpPr>
        <p:sp>
          <p:nvSpPr>
            <p:cNvPr id="17" name="Rectangle 17"/>
            <p:cNvSpPr/>
            <p:nvPr/>
          </p:nvSpPr>
          <p:spPr>
            <a:xfrm>
              <a:off x="609600" y="5524500"/>
              <a:ext cx="76200" cy="685800"/>
            </a:xfrm>
            <a:prstGeom prst="roundRect">
              <a:avLst>
                <a:gd name="adj" fmla="val 50000"/>
              </a:avLst>
            </a:prstGeom>
            <a:solidFill>
              <a:schemeClr val="accent2"/>
            </a:solidFill>
            <a:ln>
              <a:noFill/>
            </a:ln>
          </p:spPr>
        </p:sp>
        <p:sp>
          <p:nvSpPr>
            <p:cNvPr id="18" name="TextBox 18"/>
            <p:cNvSpPr txBox="1"/>
            <p:nvPr/>
          </p:nvSpPr>
          <p:spPr>
            <a:xfrm>
              <a:off x="944118" y="5632132"/>
              <a:ext cx="9399701" cy="608457"/>
            </a:xfrm>
            <a:prstGeom prst="rect">
              <a:avLst/>
            </a:prstGeom>
            <a:noFill/>
            <a:ln>
              <a:noFill/>
            </a:ln>
          </p:spPr>
          <p:txBody>
            <a:bodyPr wrap="none" lIns="0" tIns="0" rIns="0" bIns="0" anchor="t" anchorCtr="0">
              <a:spAutoFit/>
            </a:bodyPr>
            <a:lstStyle/>
            <a:p>
              <a:pPr algn="l">
                <a:lnSpc>
                  <a:spcPts val="2250"/>
                </a:lnSpc>
              </a:pPr>
              <a:r>
                <a:rPr lang="vi" sz="1650" dirty="0">
                  <a:solidFill>
                    <a:schemeClr val="dk1"/>
                  </a:solidFill>
                  <a:latin typeface="+mn-lt"/>
                  <a:ea typeface="+mn-ea"/>
                  <a:cs typeface="+mn-cs"/>
                </a:rPr>
                <a:t>Không có cơ sở để quyết định ablate neuron nào, nên paper bỏ hẳn SHIFT với neuron. Neuron skyline</a:t>
              </a:r>
              <a:br/>
              <a:r>
                <a:rPr lang="vi" sz="1650" dirty="0">
                  <a:solidFill>
                    <a:schemeClr val="dk1"/>
                  </a:solidFill>
                  <a:latin typeface="+mn-lt"/>
                  <a:ea typeface="+mn-ea"/>
                  <a:cs typeface="+mn-cs"/>
                </a:rPr>
                <a:t>được xem balanced set mà vẫn thua: worst-group Gemma 5.6, thấp hơn cả Original 18.2.</a:t>
              </a:r>
            </a:p>
          </p:txBody>
        </p:sp>
      </p:grpSp>
      <p:sp>
        <p:nvSpPr>
          <p:cNvPr id="20" name="TextBox 20"/>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22</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783930" cy="1523619"/>
            <a:chOff x="592836" y="651510"/>
            <a:chExt cx="6783930" cy="1523619"/>
          </a:xfrm>
        </p:grpSpPr>
        <p:sp>
          <p:nvSpPr>
            <p:cNvPr id="4" name="TextBox 4"/>
            <p:cNvSpPr txBox="1"/>
            <p:nvPr/>
          </p:nvSpPr>
          <p:spPr>
            <a:xfrm>
              <a:off x="603504" y="651510"/>
              <a:ext cx="1022039"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4. SHIFT</a:t>
              </a:r>
            </a:p>
          </p:txBody>
        </p:sp>
        <p:sp>
          <p:nvSpPr>
            <p:cNvPr id="5" name="TextBox 5"/>
            <p:cNvSpPr txBox="1"/>
            <p:nvPr/>
          </p:nvSpPr>
          <p:spPr>
            <a:xfrm>
              <a:off x="592836" y="1034415"/>
              <a:ext cx="6783930"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SHIFT là hàng duy nhất không cần</a:t>
              </a:r>
              <a:br/>
              <a:r>
                <a:rPr lang="vi" sz="3300" b="1" dirty="0">
                  <a:solidFill>
                    <a:schemeClr val="dk1"/>
                  </a:solidFill>
                  <a:latin typeface="+mn-lt"/>
                  <a:ea typeface="+mn-ea"/>
                  <a:cs typeface="+mn-cs"/>
                </a:rPr>
                <a:t>cả ba điều kiện kia</a:t>
              </a:r>
            </a:p>
          </p:txBody>
        </p:sp>
      </p:grpSp>
      <p:grpSp>
        <p:nvGrpSpPr>
          <p:cNvPr id="55" name="p23-doi-chieu-spurious"/>
          <p:cNvGrpSpPr/>
          <p:nvPr/>
        </p:nvGrpSpPr>
        <p:grpSpPr>
          <a:xfrm>
            <a:off x="602361" y="2575560"/>
            <a:ext cx="10980039" cy="3168015"/>
            <a:chOff x="602361" y="2575560"/>
            <a:chExt cx="10980039" cy="3168015"/>
          </a:xfrm>
        </p:grpSpPr>
        <p:sp>
          <p:nvSpPr>
            <p:cNvPr id="7" name="TextBox 7"/>
            <p:cNvSpPr txBox="1"/>
            <p:nvPr/>
          </p:nvSpPr>
          <p:spPr>
            <a:xfrm>
              <a:off x="603504" y="2575560"/>
              <a:ext cx="979957"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Phương pháp</a:t>
              </a:r>
            </a:p>
          </p:txBody>
        </p:sp>
        <p:sp>
          <p:nvSpPr>
            <p:cNvPr id="8" name="TextBox 8"/>
            <p:cNvSpPr txBox="1"/>
            <p:nvPr/>
          </p:nvSpPr>
          <p:spPr>
            <a:xfrm>
              <a:off x="4034767" y="2575560"/>
              <a:ext cx="864916" cy="234696"/>
            </a:xfrm>
            <a:prstGeom prst="rect">
              <a:avLst/>
            </a:prstGeom>
            <a:noFill/>
            <a:ln>
              <a:noFill/>
            </a:ln>
          </p:spPr>
          <p:txBody>
            <a:bodyPr wrap="none" lIns="0" tIns="0" rIns="0" bIns="0" anchor="t" anchorCtr="0">
              <a:spAutoFit/>
            </a:bodyPr>
            <a:lstStyle/>
            <a:p>
              <a:pPr algn="ctr"/>
              <a:r>
                <a:rPr lang="vi" sz="1200" dirty="0">
                  <a:solidFill>
                    <a:schemeClr val="accent5"/>
                  </a:solidFill>
                  <a:latin typeface="+mn-lt"/>
                  <a:ea typeface="+mn-ea"/>
                  <a:cs typeface="+mn-cs"/>
                </a:rPr>
                <a:t>Nhãn nhóm</a:t>
              </a:r>
            </a:p>
          </p:txBody>
        </p:sp>
        <p:sp>
          <p:nvSpPr>
            <p:cNvPr id="9" name="TextBox 9"/>
            <p:cNvSpPr txBox="1"/>
            <p:nvPr/>
          </p:nvSpPr>
          <p:spPr>
            <a:xfrm>
              <a:off x="5443471" y="2575560"/>
              <a:ext cx="1286007" cy="234696"/>
            </a:xfrm>
            <a:prstGeom prst="rect">
              <a:avLst/>
            </a:prstGeom>
            <a:noFill/>
            <a:ln>
              <a:noFill/>
            </a:ln>
          </p:spPr>
          <p:txBody>
            <a:bodyPr wrap="none" lIns="0" tIns="0" rIns="0" bIns="0" anchor="t" anchorCtr="0">
              <a:spAutoFit/>
            </a:bodyPr>
            <a:lstStyle/>
            <a:p>
              <a:pPr algn="ctr"/>
              <a:r>
                <a:rPr lang="vi" sz="1200" dirty="0">
                  <a:solidFill>
                    <a:schemeClr val="accent5"/>
                  </a:solidFill>
                  <a:latin typeface="+mn-lt"/>
                  <a:ea typeface="+mn-ea"/>
                  <a:cs typeface="+mn-cs"/>
                </a:rPr>
                <a:t>Dữ liệu phân định</a:t>
              </a:r>
            </a:p>
          </p:txBody>
        </p:sp>
        <p:sp>
          <p:nvSpPr>
            <p:cNvPr id="10" name="TextBox 10"/>
            <p:cNvSpPr txBox="1"/>
            <p:nvPr/>
          </p:nvSpPr>
          <p:spPr>
            <a:xfrm>
              <a:off x="7254361" y="2575560"/>
              <a:ext cx="1283729" cy="234696"/>
            </a:xfrm>
            <a:prstGeom prst="rect">
              <a:avLst/>
            </a:prstGeom>
            <a:noFill/>
            <a:ln>
              <a:noFill/>
            </a:ln>
          </p:spPr>
          <p:txBody>
            <a:bodyPr wrap="none" lIns="0" tIns="0" rIns="0" bIns="0" anchor="t" anchorCtr="0">
              <a:spAutoFit/>
            </a:bodyPr>
            <a:lstStyle/>
            <a:p>
              <a:pPr algn="ctr"/>
              <a:r>
                <a:rPr lang="vi" sz="1200" dirty="0">
                  <a:solidFill>
                    <a:schemeClr val="accent5"/>
                  </a:solidFill>
                  <a:latin typeface="+mn-lt"/>
                  <a:ea typeface="+mn-ea"/>
                  <a:cs typeface="+mn-cs"/>
                </a:rPr>
                <a:t>Biết trước tín hiệu</a:t>
              </a:r>
            </a:p>
          </p:txBody>
        </p:sp>
        <p:sp>
          <p:nvSpPr>
            <p:cNvPr id="11" name="TextBox 11"/>
            <p:cNvSpPr txBox="1"/>
            <p:nvPr/>
          </p:nvSpPr>
          <p:spPr>
            <a:xfrm>
              <a:off x="8795004" y="2575560"/>
              <a:ext cx="1856673"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Nguồn tín hiệu phân định</a:t>
              </a:r>
            </a:p>
          </p:txBody>
        </p:sp>
        <p:sp>
          <p:nvSpPr>
            <p:cNvPr id="12" name="Line 12"/>
            <p:cNvSpPr/>
            <p:nvPr/>
          </p:nvSpPr>
          <p:spPr>
            <a:xfrm>
              <a:off x="609600" y="2838450"/>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13" name="TextBox 13"/>
            <p:cNvSpPr txBox="1"/>
            <p:nvPr/>
          </p:nvSpPr>
          <p:spPr>
            <a:xfrm>
              <a:off x="602361" y="3046571"/>
              <a:ext cx="2311383"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Group DRO (Sagawa 2020)</a:t>
              </a:r>
            </a:p>
          </p:txBody>
        </p:sp>
        <p:sp>
          <p:nvSpPr>
            <p:cNvPr id="14" name="TextBox 14"/>
            <p:cNvSpPr txBox="1"/>
            <p:nvPr/>
          </p:nvSpPr>
          <p:spPr>
            <a:xfrm>
              <a:off x="4359837" y="3046571"/>
              <a:ext cx="214776"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có</a:t>
              </a:r>
            </a:p>
          </p:txBody>
        </p:sp>
        <p:sp>
          <p:nvSpPr>
            <p:cNvPr id="15" name="TextBox 15"/>
            <p:cNvSpPr txBox="1"/>
            <p:nvPr/>
          </p:nvSpPr>
          <p:spPr>
            <a:xfrm>
              <a:off x="5979087" y="3046571"/>
              <a:ext cx="214776"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có</a:t>
              </a:r>
            </a:p>
          </p:txBody>
        </p:sp>
        <p:sp>
          <p:nvSpPr>
            <p:cNvPr id="16" name="TextBox 16"/>
            <p:cNvSpPr txBox="1"/>
            <p:nvPr/>
          </p:nvSpPr>
          <p:spPr>
            <a:xfrm>
              <a:off x="7788837" y="3046571"/>
              <a:ext cx="214776"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có</a:t>
              </a:r>
            </a:p>
          </p:txBody>
        </p:sp>
        <p:sp>
          <p:nvSpPr>
            <p:cNvPr id="17" name="TextBox 17"/>
            <p:cNvSpPr txBox="1"/>
            <p:nvPr/>
          </p:nvSpPr>
          <p:spPr>
            <a:xfrm>
              <a:off x="8793861" y="3046571"/>
              <a:ext cx="981635"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nhãn nhóm</a:t>
              </a:r>
            </a:p>
          </p:txBody>
        </p:sp>
        <p:sp>
          <p:nvSpPr>
            <p:cNvPr id="18" name="Line 18"/>
            <p:cNvSpPr/>
            <p:nvPr/>
          </p:nvSpPr>
          <p:spPr>
            <a:xfrm>
              <a:off x="609600" y="3333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602361" y="3446621"/>
              <a:ext cx="1202996"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JTT (Liu 2021)</a:t>
              </a:r>
            </a:p>
          </p:txBody>
        </p:sp>
        <p:sp>
          <p:nvSpPr>
            <p:cNvPr id="20" name="TextBox 20"/>
            <p:cNvSpPr txBox="1"/>
            <p:nvPr/>
          </p:nvSpPr>
          <p:spPr>
            <a:xfrm>
              <a:off x="4192008" y="3446621"/>
              <a:ext cx="550434" cy="278702"/>
            </a:xfrm>
            <a:prstGeom prst="rect">
              <a:avLst/>
            </a:prstGeom>
            <a:noFill/>
            <a:ln>
              <a:noFill/>
            </a:ln>
          </p:spPr>
          <p:txBody>
            <a:bodyPr wrap="none" lIns="0" tIns="0" rIns="0" bIns="0" anchor="t" anchorCtr="0">
              <a:spAutoFit/>
            </a:bodyPr>
            <a:lstStyle/>
            <a:p>
              <a:pPr algn="ctr"/>
              <a:r>
                <a:rPr lang="vi" sz="1420" dirty="0">
                  <a:solidFill>
                    <a:schemeClr val="accent1"/>
                  </a:solidFill>
                  <a:latin typeface="+mn-lt"/>
                  <a:ea typeface="+mn-ea"/>
                  <a:cs typeface="+mn-cs"/>
                </a:rPr>
                <a:t>không</a:t>
              </a:r>
            </a:p>
          </p:txBody>
        </p:sp>
        <p:sp>
          <p:nvSpPr>
            <p:cNvPr id="21" name="TextBox 21"/>
            <p:cNvSpPr txBox="1"/>
            <p:nvPr/>
          </p:nvSpPr>
          <p:spPr>
            <a:xfrm>
              <a:off x="5979087" y="3446621"/>
              <a:ext cx="214776"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có</a:t>
              </a:r>
            </a:p>
          </p:txBody>
        </p:sp>
        <p:sp>
          <p:nvSpPr>
            <p:cNvPr id="22" name="TextBox 22"/>
            <p:cNvSpPr txBox="1"/>
            <p:nvPr/>
          </p:nvSpPr>
          <p:spPr>
            <a:xfrm>
              <a:off x="7621008" y="3446621"/>
              <a:ext cx="550434" cy="278702"/>
            </a:xfrm>
            <a:prstGeom prst="rect">
              <a:avLst/>
            </a:prstGeom>
            <a:noFill/>
            <a:ln>
              <a:noFill/>
            </a:ln>
          </p:spPr>
          <p:txBody>
            <a:bodyPr wrap="none" lIns="0" tIns="0" rIns="0" bIns="0" anchor="t" anchorCtr="0">
              <a:spAutoFit/>
            </a:bodyPr>
            <a:lstStyle/>
            <a:p>
              <a:pPr algn="ctr"/>
              <a:r>
                <a:rPr lang="vi" sz="1420" dirty="0">
                  <a:solidFill>
                    <a:schemeClr val="accent1"/>
                  </a:solidFill>
                  <a:latin typeface="+mn-lt"/>
                  <a:ea typeface="+mn-ea"/>
                  <a:cs typeface="+mn-cs"/>
                </a:rPr>
                <a:t>không</a:t>
              </a:r>
            </a:p>
          </p:txBody>
        </p:sp>
        <p:sp>
          <p:nvSpPr>
            <p:cNvPr id="23" name="TextBox 23"/>
            <p:cNvSpPr txBox="1"/>
            <p:nvPr/>
          </p:nvSpPr>
          <p:spPr>
            <a:xfrm>
              <a:off x="8793861" y="3446621"/>
              <a:ext cx="1705215"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mẫu bị phân loại sai</a:t>
              </a:r>
            </a:p>
          </p:txBody>
        </p:sp>
        <p:sp>
          <p:nvSpPr>
            <p:cNvPr id="24" name="Line 24"/>
            <p:cNvSpPr/>
            <p:nvPr/>
          </p:nvSpPr>
          <p:spPr>
            <a:xfrm>
              <a:off x="609600" y="37338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5" name="TextBox 25"/>
            <p:cNvSpPr txBox="1"/>
            <p:nvPr/>
          </p:nvSpPr>
          <p:spPr>
            <a:xfrm>
              <a:off x="602361" y="3846671"/>
              <a:ext cx="1902448"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DFR (Kirichenko 2023)</a:t>
              </a:r>
            </a:p>
          </p:txBody>
        </p:sp>
        <p:sp>
          <p:nvSpPr>
            <p:cNvPr id="26" name="TextBox 26"/>
            <p:cNvSpPr txBox="1"/>
            <p:nvPr/>
          </p:nvSpPr>
          <p:spPr>
            <a:xfrm>
              <a:off x="4359837" y="3846671"/>
              <a:ext cx="214776"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có</a:t>
              </a:r>
            </a:p>
          </p:txBody>
        </p:sp>
        <p:sp>
          <p:nvSpPr>
            <p:cNvPr id="27" name="TextBox 27"/>
            <p:cNvSpPr txBox="1"/>
            <p:nvPr/>
          </p:nvSpPr>
          <p:spPr>
            <a:xfrm>
              <a:off x="5979087" y="3846671"/>
              <a:ext cx="214776"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có</a:t>
              </a:r>
            </a:p>
          </p:txBody>
        </p:sp>
        <p:sp>
          <p:nvSpPr>
            <p:cNvPr id="28" name="TextBox 28"/>
            <p:cNvSpPr txBox="1"/>
            <p:nvPr/>
          </p:nvSpPr>
          <p:spPr>
            <a:xfrm>
              <a:off x="7788837" y="3846671"/>
              <a:ext cx="214776"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có</a:t>
              </a:r>
            </a:p>
          </p:txBody>
        </p:sp>
        <p:sp>
          <p:nvSpPr>
            <p:cNvPr id="29" name="TextBox 29"/>
            <p:cNvSpPr txBox="1"/>
            <p:nvPr/>
          </p:nvSpPr>
          <p:spPr>
            <a:xfrm>
              <a:off x="8793861" y="3846671"/>
              <a:ext cx="1417194"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dữ liệu cân bằng</a:t>
              </a:r>
            </a:p>
          </p:txBody>
        </p:sp>
        <p:sp>
          <p:nvSpPr>
            <p:cNvPr id="30" name="Line 30"/>
            <p:cNvSpPr/>
            <p:nvPr/>
          </p:nvSpPr>
          <p:spPr>
            <a:xfrm>
              <a:off x="609600" y="41338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1" name="TextBox 31"/>
            <p:cNvSpPr txBox="1"/>
            <p:nvPr/>
          </p:nvSpPr>
          <p:spPr>
            <a:xfrm>
              <a:off x="602361" y="4246721"/>
              <a:ext cx="1279983"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INLP và LEACE</a:t>
              </a:r>
            </a:p>
          </p:txBody>
        </p:sp>
        <p:sp>
          <p:nvSpPr>
            <p:cNvPr id="32" name="TextBox 32"/>
            <p:cNvSpPr txBox="1"/>
            <p:nvPr/>
          </p:nvSpPr>
          <p:spPr>
            <a:xfrm>
              <a:off x="4359837" y="4246721"/>
              <a:ext cx="214776"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có</a:t>
              </a:r>
            </a:p>
          </p:txBody>
        </p:sp>
        <p:sp>
          <p:nvSpPr>
            <p:cNvPr id="33" name="TextBox 33"/>
            <p:cNvSpPr txBox="1"/>
            <p:nvPr/>
          </p:nvSpPr>
          <p:spPr>
            <a:xfrm>
              <a:off x="5695845" y="4246721"/>
              <a:ext cx="781261" cy="278702"/>
            </a:xfrm>
            <a:prstGeom prst="rect">
              <a:avLst/>
            </a:prstGeom>
            <a:noFill/>
            <a:ln>
              <a:noFill/>
            </a:ln>
          </p:spPr>
          <p:txBody>
            <a:bodyPr wrap="none" lIns="0" tIns="0" rIns="0" bIns="0" anchor="t" anchorCtr="0">
              <a:spAutoFit/>
            </a:bodyPr>
            <a:lstStyle/>
            <a:p>
              <a:pPr algn="ctr"/>
              <a:r>
                <a:rPr lang="vi" sz="1420" dirty="0">
                  <a:solidFill>
                    <a:schemeClr val="accent5"/>
                  </a:solidFill>
                  <a:latin typeface="+mn-lt"/>
                  <a:ea typeface="+mn-ea"/>
                  <a:cs typeface="+mn-cs"/>
                </a:rPr>
                <a:t>không rõ</a:t>
              </a:r>
            </a:p>
          </p:txBody>
        </p:sp>
        <p:sp>
          <p:nvSpPr>
            <p:cNvPr id="34" name="TextBox 34"/>
            <p:cNvSpPr txBox="1"/>
            <p:nvPr/>
          </p:nvSpPr>
          <p:spPr>
            <a:xfrm>
              <a:off x="7788837" y="4246721"/>
              <a:ext cx="214776"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có</a:t>
              </a:r>
            </a:p>
          </p:txBody>
        </p:sp>
        <p:sp>
          <p:nvSpPr>
            <p:cNvPr id="35" name="TextBox 35"/>
            <p:cNvSpPr txBox="1"/>
            <p:nvPr/>
          </p:nvSpPr>
          <p:spPr>
            <a:xfrm>
              <a:off x="8793861" y="4246721"/>
              <a:ext cx="1508645"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nhãn của concept</a:t>
              </a:r>
            </a:p>
          </p:txBody>
        </p:sp>
        <p:sp>
          <p:nvSpPr>
            <p:cNvPr id="36" name="Line 36"/>
            <p:cNvSpPr/>
            <p:nvPr/>
          </p:nvSpPr>
          <p:spPr>
            <a:xfrm>
              <a:off x="609600" y="4533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7" name="TextBox 37"/>
            <p:cNvSpPr txBox="1"/>
            <p:nvPr/>
          </p:nvSpPr>
          <p:spPr>
            <a:xfrm>
              <a:off x="602361" y="4646771"/>
              <a:ext cx="1695389"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Cân bằng lại dữ liệu</a:t>
              </a:r>
            </a:p>
          </p:txBody>
        </p:sp>
        <p:sp>
          <p:nvSpPr>
            <p:cNvPr id="38" name="TextBox 38"/>
            <p:cNvSpPr txBox="1"/>
            <p:nvPr/>
          </p:nvSpPr>
          <p:spPr>
            <a:xfrm>
              <a:off x="4026711" y="4646771"/>
              <a:ext cx="881027"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thường có</a:t>
              </a:r>
            </a:p>
          </p:txBody>
        </p:sp>
        <p:sp>
          <p:nvSpPr>
            <p:cNvPr id="39" name="TextBox 39"/>
            <p:cNvSpPr txBox="1"/>
            <p:nvPr/>
          </p:nvSpPr>
          <p:spPr>
            <a:xfrm>
              <a:off x="5979087" y="4646771"/>
              <a:ext cx="214776"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có</a:t>
              </a:r>
            </a:p>
          </p:txBody>
        </p:sp>
        <p:sp>
          <p:nvSpPr>
            <p:cNvPr id="40" name="TextBox 40"/>
            <p:cNvSpPr txBox="1"/>
            <p:nvPr/>
          </p:nvSpPr>
          <p:spPr>
            <a:xfrm>
              <a:off x="7455711" y="4646771"/>
              <a:ext cx="881027"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thường có</a:t>
              </a:r>
            </a:p>
          </p:txBody>
        </p:sp>
        <p:sp>
          <p:nvSpPr>
            <p:cNvPr id="41" name="TextBox 41"/>
            <p:cNvSpPr txBox="1"/>
            <p:nvPr/>
          </p:nvSpPr>
          <p:spPr>
            <a:xfrm>
              <a:off x="8793861" y="4646771"/>
              <a:ext cx="588342"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dữ liệu</a:t>
              </a:r>
            </a:p>
          </p:txBody>
        </p:sp>
        <p:sp>
          <p:nvSpPr>
            <p:cNvPr id="42" name="Line 42"/>
            <p:cNvSpPr/>
            <p:nvPr/>
          </p:nvSpPr>
          <p:spPr>
            <a:xfrm>
              <a:off x="609600" y="49339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3" name="TextBox 43"/>
            <p:cNvSpPr txBox="1"/>
            <p:nvPr/>
          </p:nvSpPr>
          <p:spPr>
            <a:xfrm>
              <a:off x="602361" y="5046821"/>
              <a:ext cx="1341144"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CBP (Yan 2023)</a:t>
              </a:r>
            </a:p>
          </p:txBody>
        </p:sp>
        <p:sp>
          <p:nvSpPr>
            <p:cNvPr id="44" name="TextBox 44"/>
            <p:cNvSpPr txBox="1"/>
            <p:nvPr/>
          </p:nvSpPr>
          <p:spPr>
            <a:xfrm>
              <a:off x="4192008" y="5046821"/>
              <a:ext cx="550434" cy="278702"/>
            </a:xfrm>
            <a:prstGeom prst="rect">
              <a:avLst/>
            </a:prstGeom>
            <a:noFill/>
            <a:ln>
              <a:noFill/>
            </a:ln>
          </p:spPr>
          <p:txBody>
            <a:bodyPr wrap="none" lIns="0" tIns="0" rIns="0" bIns="0" anchor="t" anchorCtr="0">
              <a:spAutoFit/>
            </a:bodyPr>
            <a:lstStyle/>
            <a:p>
              <a:pPr algn="ctr"/>
              <a:r>
                <a:rPr lang="vi" sz="1420" dirty="0">
                  <a:solidFill>
                    <a:schemeClr val="accent1"/>
                  </a:solidFill>
                  <a:latin typeface="+mn-lt"/>
                  <a:ea typeface="+mn-ea"/>
                  <a:cs typeface="+mn-cs"/>
                </a:rPr>
                <a:t>không</a:t>
              </a:r>
            </a:p>
          </p:txBody>
        </p:sp>
        <p:sp>
          <p:nvSpPr>
            <p:cNvPr id="45" name="TextBox 45"/>
            <p:cNvSpPr txBox="1"/>
            <p:nvPr/>
          </p:nvSpPr>
          <p:spPr>
            <a:xfrm>
              <a:off x="5811258" y="5046821"/>
              <a:ext cx="550434" cy="278702"/>
            </a:xfrm>
            <a:prstGeom prst="rect">
              <a:avLst/>
            </a:prstGeom>
            <a:noFill/>
            <a:ln>
              <a:noFill/>
            </a:ln>
          </p:spPr>
          <p:txBody>
            <a:bodyPr wrap="none" lIns="0" tIns="0" rIns="0" bIns="0" anchor="t" anchorCtr="0">
              <a:spAutoFit/>
            </a:bodyPr>
            <a:lstStyle/>
            <a:p>
              <a:pPr algn="ctr"/>
              <a:r>
                <a:rPr lang="vi" sz="1420" dirty="0">
                  <a:solidFill>
                    <a:schemeClr val="accent1"/>
                  </a:solidFill>
                  <a:latin typeface="+mn-lt"/>
                  <a:ea typeface="+mn-ea"/>
                  <a:cs typeface="+mn-cs"/>
                </a:rPr>
                <a:t>không</a:t>
              </a:r>
            </a:p>
          </p:txBody>
        </p:sp>
        <p:sp>
          <p:nvSpPr>
            <p:cNvPr id="46" name="TextBox 46"/>
            <p:cNvSpPr txBox="1"/>
            <p:nvPr/>
          </p:nvSpPr>
          <p:spPr>
            <a:xfrm>
              <a:off x="7788837" y="5046821"/>
              <a:ext cx="214776"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có</a:t>
              </a:r>
            </a:p>
          </p:txBody>
        </p:sp>
        <p:sp>
          <p:nvSpPr>
            <p:cNvPr id="47" name="TextBox 47"/>
            <p:cNvSpPr txBox="1"/>
            <p:nvPr/>
          </p:nvSpPr>
          <p:spPr>
            <a:xfrm>
              <a:off x="8793861" y="5046821"/>
              <a:ext cx="1726281"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20 keyword của task</a:t>
              </a:r>
            </a:p>
          </p:txBody>
        </p:sp>
        <p:sp>
          <p:nvSpPr>
            <p:cNvPr id="48" name="Line 48"/>
            <p:cNvSpPr/>
            <p:nvPr/>
          </p:nvSpPr>
          <p:spPr>
            <a:xfrm>
              <a:off x="609600" y="5334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9" name="TextBox 49"/>
            <p:cNvSpPr txBox="1"/>
            <p:nvPr/>
          </p:nvSpPr>
          <p:spPr>
            <a:xfrm>
              <a:off x="602361" y="5446871"/>
              <a:ext cx="569804" cy="278702"/>
            </a:xfrm>
            <a:prstGeom prst="rect">
              <a:avLst/>
            </a:prstGeom>
            <a:noFill/>
            <a:ln>
              <a:noFill/>
            </a:ln>
          </p:spPr>
          <p:txBody>
            <a:bodyPr wrap="none" lIns="0" tIns="0" rIns="0" bIns="0" anchor="t" anchorCtr="0">
              <a:spAutoFit/>
            </a:bodyPr>
            <a:lstStyle/>
            <a:p>
              <a:pPr algn="l"/>
              <a:r>
                <a:rPr lang="vi" sz="1420" b="1" dirty="0">
                  <a:solidFill>
                    <a:schemeClr val="accent1"/>
                  </a:solidFill>
                  <a:latin typeface="+mn-lt"/>
                  <a:ea typeface="+mn-ea"/>
                  <a:cs typeface="+mn-cs"/>
                </a:rPr>
                <a:t>SHIFT</a:t>
              </a:r>
            </a:p>
          </p:txBody>
        </p:sp>
        <p:sp>
          <p:nvSpPr>
            <p:cNvPr id="50" name="TextBox 50"/>
            <p:cNvSpPr txBox="1"/>
            <p:nvPr/>
          </p:nvSpPr>
          <p:spPr>
            <a:xfrm>
              <a:off x="4173628" y="5446871"/>
              <a:ext cx="587195" cy="278702"/>
            </a:xfrm>
            <a:prstGeom prst="rect">
              <a:avLst/>
            </a:prstGeom>
            <a:noFill/>
            <a:ln>
              <a:noFill/>
            </a:ln>
          </p:spPr>
          <p:txBody>
            <a:bodyPr wrap="none" lIns="0" tIns="0" rIns="0" bIns="0" anchor="t" anchorCtr="0">
              <a:spAutoFit/>
            </a:bodyPr>
            <a:lstStyle/>
            <a:p>
              <a:pPr algn="ctr"/>
              <a:r>
                <a:rPr lang="vi" sz="1420" b="1" dirty="0">
                  <a:solidFill>
                    <a:schemeClr val="accent1"/>
                  </a:solidFill>
                  <a:latin typeface="+mn-lt"/>
                  <a:ea typeface="+mn-ea"/>
                  <a:cs typeface="+mn-cs"/>
                </a:rPr>
                <a:t>không</a:t>
              </a:r>
            </a:p>
          </p:txBody>
        </p:sp>
        <p:sp>
          <p:nvSpPr>
            <p:cNvPr id="51" name="TextBox 51"/>
            <p:cNvSpPr txBox="1"/>
            <p:nvPr/>
          </p:nvSpPr>
          <p:spPr>
            <a:xfrm>
              <a:off x="5792878" y="5446871"/>
              <a:ext cx="587195" cy="278702"/>
            </a:xfrm>
            <a:prstGeom prst="rect">
              <a:avLst/>
            </a:prstGeom>
            <a:noFill/>
            <a:ln>
              <a:noFill/>
            </a:ln>
          </p:spPr>
          <p:txBody>
            <a:bodyPr wrap="none" lIns="0" tIns="0" rIns="0" bIns="0" anchor="t" anchorCtr="0">
              <a:spAutoFit/>
            </a:bodyPr>
            <a:lstStyle/>
            <a:p>
              <a:pPr algn="ctr"/>
              <a:r>
                <a:rPr lang="vi" sz="1420" b="1" dirty="0">
                  <a:solidFill>
                    <a:schemeClr val="accent1"/>
                  </a:solidFill>
                  <a:latin typeface="+mn-lt"/>
                  <a:ea typeface="+mn-ea"/>
                  <a:cs typeface="+mn-cs"/>
                </a:rPr>
                <a:t>không</a:t>
              </a:r>
            </a:p>
          </p:txBody>
        </p:sp>
        <p:sp>
          <p:nvSpPr>
            <p:cNvPr id="52" name="TextBox 52"/>
            <p:cNvSpPr txBox="1"/>
            <p:nvPr/>
          </p:nvSpPr>
          <p:spPr>
            <a:xfrm>
              <a:off x="7602628" y="5446871"/>
              <a:ext cx="587195" cy="278702"/>
            </a:xfrm>
            <a:prstGeom prst="rect">
              <a:avLst/>
            </a:prstGeom>
            <a:noFill/>
            <a:ln>
              <a:noFill/>
            </a:ln>
          </p:spPr>
          <p:txBody>
            <a:bodyPr wrap="none" lIns="0" tIns="0" rIns="0" bIns="0" anchor="t" anchorCtr="0">
              <a:spAutoFit/>
            </a:bodyPr>
            <a:lstStyle/>
            <a:p>
              <a:pPr algn="ctr"/>
              <a:r>
                <a:rPr lang="vi" sz="1420" b="1" dirty="0">
                  <a:solidFill>
                    <a:schemeClr val="accent1"/>
                  </a:solidFill>
                  <a:latin typeface="+mn-lt"/>
                  <a:ea typeface="+mn-ea"/>
                  <a:cs typeface="+mn-cs"/>
                </a:rPr>
                <a:t>không</a:t>
              </a:r>
            </a:p>
          </p:txBody>
        </p:sp>
        <p:sp>
          <p:nvSpPr>
            <p:cNvPr id="53" name="TextBox 53"/>
            <p:cNvSpPr txBox="1"/>
            <p:nvPr/>
          </p:nvSpPr>
          <p:spPr>
            <a:xfrm>
              <a:off x="8793861" y="5446871"/>
              <a:ext cx="1909661" cy="278702"/>
            </a:xfrm>
            <a:prstGeom prst="rect">
              <a:avLst/>
            </a:prstGeom>
            <a:noFill/>
            <a:ln>
              <a:noFill/>
            </a:ln>
          </p:spPr>
          <p:txBody>
            <a:bodyPr wrap="none" lIns="0" tIns="0" rIns="0" bIns="0" anchor="t" anchorCtr="0">
              <a:spAutoFit/>
            </a:bodyPr>
            <a:lstStyle/>
            <a:p>
              <a:pPr algn="l"/>
              <a:r>
                <a:rPr lang="vi" sz="1420" b="1" dirty="0">
                  <a:solidFill>
                    <a:schemeClr val="accent1"/>
                  </a:solidFill>
                  <a:latin typeface="+mn-lt"/>
                  <a:ea typeface="+mn-ea"/>
                  <a:cs typeface="+mn-cs"/>
                </a:rPr>
                <a:t>phán đoán của người</a:t>
              </a:r>
            </a:p>
          </p:txBody>
        </p:sp>
        <p:sp>
          <p:nvSpPr>
            <p:cNvPr id="54" name="Line 54"/>
            <p:cNvSpPr/>
            <p:nvPr/>
          </p:nvSpPr>
          <p:spPr>
            <a:xfrm>
              <a:off x="609600" y="57340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58" name="p23-ket-luan"/>
          <p:cNvGrpSpPr/>
          <p:nvPr/>
        </p:nvGrpSpPr>
        <p:grpSpPr>
          <a:xfrm>
            <a:off x="609600" y="5905500"/>
            <a:ext cx="8710071" cy="398145"/>
            <a:chOff x="609600" y="5905500"/>
            <a:chExt cx="8710071" cy="398145"/>
          </a:xfrm>
        </p:grpSpPr>
        <p:sp>
          <p:nvSpPr>
            <p:cNvPr id="56" name="Rectangle 56"/>
            <p:cNvSpPr/>
            <p:nvPr/>
          </p:nvSpPr>
          <p:spPr>
            <a:xfrm>
              <a:off x="609600" y="5905500"/>
              <a:ext cx="76200" cy="381000"/>
            </a:xfrm>
            <a:prstGeom prst="roundRect">
              <a:avLst>
                <a:gd name="adj" fmla="val 50000"/>
              </a:avLst>
            </a:prstGeom>
            <a:solidFill>
              <a:schemeClr val="accent2"/>
            </a:solidFill>
            <a:ln>
              <a:noFill/>
            </a:ln>
          </p:spPr>
        </p:sp>
        <p:sp>
          <p:nvSpPr>
            <p:cNvPr id="57" name="TextBox 57"/>
            <p:cNvSpPr txBox="1"/>
            <p:nvPr/>
          </p:nvSpPr>
          <p:spPr>
            <a:xfrm>
              <a:off x="944880" y="6010275"/>
              <a:ext cx="8374791" cy="293370"/>
            </a:xfrm>
            <a:prstGeom prst="rect">
              <a:avLst/>
            </a:prstGeom>
            <a:noFill/>
            <a:ln>
              <a:noFill/>
            </a:ln>
          </p:spPr>
          <p:txBody>
            <a:bodyPr wrap="none" lIns="0" tIns="0" rIns="0" bIns="0" anchor="t" anchorCtr="0">
              <a:spAutoFit/>
            </a:bodyPr>
            <a:lstStyle/>
            <a:p>
              <a:pPr algn="l"/>
              <a:r>
                <a:rPr lang="vi" sz="1500" dirty="0">
                  <a:solidFill>
                    <a:schemeClr val="dk1"/>
                  </a:solidFill>
                  <a:latin typeface="+mn-lt"/>
                  <a:ea typeface="+mn-ea"/>
                  <a:cs typeface="+mn-cs"/>
                </a:rPr>
                <a:t>Khi giới tính dự báo nhãn 100%, không có mẫu sai để upweight, không có nhóm để cân bằng.</a:t>
              </a:r>
            </a:p>
          </p:txBody>
        </p:sp>
      </p:grpSp>
      <p:sp>
        <p:nvSpPr>
          <p:cNvPr id="59" name="TextBox 59"/>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23</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5925278" cy="1028319"/>
            <a:chOff x="592836" y="651510"/>
            <a:chExt cx="5925278" cy="1028319"/>
          </a:xfrm>
        </p:grpSpPr>
        <p:sp>
          <p:nvSpPr>
            <p:cNvPr id="4" name="TextBox 4"/>
            <p:cNvSpPr txBox="1"/>
            <p:nvPr/>
          </p:nvSpPr>
          <p:spPr>
            <a:xfrm>
              <a:off x="603504" y="651510"/>
              <a:ext cx="1430411"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5. Quy mô lớn</a:t>
              </a:r>
            </a:p>
          </p:txBody>
        </p:sp>
        <p:sp>
          <p:nvSpPr>
            <p:cNvPr id="5" name="TextBox 5"/>
            <p:cNvSpPr txBox="1"/>
            <p:nvPr/>
          </p:nvSpPr>
          <p:spPr>
            <a:xfrm>
              <a:off x="592836" y="1034415"/>
              <a:ext cx="5925278" cy="645414"/>
            </a:xfrm>
            <a:prstGeom prst="rect">
              <a:avLst/>
            </a:prstGeom>
            <a:noFill/>
            <a:ln>
              <a:noFill/>
            </a:ln>
          </p:spPr>
          <p:txBody>
            <a:bodyPr wrap="none" lIns="0" tIns="0" rIns="0" bIns="0" anchor="t" anchorCtr="0">
              <a:spAutoFit/>
            </a:bodyPr>
            <a:lstStyle/>
            <a:p>
              <a:pPr algn="l"/>
              <a:r>
                <a:rPr lang="vi" sz="3300" b="1" dirty="0">
                  <a:solidFill>
                    <a:schemeClr val="dk1"/>
                  </a:solidFill>
                  <a:latin typeface="+mn-lt"/>
                  <a:ea typeface="+mn-ea"/>
                  <a:cs typeface="+mn-cs"/>
                </a:rPr>
                <a:t>Cluster trước, tìm circuit sau</a:t>
              </a:r>
            </a:p>
          </p:txBody>
        </p:sp>
      </p:grpSp>
      <p:grpSp>
        <p:nvGrpSpPr>
          <p:cNvPr id="12" name="p24-buoc-1"/>
          <p:cNvGrpSpPr/>
          <p:nvPr/>
        </p:nvGrpSpPr>
        <p:grpSpPr>
          <a:xfrm>
            <a:off x="609600" y="1905000"/>
            <a:ext cx="9627097" cy="1470851"/>
            <a:chOff x="609600" y="1905000"/>
            <a:chExt cx="9627097" cy="1470851"/>
          </a:xfrm>
        </p:grpSpPr>
        <p:sp>
          <p:nvSpPr>
            <p:cNvPr id="7" name="Rectangle 7"/>
            <p:cNvSpPr/>
            <p:nvPr/>
          </p:nvSpPr>
          <p:spPr>
            <a:xfrm>
              <a:off x="647700" y="1943100"/>
              <a:ext cx="495300" cy="495300"/>
            </a:xfrm>
            <a:prstGeom prst="roundRect">
              <a:avLst>
                <a:gd name="adj" fmla="val 19231"/>
              </a:avLst>
            </a:prstGeom>
            <a:noFill/>
            <a:ln w="14288">
              <a:solidFill>
                <a:srgbClr val="1B2430"/>
              </a:solidFill>
            </a:ln>
          </p:spPr>
        </p:sp>
        <p:sp>
          <p:nvSpPr>
            <p:cNvPr id="8" name="Rectangle 8"/>
            <p:cNvSpPr/>
            <p:nvPr/>
          </p:nvSpPr>
          <p:spPr>
            <a:xfrm>
              <a:off x="609600" y="1905000"/>
              <a:ext cx="495300" cy="495300"/>
            </a:xfrm>
            <a:prstGeom prst="roundRect">
              <a:avLst>
                <a:gd name="adj" fmla="val 19231"/>
              </a:avLst>
            </a:prstGeom>
            <a:solidFill>
              <a:schemeClr val="accent1"/>
            </a:solidFill>
            <a:ln w="14288">
              <a:solidFill>
                <a:srgbClr val="1B2430"/>
              </a:solidFill>
            </a:ln>
          </p:spPr>
        </p:sp>
        <p:sp>
          <p:nvSpPr>
            <p:cNvPr id="9" name="TextBox 9"/>
            <p:cNvSpPr txBox="1"/>
            <p:nvPr/>
          </p:nvSpPr>
          <p:spPr>
            <a:xfrm>
              <a:off x="721103" y="2041208"/>
              <a:ext cx="272294" cy="322707"/>
            </a:xfrm>
            <a:prstGeom prst="rect">
              <a:avLst/>
            </a:prstGeom>
            <a:noFill/>
            <a:ln>
              <a:noFill/>
            </a:ln>
          </p:spPr>
          <p:txBody>
            <a:bodyPr wrap="none" lIns="0" tIns="0" rIns="0" bIns="0" anchor="t" anchorCtr="0">
              <a:spAutoFit/>
            </a:bodyPr>
            <a:lstStyle/>
            <a:p>
              <a:pPr algn="ctr"/>
              <a:r>
                <a:rPr lang="vi" sz="1650" b="1" dirty="0">
                  <a:solidFill>
                    <a:srgbClr val="FFFFFF"/>
                  </a:solidFill>
                  <a:latin typeface="+mn-lt"/>
                  <a:ea typeface="+mn-ea"/>
                  <a:cs typeface="+mn-cs"/>
                </a:rPr>
                <a:t>01</a:t>
              </a:r>
            </a:p>
          </p:txBody>
        </p:sp>
        <p:sp>
          <p:nvSpPr>
            <p:cNvPr id="10" name="TextBox 10"/>
            <p:cNvSpPr txBox="1"/>
            <p:nvPr/>
          </p:nvSpPr>
          <p:spPr>
            <a:xfrm>
              <a:off x="1363218" y="1974532"/>
              <a:ext cx="3523720"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Phát hiện hành vi bằng clustering</a:t>
              </a:r>
            </a:p>
          </p:txBody>
        </p:sp>
        <p:sp>
          <p:nvSpPr>
            <p:cNvPr id="11" name="TextBox 11"/>
            <p:cNvSpPr txBox="1"/>
            <p:nvPr/>
          </p:nvSpPr>
          <p:spPr>
            <a:xfrm>
              <a:off x="1364742" y="2368868"/>
              <a:ext cx="8871955" cy="100698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Corpus là một tập con lớn của The Pile. Chỉ giữ cặp context và answer token mà Pythia-70M dự đoán đúng và tự tin,</a:t>
              </a:r>
              <a:br/>
              <a:r>
                <a:rPr lang="vi" sz="1350" dirty="0">
                  <a:solidFill>
                    <a:schemeClr val="accent5"/>
                  </a:solidFill>
                  <a:latin typeface="+mn-lt"/>
                  <a:ea typeface="+mn-ea"/>
                  <a:cs typeface="+mn-cs"/>
                </a:rPr>
                <a:t>cross-entropy dưới 0.1 hoặc 0.3 nat tuỳ thí nghiệm.</a:t>
              </a:r>
              <a:br/>
              <a:r>
                <a:rPr lang="vi" sz="1350" dirty="0">
                  <a:solidFill>
                    <a:schemeClr val="accent5"/>
                  </a:solidFill>
                  <a:latin typeface="+mn-lt"/>
                  <a:ea typeface="+mn-ea"/>
                  <a:cs typeface="+mn-cs"/>
                </a:rPr>
                <a:t>Bỏ mẫu induction: mẫu mà bigram token cuối context và answer token đã xuất hiện trước đó trong chính context.</a:t>
              </a:r>
              <a:br/>
              <a:r>
                <a:rPr lang="vi" sz="1350" dirty="0">
                  <a:solidFill>
                    <a:schemeClr val="accent5"/>
                  </a:solidFill>
                  <a:latin typeface="+mn-lt"/>
                  <a:ea typeface="+mn-ea"/>
                  <a:cs typeface="+mn-cs"/>
                </a:rPr>
                <a:t>Vector gán cho mỗi mẫu có thể là dense activation, sparse activation, dense IE, sparse IE, hoặc gradient theo tham số.</a:t>
              </a:r>
            </a:p>
          </p:txBody>
        </p:sp>
      </p:grpSp>
      <p:grpSp>
        <p:nvGrpSpPr>
          <p:cNvPr id="18" name="p24-buoc-2"/>
          <p:cNvGrpSpPr/>
          <p:nvPr/>
        </p:nvGrpSpPr>
        <p:grpSpPr>
          <a:xfrm>
            <a:off x="609600" y="3657600"/>
            <a:ext cx="10279258" cy="975551"/>
            <a:chOff x="609600" y="3657600"/>
            <a:chExt cx="10279258" cy="975551"/>
          </a:xfrm>
        </p:grpSpPr>
        <p:sp>
          <p:nvSpPr>
            <p:cNvPr id="13" name="Rectangle 13"/>
            <p:cNvSpPr/>
            <p:nvPr/>
          </p:nvSpPr>
          <p:spPr>
            <a:xfrm>
              <a:off x="647700" y="3695700"/>
              <a:ext cx="495300" cy="495300"/>
            </a:xfrm>
            <a:prstGeom prst="roundRect">
              <a:avLst>
                <a:gd name="adj" fmla="val 19231"/>
              </a:avLst>
            </a:prstGeom>
            <a:noFill/>
            <a:ln w="14288">
              <a:solidFill>
                <a:srgbClr val="1B2430"/>
              </a:solidFill>
            </a:ln>
          </p:spPr>
        </p:sp>
        <p:sp>
          <p:nvSpPr>
            <p:cNvPr id="14" name="Rectangle 14"/>
            <p:cNvSpPr/>
            <p:nvPr/>
          </p:nvSpPr>
          <p:spPr>
            <a:xfrm>
              <a:off x="609600" y="3657600"/>
              <a:ext cx="495300" cy="495300"/>
            </a:xfrm>
            <a:prstGeom prst="roundRect">
              <a:avLst>
                <a:gd name="adj" fmla="val 19231"/>
              </a:avLst>
            </a:prstGeom>
            <a:solidFill>
              <a:schemeClr val="accent3"/>
            </a:solidFill>
            <a:ln w="14288">
              <a:solidFill>
                <a:srgbClr val="1B2430"/>
              </a:solidFill>
            </a:ln>
          </p:spPr>
        </p:sp>
        <p:sp>
          <p:nvSpPr>
            <p:cNvPr id="15" name="TextBox 15"/>
            <p:cNvSpPr txBox="1"/>
            <p:nvPr/>
          </p:nvSpPr>
          <p:spPr>
            <a:xfrm>
              <a:off x="721103" y="3793808"/>
              <a:ext cx="272294" cy="322707"/>
            </a:xfrm>
            <a:prstGeom prst="rect">
              <a:avLst/>
            </a:prstGeom>
            <a:noFill/>
            <a:ln>
              <a:noFill/>
            </a:ln>
          </p:spPr>
          <p:txBody>
            <a:bodyPr wrap="none" lIns="0" tIns="0" rIns="0" bIns="0" anchor="t" anchorCtr="0">
              <a:spAutoFit/>
            </a:bodyPr>
            <a:lstStyle/>
            <a:p>
              <a:pPr algn="ctr"/>
              <a:r>
                <a:rPr lang="vi" sz="1650" b="1" dirty="0">
                  <a:solidFill>
                    <a:srgbClr val="FFFFFF"/>
                  </a:solidFill>
                  <a:latin typeface="+mn-lt"/>
                  <a:ea typeface="+mn-ea"/>
                  <a:cs typeface="+mn-cs"/>
                </a:rPr>
                <a:t>02</a:t>
              </a:r>
            </a:p>
          </p:txBody>
        </p:sp>
        <p:sp>
          <p:nvSpPr>
            <p:cNvPr id="16" name="TextBox 16"/>
            <p:cNvSpPr txBox="1"/>
            <p:nvPr/>
          </p:nvSpPr>
          <p:spPr>
            <a:xfrm>
              <a:off x="1363218" y="3727132"/>
              <a:ext cx="3163448" cy="322707"/>
            </a:xfrm>
            <a:prstGeom prst="rect">
              <a:avLst/>
            </a:prstGeom>
            <a:noFill/>
            <a:ln>
              <a:noFill/>
            </a:ln>
          </p:spPr>
          <p:txBody>
            <a:bodyPr wrap="none" lIns="0" tIns="0" rIns="0" bIns="0" anchor="t" anchorCtr="0">
              <a:spAutoFit/>
            </a:bodyPr>
            <a:lstStyle/>
            <a:p>
              <a:pPr algn="l"/>
              <a:r>
                <a:rPr lang="vi" sz="1650" b="1" dirty="0">
                  <a:solidFill>
                    <a:schemeClr val="accent3"/>
                  </a:solidFill>
                  <a:latin typeface="+mn-lt"/>
                  <a:ea typeface="+mn-ea"/>
                  <a:cs typeface="+mn-cs"/>
                </a:rPr>
                <a:t>Tìm circuit cho mỗi subcorpus</a:t>
              </a:r>
            </a:p>
          </p:txBody>
        </p:sp>
        <p:sp>
          <p:nvSpPr>
            <p:cNvPr id="17" name="TextBox 17"/>
            <p:cNvSpPr txBox="1"/>
            <p:nvPr/>
          </p:nvSpPr>
          <p:spPr>
            <a:xfrm>
              <a:off x="1364742" y="4121468"/>
              <a:ext cx="9524116" cy="511683"/>
            </a:xfrm>
            <a:prstGeom prst="rect">
              <a:avLst/>
            </a:prstGeom>
            <a:noFill/>
            <a:ln>
              <a:noFill/>
            </a:ln>
          </p:spPr>
          <p:txBody>
            <a:bodyPr wrap="none" lIns="0" tIns="0" rIns="0" bIns="0" anchor="t" anchorCtr="0">
              <a:spAutoFit/>
            </a:bodyPr>
            <a:lstStyle/>
            <a:p>
              <a:pPr algn="l">
                <a:lnSpc>
                  <a:spcPts val="1950"/>
                </a:lnSpc>
              </a:pPr>
              <a:r>
                <a:rPr lang="vi" sz="1350" dirty="0">
                  <a:solidFill>
                    <a:schemeClr val="accent5"/>
                  </a:solidFill>
                  <a:latin typeface="+mn-lt"/>
                  <a:ea typeface="+mn-ea"/>
                  <a:cs typeface="+mn-cs"/>
                </a:rPr>
                <a:t>Với mỗi subcorpus, chạy biến thể zero-ablation của phương pháp ở phần 2, với metric là âm log xác suất của answer token.</a:t>
              </a:r>
              <a:br/>
              <a:r>
                <a:rPr lang="vi" sz="1350" dirty="0">
                  <a:solidFill>
                    <a:schemeClr val="accent5"/>
                  </a:solidFill>
                  <a:latin typeface="+mn-lt"/>
                  <a:ea typeface="+mn-ea"/>
                  <a:cs typeface="+mn-cs"/>
                </a:rPr>
                <a:t>Spectral clustering trên 8 192 mẫu; khi lên 100 000 mẫu thì chuyển sang k-means trên sparse random projection 30 000 chiều.</a:t>
              </a:r>
            </a:p>
          </p:txBody>
        </p:sp>
      </p:grpSp>
      <mc:AlternateContent xmlns:mc="http://schemas.openxmlformats.org/markup-compatibility/2006">
        <mc:Choice xmlns:a14="http://schemas.microsoft.com/office/drawing/2010/main" Requires="a14">
          <p:sp>
            <p:nvSpPr>
              <p:cNvPr id="19" name="p24-cong-thuc-angular"/>
              <p:cNvSpPr txBox="1">
                <a:spLocks noGrp="1"/>
              </p:cNvSpPr>
              <p:nvPr/>
            </p:nvSpPr>
            <p:spPr>
              <a:xfrm>
                <a:off x="609600" y="4876800"/>
                <a:ext cx="10972800" cy="9144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acc>
                            <m:accPr>
                              <m:chr m:val="ˆ"/>
                              <m:ctrlPr>
                                <a:rPr lang="vi" sz="2400" dirty="0">
                                  <a:solidFill>
                                    <a:srgbClr val="1B2430"/>
                                  </a:solidFill>
                                  <a:latin typeface="Cambria Math"/>
                                  <a:ea typeface="Cambria Math"/>
                                  <a:cs typeface="Cambria Math"/>
                                </a:rPr>
                              </m:ctrlPr>
                            </m:accPr>
                            <m:e>
                              <m:r>
                                <a:rPr lang="vi" sz="2400" dirty="0">
                                  <a:solidFill>
                                    <a:srgbClr val="1B2430"/>
                                  </a:solidFill>
                                  <a:latin typeface="Cambria Math"/>
                                  <a:ea typeface="Cambria Math"/>
                                  <a:cs typeface="Cambria Math"/>
                                </a:rPr>
                                <m:t>C</m:t>
                              </m:r>
                            </m:e>
                          </m:acc>
                        </m:e>
                        <m:sub>
                          <m:r>
                            <a:rPr lang="vi" sz="2400" dirty="0">
                              <a:solidFill>
                                <a:srgbClr val="1B2430"/>
                              </a:solidFill>
                              <a:latin typeface="Cambria Math"/>
                              <a:ea typeface="Cambria Math"/>
                              <a:cs typeface="Cambria Math"/>
                            </a:rPr>
                            <m:t>ij</m:t>
                          </m:r>
                        </m:sub>
                      </m:sSub>
                      <m:r>
                        <m:rPr>
                          <m:sty m:val="p"/>
                        </m:rPr>
                        <a:rPr lang="vi" sz="2400" dirty="0">
                          <a:solidFill>
                            <a:srgbClr val="1B2430"/>
                          </a:solidFill>
                          <a:latin typeface="Cambria Math"/>
                          <a:ea typeface="Cambria Math"/>
                          <a:cs typeface="Cambria Math"/>
                        </a:rPr>
                        <m:t>=</m:t>
                      </m:r>
                      <m:r>
                        <a:rPr lang="vi" sz="2400" dirty="0">
                          <a:solidFill>
                            <a:srgbClr val="1B2430"/>
                          </a:solidFill>
                          <a:latin typeface="Cambria Math"/>
                          <a:ea typeface="Cambria Math"/>
                          <a:cs typeface="Cambria Math"/>
                        </a:rPr>
                        <m:t>1</m:t>
                      </m:r>
                      <m:r>
                        <m:rPr>
                          <m:sty m:val="p"/>
                        </m:rPr>
                        <a:rPr lang="vi" sz="2400" dirty="0">
                          <a:solidFill>
                            <a:srgbClr val="1B2430"/>
                          </a:solidFill>
                          <a:latin typeface="Cambria Math"/>
                          <a:ea typeface="Cambria Math"/>
                          <a:cs typeface="Cambria Math"/>
                        </a:rPr>
                        <m:t>−</m:t>
                      </m:r>
                      <m:f>
                        <m:fPr>
                          <m:type m:val="bar"/>
                          <m:ctrlPr>
                            <a:rPr lang="vi" sz="2400" dirty="0">
                              <a:solidFill>
                                <a:srgbClr val="1B2430"/>
                              </a:solidFill>
                              <a:latin typeface="Cambria Math"/>
                              <a:ea typeface="Cambria Math"/>
                              <a:cs typeface="Cambria Math"/>
                            </a:rPr>
                          </m:ctrlPr>
                        </m:fPr>
                        <m:num>
                          <m:func>
                            <m:funcPr/>
                            <m:fName>
                              <m:r>
                                <m:rPr>
                                  <m:sty m:val="p"/>
                                </m:rPr>
                                <a:rPr lang="vi" sz="2400" dirty="0">
                                  <a:solidFill>
                                    <a:srgbClr val="1B2430"/>
                                  </a:solidFill>
                                  <a:latin typeface="Cambria Math"/>
                                  <a:ea typeface="Cambria Math"/>
                                  <a:cs typeface="Cambria Math"/>
                                </a:rPr>
                                <m:t>arccos</m:t>
                              </m:r>
                            </m:fName>
                            <m:e>
                              <m:d>
                                <m:dPr>
                                  <m:begChr m:val="("/>
                                  <m:sepChr m:val=""/>
                                  <m:endChr m:val=")"/>
                                  <m:grow m:val="on"/>
                                  <m:ctrlPr>
                                    <a:rPr lang="vi" sz="2400" dirty="0">
                                      <a:solidFill>
                                        <a:srgbClr val="1B2430"/>
                                      </a:solidFill>
                                      <a:latin typeface="Cambria Math"/>
                                      <a:ea typeface="Cambria Math"/>
                                      <a:cs typeface="Cambria Math"/>
                                    </a:rPr>
                                  </m:ctrlPr>
                                </m:dPr>
                                <m:e>
                                  <m:sSub>
                                    <m:e>
                                      <m:r>
                                        <a:rPr lang="vi" sz="2400" dirty="0">
                                          <a:solidFill>
                                            <a:srgbClr val="1B2430"/>
                                          </a:solidFill>
                                          <a:latin typeface="Cambria Math"/>
                                          <a:ea typeface="Cambria Math"/>
                                          <a:cs typeface="Cambria Math"/>
                                        </a:rPr>
                                        <m:t>C</m:t>
                                      </m:r>
                                    </m:e>
                                    <m:sub>
                                      <m:r>
                                        <a:rPr lang="vi" sz="2400" dirty="0">
                                          <a:solidFill>
                                            <a:srgbClr val="1B2430"/>
                                          </a:solidFill>
                                          <a:latin typeface="Cambria Math"/>
                                          <a:ea typeface="Cambria Math"/>
                                          <a:cs typeface="Cambria Math"/>
                                        </a:rPr>
                                        <m:t>ij</m:t>
                                      </m:r>
                                    </m:sub>
                                  </m:sSub>
                                </m:e>
                              </m:d>
                            </m:e>
                          </m:func>
                        </m:num>
                        <m:den>
                          <m:r>
                            <a:rPr lang="vi" sz="2400" dirty="0">
                              <a:solidFill>
                                <a:srgbClr val="1B2430"/>
                              </a:solidFill>
                              <a:latin typeface="Cambria Math"/>
                              <a:ea typeface="Cambria Math"/>
                              <a:cs typeface="Cambria Math"/>
                            </a:rPr>
                            <m:t>π</m:t>
                          </m:r>
                        </m:den>
                      </m:f>
                    </m:oMath>
                  </m:oMathPara>
                </a14:m>
              </a:p>
            </p:txBody>
          </p:sp>
        </mc:Choice>
      </mc:AlternateContent>
      <p:grpSp>
        <p:nvGrpSpPr>
          <p:cNvPr id="21" name="p24-ghi-chu"/>
          <p:cNvGrpSpPr/>
          <p:nvPr/>
        </p:nvGrpSpPr>
        <p:grpSpPr>
          <a:xfrm>
            <a:off x="1277903" y="5988368"/>
            <a:ext cx="9636195" cy="264033"/>
            <a:chOff x="1277903" y="5988368"/>
            <a:chExt cx="9636195" cy="264033"/>
          </a:xfrm>
        </p:grpSpPr>
        <p:sp>
          <p:nvSpPr>
            <p:cNvPr id="20" name="TextBox 20"/>
            <p:cNvSpPr txBox="1"/>
            <p:nvPr/>
          </p:nvSpPr>
          <p:spPr>
            <a:xfrm>
              <a:off x="1277903" y="5988368"/>
              <a:ext cx="9636195" cy="264033"/>
            </a:xfrm>
            <a:prstGeom prst="rect">
              <a:avLst/>
            </a:prstGeom>
            <a:noFill/>
            <a:ln>
              <a:noFill/>
            </a:ln>
          </p:spPr>
          <p:txBody>
            <a:bodyPr wrap="none" lIns="0" tIns="0" rIns="0" bIns="0" anchor="t" anchorCtr="0">
              <a:spAutoFit/>
            </a:bodyPr>
            <a:lstStyle/>
            <a:p>
              <a:pPr algn="ctr"/>
              <a:r>
                <a:rPr lang="vi" sz="1350" dirty="0">
                  <a:solidFill>
                    <a:schemeClr val="accent5"/>
                  </a:solidFill>
                  <a:latin typeface="+mn-lt"/>
                  <a:ea typeface="+mn-ea"/>
                  <a:cs typeface="+mn-cs"/>
                </a:rPr>
                <a:t>Cosine similarity đổi sang angular similarity để mọi phần tử nằm trong khoảng 0 tới 1. Ý tưởng gốc: Michaud et al. 2023.</a:t>
              </a:r>
            </a:p>
          </p:txBody>
        </p:sp>
      </p:grpSp>
      <p:sp>
        <p:nvSpPr>
          <p:cNvPr id="22" name="TextBox 22"/>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24</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7624058" cy="1523619"/>
            <a:chOff x="592836" y="651510"/>
            <a:chExt cx="7624058" cy="1523619"/>
          </a:xfrm>
        </p:grpSpPr>
        <p:sp>
          <p:nvSpPr>
            <p:cNvPr id="4" name="TextBox 4"/>
            <p:cNvSpPr txBox="1"/>
            <p:nvPr/>
          </p:nvSpPr>
          <p:spPr>
            <a:xfrm>
              <a:off x="603504" y="651510"/>
              <a:ext cx="1430411"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5. Quy mô lớn</a:t>
              </a:r>
            </a:p>
          </p:txBody>
        </p:sp>
        <p:sp>
          <p:nvSpPr>
            <p:cNvPr id="5" name="TextBox 5"/>
            <p:cNvSpPr txBox="1"/>
            <p:nvPr/>
          </p:nvSpPr>
          <p:spPr>
            <a:xfrm>
              <a:off x="592836" y="1034415"/>
              <a:ext cx="7624058"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Cluster trông như một cơ chế,</a:t>
              </a:r>
              <a:br/>
              <a:r>
                <a:rPr lang="vi" sz="3300" b="1" dirty="0">
                  <a:solidFill>
                    <a:schemeClr val="dk1"/>
                  </a:solidFill>
                  <a:latin typeface="+mn-lt"/>
                  <a:ea typeface="+mn-ea"/>
                  <a:cs typeface="+mn-cs"/>
                </a:rPr>
                <a:t>circuit cho thấy nó là hợp nhiều cơ chế</a:t>
              </a:r>
            </a:p>
          </p:txBody>
        </p:sp>
      </p:grpSp>
      <p:grpSp>
        <p:nvGrpSpPr>
          <p:cNvPr id="13" name="p25-cluster-382"/>
          <p:cNvGrpSpPr/>
          <p:nvPr/>
        </p:nvGrpSpPr>
        <p:grpSpPr>
          <a:xfrm>
            <a:off x="601218" y="2336482"/>
            <a:ext cx="5304282" cy="2982469"/>
            <a:chOff x="601218" y="2336482"/>
            <a:chExt cx="5304282" cy="2982469"/>
          </a:xfrm>
        </p:grpSpPr>
        <p:sp>
          <p:nvSpPr>
            <p:cNvPr id="7" name="TextBox 7"/>
            <p:cNvSpPr txBox="1"/>
            <p:nvPr/>
          </p:nvSpPr>
          <p:spPr>
            <a:xfrm>
              <a:off x="601218" y="2336482"/>
              <a:ext cx="2688976"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Cluster 382, dãy tăng dần</a:t>
              </a:r>
            </a:p>
          </p:txBody>
        </p:sp>
        <p:sp>
          <p:nvSpPr>
            <p:cNvPr id="8" name="Rectangle 8"/>
            <p:cNvSpPr/>
            <p:nvPr/>
          </p:nvSpPr>
          <p:spPr>
            <a:xfrm>
              <a:off x="609600" y="2667000"/>
              <a:ext cx="5295900" cy="876300"/>
            </a:xfrm>
            <a:prstGeom prst="roundRect">
              <a:avLst>
                <a:gd name="adj" fmla="val 13043"/>
              </a:avLst>
            </a:prstGeom>
            <a:solidFill>
              <a:srgbClr val="F7FAFB"/>
            </a:solidFill>
            <a:ln>
              <a:noFill/>
            </a:ln>
          </p:spPr>
        </p:sp>
        <p:sp>
          <p:nvSpPr>
            <p:cNvPr id="9" name="TextBox 9"/>
            <p:cNvSpPr txBox="1"/>
            <p:nvPr/>
          </p:nvSpPr>
          <p:spPr>
            <a:xfrm>
              <a:off x="831342" y="2826068"/>
              <a:ext cx="3125534" cy="530733"/>
            </a:xfrm>
            <a:prstGeom prst="rect">
              <a:avLst/>
            </a:prstGeom>
            <a:noFill/>
            <a:ln>
              <a:noFill/>
            </a:ln>
          </p:spPr>
          <p:txBody>
            <a:bodyPr wrap="none" lIns="0" tIns="0" rIns="0" bIns="0" anchor="t" anchorCtr="0">
              <a:spAutoFit/>
            </a:bodyPr>
            <a:lstStyle/>
            <a:p>
              <a:pPr algn="l">
                <a:lnSpc>
                  <a:spcPts val="2100"/>
                </a:lnSpc>
              </a:pPr>
              <a:r>
                <a:rPr lang="vi" sz="1350" dirty="0">
                  <a:solidFill>
                    <a:schemeClr val="dk1"/>
                  </a:solidFill>
                  <a:latin typeface="Consolas"/>
                  <a:ea typeface="Consolas"/>
                  <a:cs typeface="Consolas"/>
                </a:rPr>
                <a:t xml:space="preserve">var input = [1, 2, 3, </a:t>
              </a:r>
              <a:r>
                <a:rPr lang="vi" sz="1350" b="1" dirty="0">
                  <a:solidFill>
                    <a:schemeClr val="accent1"/>
                  </a:solidFill>
                  <a:latin typeface="Consolas"/>
                  <a:ea typeface="Consolas"/>
                  <a:cs typeface="Consolas"/>
                </a:rPr>
                <a:t>4</a:t>
              </a:r>
              <a:r>
                <a:rPr lang="vi" sz="1350" dirty="0">
                  <a:solidFill>
                    <a:schemeClr val="dk1"/>
                  </a:solidFill>
                  <a:latin typeface="Consolas"/>
                  <a:ea typeface="Consolas"/>
                  <a:cs typeface="Consolas"/>
                </a:rPr>
                <a:t>...</a:t>
              </a:r>
              <a:br/>
              <a:r>
                <a:rPr lang="vi" sz="1350" dirty="0">
                  <a:solidFill>
                    <a:schemeClr val="dk1"/>
                  </a:solidFill>
                  <a:latin typeface="Consolas"/>
                  <a:ea typeface="Consolas"/>
                  <a:cs typeface="Consolas"/>
                </a:rPr>
                <a:t xml:space="preserve">Step 1 / Step 2 / Step 3 / Step </a:t>
              </a:r>
              <a:r>
                <a:rPr lang="vi" sz="1350" b="1" dirty="0">
                  <a:solidFill>
                    <a:schemeClr val="accent1"/>
                  </a:solidFill>
                  <a:latin typeface="Consolas"/>
                  <a:ea typeface="Consolas"/>
                  <a:cs typeface="Consolas"/>
                </a:rPr>
                <a:t>4</a:t>
              </a:r>
            </a:p>
          </p:txBody>
        </p:sp>
        <p:sp>
          <p:nvSpPr>
            <p:cNvPr id="10" name="TextBox 10"/>
            <p:cNvSpPr txBox="1"/>
            <p:nvPr/>
          </p:nvSpPr>
          <p:spPr>
            <a:xfrm>
              <a:off x="602742" y="3797618"/>
              <a:ext cx="3566897" cy="511683"/>
            </a:xfrm>
            <a:prstGeom prst="rect">
              <a:avLst/>
            </a:prstGeom>
            <a:noFill/>
            <a:ln>
              <a:noFill/>
            </a:ln>
          </p:spPr>
          <p:txBody>
            <a:bodyPr wrap="none" lIns="0" tIns="0" rIns="0" bIns="0" anchor="t" anchorCtr="0">
              <a:spAutoFit/>
            </a:bodyPr>
            <a:lstStyle/>
            <a:p>
              <a:pPr algn="l">
                <a:lnSpc>
                  <a:spcPts val="1950"/>
                </a:lnSpc>
              </a:pPr>
              <a:r>
                <a:rPr lang="vi" sz="1350" b="1" dirty="0">
                  <a:solidFill>
                    <a:schemeClr val="accent1"/>
                  </a:solidFill>
                  <a:latin typeface="+mn-lt"/>
                  <a:ea typeface="+mn-ea"/>
                  <a:cs typeface="+mn-cs"/>
                </a:rPr>
                <a:t>Succession feature.</a:t>
              </a:r>
              <a:r>
                <a:rPr lang="vi" sz="1350" dirty="0">
                  <a:solidFill>
                    <a:schemeClr val="dk1"/>
                  </a:solidFill>
                  <a:latin typeface="+mn-lt"/>
                  <a:ea typeface="+mn-ea"/>
                  <a:cs typeface="+mn-cs"/>
                </a:rPr>
                <a:t xml:space="preserve"> Chapter 1 sang Chapter 2;</a:t>
              </a:r>
              <a:br/>
              <a:r>
                <a:rPr lang="vi" sz="1350" dirty="0">
                  <a:solidFill>
                    <a:schemeClr val="dk1"/>
                  </a:solidFill>
                  <a:latin typeface="+mn-lt"/>
                  <a:ea typeface="+mn-ea"/>
                  <a:cs typeface="+mn-cs"/>
                </a:rPr>
                <a:t>A, B, C; I, II, III, IV.</a:t>
              </a:r>
            </a:p>
          </p:txBody>
        </p:sp>
        <p:sp>
          <p:nvSpPr>
            <p:cNvPr id="11" name="TextBox 11"/>
            <p:cNvSpPr txBox="1"/>
            <p:nvPr/>
          </p:nvSpPr>
          <p:spPr>
            <a:xfrm>
              <a:off x="602742" y="4426268"/>
              <a:ext cx="3761184" cy="511683"/>
            </a:xfrm>
            <a:prstGeom prst="rect">
              <a:avLst/>
            </a:prstGeom>
            <a:noFill/>
            <a:ln>
              <a:noFill/>
            </a:ln>
          </p:spPr>
          <p:txBody>
            <a:bodyPr wrap="none" lIns="0" tIns="0" rIns="0" bIns="0" anchor="t" anchorCtr="0">
              <a:spAutoFit/>
            </a:bodyPr>
            <a:lstStyle/>
            <a:p>
              <a:pPr algn="l">
                <a:lnSpc>
                  <a:spcPts val="1950"/>
                </a:lnSpc>
              </a:pPr>
              <a:r>
                <a:rPr lang="vi" sz="1350" b="1" dirty="0">
                  <a:solidFill>
                    <a:schemeClr val="accent1"/>
                  </a:solidFill>
                  <a:latin typeface="+mn-lt"/>
                  <a:ea typeface="+mn-ea"/>
                  <a:cs typeface="+mn-cs"/>
                </a:rPr>
                <a:t>Narrow induction feature.</a:t>
              </a:r>
              <a:r>
                <a:rPr lang="vi" sz="1350" dirty="0">
                  <a:solidFill>
                    <a:schemeClr val="dk1"/>
                  </a:solidFill>
                  <a:latin typeface="+mn-lt"/>
                  <a:ea typeface="+mn-ea"/>
                  <a:cs typeface="+mn-cs"/>
                </a:rPr>
                <a:t xml:space="preserve"> Nhận mẫu A3 ... A rồi</a:t>
              </a:r>
              <a:br/>
              <a:r>
                <a:rPr lang="vi" sz="1350" dirty="0">
                  <a:solidFill>
                    <a:schemeClr val="dk1"/>
                  </a:solidFill>
                  <a:latin typeface="+mn-lt"/>
                  <a:ea typeface="+mn-ea"/>
                  <a:cs typeface="+mn-cs"/>
                </a:rPr>
                <a:t>copy thông tin từ token 3.</a:t>
              </a:r>
            </a:p>
          </p:txBody>
        </p:sp>
        <p:sp>
          <p:nvSpPr>
            <p:cNvPr id="12" name="TextBox 12"/>
            <p:cNvSpPr txBox="1"/>
            <p:nvPr/>
          </p:nvSpPr>
          <p:spPr>
            <a:xfrm>
              <a:off x="602742" y="5054918"/>
              <a:ext cx="3799653"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Hai cái kết hợp cho ra dự đoán A3 ... A thành 4.</a:t>
              </a:r>
            </a:p>
          </p:txBody>
        </p:sp>
      </p:grpSp>
      <p:grpSp>
        <p:nvGrpSpPr>
          <p:cNvPr id="20" name="p25-cluster-475"/>
          <p:cNvGrpSpPr/>
          <p:nvPr/>
        </p:nvGrpSpPr>
        <p:grpSpPr>
          <a:xfrm>
            <a:off x="6278118" y="2336482"/>
            <a:ext cx="5304282" cy="2982469"/>
            <a:chOff x="6278118" y="2336482"/>
            <a:chExt cx="5304282" cy="2982469"/>
          </a:xfrm>
        </p:grpSpPr>
        <p:sp>
          <p:nvSpPr>
            <p:cNvPr id="14" name="TextBox 14"/>
            <p:cNvSpPr txBox="1"/>
            <p:nvPr/>
          </p:nvSpPr>
          <p:spPr>
            <a:xfrm>
              <a:off x="6278118" y="2336482"/>
              <a:ext cx="4439178" cy="322707"/>
            </a:xfrm>
            <a:prstGeom prst="rect">
              <a:avLst/>
            </a:prstGeom>
            <a:noFill/>
            <a:ln>
              <a:noFill/>
            </a:ln>
          </p:spPr>
          <p:txBody>
            <a:bodyPr wrap="none" lIns="0" tIns="0" rIns="0" bIns="0" anchor="t" anchorCtr="0">
              <a:spAutoFit/>
            </a:bodyPr>
            <a:lstStyle/>
            <a:p>
              <a:pPr algn="l"/>
              <a:r>
                <a:rPr lang="vi" sz="1650" b="1" dirty="0">
                  <a:solidFill>
                    <a:srgbClr val="8B5A5F"/>
                  </a:solidFill>
                  <a:latin typeface="+mn-lt"/>
                  <a:ea typeface="+mn-ea"/>
                  <a:cs typeface="+mn-cs"/>
                </a:rPr>
                <a:t>Cluster 475, “to” làm tân ngữ nguyên mẫu</a:t>
              </a:r>
            </a:p>
          </p:txBody>
        </p:sp>
        <p:sp>
          <p:nvSpPr>
            <p:cNvPr id="15" name="Rectangle 15"/>
            <p:cNvSpPr/>
            <p:nvPr/>
          </p:nvSpPr>
          <p:spPr>
            <a:xfrm>
              <a:off x="6286500" y="2667000"/>
              <a:ext cx="5295900" cy="876300"/>
            </a:xfrm>
            <a:prstGeom prst="roundRect">
              <a:avLst>
                <a:gd name="adj" fmla="val 13043"/>
              </a:avLst>
            </a:prstGeom>
            <a:solidFill>
              <a:srgbClr val="F7FAFB"/>
            </a:solidFill>
            <a:ln>
              <a:noFill/>
            </a:ln>
          </p:spPr>
        </p:sp>
        <p:sp>
          <p:nvSpPr>
            <p:cNvPr id="16" name="TextBox 16"/>
            <p:cNvSpPr txBox="1"/>
            <p:nvPr/>
          </p:nvSpPr>
          <p:spPr>
            <a:xfrm>
              <a:off x="6508242" y="2826068"/>
              <a:ext cx="4060107" cy="530733"/>
            </a:xfrm>
            <a:prstGeom prst="rect">
              <a:avLst/>
            </a:prstGeom>
            <a:noFill/>
            <a:ln>
              <a:noFill/>
            </a:ln>
          </p:spPr>
          <p:txBody>
            <a:bodyPr wrap="none" lIns="0" tIns="0" rIns="0" bIns="0" anchor="t" anchorCtr="0">
              <a:spAutoFit/>
            </a:bodyPr>
            <a:lstStyle/>
            <a:p>
              <a:pPr algn="l">
                <a:lnSpc>
                  <a:spcPts val="2100"/>
                </a:lnSpc>
              </a:pPr>
              <a:r>
                <a:rPr lang="vi" sz="1350" dirty="0">
                  <a:solidFill>
                    <a:schemeClr val="dk1"/>
                  </a:solidFill>
                  <a:latin typeface="+mn-lt"/>
                  <a:ea typeface="+mn-ea"/>
                  <a:cs typeface="+mn-cs"/>
                </a:rPr>
                <a:t xml:space="preserve">At issue, whether the defendant should be allowed </a:t>
              </a:r>
              <a:r>
                <a:rPr lang="vi" sz="1350" b="1" dirty="0">
                  <a:solidFill>
                    <a:srgbClr val="8B5A5F"/>
                  </a:solidFill>
                  <a:latin typeface="+mn-lt"/>
                  <a:ea typeface="+mn-ea"/>
                  <a:cs typeface="+mn-cs"/>
                </a:rPr>
                <a:t>to</a:t>
              </a:r>
              <a:br/>
              <a:r>
                <a:rPr lang="vi" sz="1350" dirty="0">
                  <a:solidFill>
                    <a:schemeClr val="dk1"/>
                  </a:solidFill>
                  <a:latin typeface="+mn-lt"/>
                  <a:ea typeface="+mn-ea"/>
                  <a:cs typeface="+mn-cs"/>
                </a:rPr>
                <a:t xml:space="preserve">Direct the user </a:t>
              </a:r>
              <a:r>
                <a:rPr lang="vi" sz="1350" b="1" dirty="0">
                  <a:solidFill>
                    <a:srgbClr val="8B5A5F"/>
                  </a:solidFill>
                  <a:latin typeface="+mn-lt"/>
                  <a:ea typeface="+mn-ea"/>
                  <a:cs typeface="+mn-cs"/>
                </a:rPr>
                <a:t>to</a:t>
              </a:r>
              <a:r>
                <a:rPr lang="vi" sz="1350" dirty="0">
                  <a:solidFill>
                    <a:schemeClr val="dk1"/>
                  </a:solidFill>
                  <a:latin typeface="+mn-lt"/>
                  <a:ea typeface="+mn-ea"/>
                  <a:cs typeface="+mn-cs"/>
                </a:rPr>
                <a:t xml:space="preserve">. It is up </a:t>
              </a:r>
              <a:r>
                <a:rPr lang="vi" sz="1350" b="1" dirty="0">
                  <a:solidFill>
                    <a:srgbClr val="8B5A5F"/>
                  </a:solidFill>
                  <a:latin typeface="+mn-lt"/>
                  <a:ea typeface="+mn-ea"/>
                  <a:cs typeface="+mn-cs"/>
                </a:rPr>
                <a:t>to</a:t>
              </a:r>
              <a:r>
                <a:rPr lang="vi" sz="1350" dirty="0">
                  <a:solidFill>
                    <a:schemeClr val="dk1"/>
                  </a:solidFill>
                  <a:latin typeface="+mn-lt"/>
                  <a:ea typeface="+mn-ea"/>
                  <a:cs typeface="+mn-cs"/>
                </a:rPr>
                <a:t xml:space="preserve"> you </a:t>
              </a:r>
              <a:r>
                <a:rPr lang="vi" sz="1350" b="1" dirty="0">
                  <a:solidFill>
                    <a:srgbClr val="8B5A5F"/>
                  </a:solidFill>
                  <a:latin typeface="+mn-lt"/>
                  <a:ea typeface="+mn-ea"/>
                  <a:cs typeface="+mn-cs"/>
                </a:rPr>
                <a:t>to</a:t>
              </a:r>
              <a:r>
                <a:rPr lang="vi" sz="1350" dirty="0">
                  <a:solidFill>
                    <a:schemeClr val="dk1"/>
                  </a:solidFill>
                  <a:latin typeface="+mn-lt"/>
                  <a:ea typeface="+mn-ea"/>
                  <a:cs typeface="+mn-cs"/>
                </a:rPr>
                <a:t xml:space="preserve">. leads </a:t>
              </a:r>
              <a:r>
                <a:rPr lang="vi" sz="1350" b="1" dirty="0">
                  <a:solidFill>
                    <a:srgbClr val="8B5A5F"/>
                  </a:solidFill>
                  <a:latin typeface="+mn-lt"/>
                  <a:ea typeface="+mn-ea"/>
                  <a:cs typeface="+mn-cs"/>
                </a:rPr>
                <a:t>to</a:t>
              </a:r>
            </a:p>
          </p:txBody>
        </p:sp>
        <p:sp>
          <p:nvSpPr>
            <p:cNvPr id="17" name="TextBox 17"/>
            <p:cNvSpPr txBox="1"/>
            <p:nvPr/>
          </p:nvSpPr>
          <p:spPr>
            <a:xfrm>
              <a:off x="6279642" y="3797618"/>
              <a:ext cx="3995265" cy="511683"/>
            </a:xfrm>
            <a:prstGeom prst="rect">
              <a:avLst/>
            </a:prstGeom>
            <a:noFill/>
            <a:ln>
              <a:noFill/>
            </a:ln>
          </p:spPr>
          <p:txBody>
            <a:bodyPr wrap="none" lIns="0" tIns="0" rIns="0" bIns="0" anchor="t" anchorCtr="0">
              <a:spAutoFit/>
            </a:bodyPr>
            <a:lstStyle/>
            <a:p>
              <a:pPr algn="l">
                <a:lnSpc>
                  <a:spcPts val="1950"/>
                </a:lnSpc>
              </a:pPr>
              <a:r>
                <a:rPr lang="vi" sz="1350" b="1" dirty="0">
                  <a:solidFill>
                    <a:srgbClr val="8B5A5F"/>
                  </a:solidFill>
                  <a:latin typeface="+mn-lt"/>
                  <a:ea typeface="+mn-ea"/>
                  <a:cs typeface="+mn-cs"/>
                </a:rPr>
                <a:t>Đường 1.</a:t>
              </a:r>
              <a:r>
                <a:rPr lang="vi" sz="1350" dirty="0">
                  <a:solidFill>
                    <a:schemeClr val="dk1"/>
                  </a:solidFill>
                  <a:latin typeface="+mn-lt"/>
                  <a:ea typeface="+mn-ea"/>
                  <a:cs typeface="+mn-cs"/>
                </a:rPr>
                <a:t xml:space="preserve"> Feature thúc đẩy “to” sau các từ nhận tân</a:t>
              </a:r>
              <a:br/>
              <a:r>
                <a:rPr lang="vi" sz="1350" dirty="0">
                  <a:solidFill>
                    <a:schemeClr val="dk1"/>
                  </a:solidFill>
                  <a:latin typeface="+mn-lt"/>
                  <a:ea typeface="+mn-ea"/>
                  <a:cs typeface="+mn-cs"/>
                </a:rPr>
                <a:t>ngữ nguyên mẫu: allowed to, would like to, asked to.</a:t>
              </a:r>
            </a:p>
          </p:txBody>
        </p:sp>
        <p:sp>
          <p:nvSpPr>
            <p:cNvPr id="18" name="TextBox 18"/>
            <p:cNvSpPr txBox="1"/>
            <p:nvPr/>
          </p:nvSpPr>
          <p:spPr>
            <a:xfrm>
              <a:off x="6279642" y="4426268"/>
              <a:ext cx="4044145" cy="511683"/>
            </a:xfrm>
            <a:prstGeom prst="rect">
              <a:avLst/>
            </a:prstGeom>
            <a:noFill/>
            <a:ln>
              <a:noFill/>
            </a:ln>
          </p:spPr>
          <p:txBody>
            <a:bodyPr wrap="none" lIns="0" tIns="0" rIns="0" bIns="0" anchor="t" anchorCtr="0">
              <a:spAutoFit/>
            </a:bodyPr>
            <a:lstStyle/>
            <a:p>
              <a:pPr algn="l">
                <a:lnSpc>
                  <a:spcPts val="1950"/>
                </a:lnSpc>
              </a:pPr>
              <a:r>
                <a:rPr lang="vi" sz="1350" b="1" dirty="0">
                  <a:solidFill>
                    <a:srgbClr val="8B5A5F"/>
                  </a:solidFill>
                  <a:latin typeface="+mn-lt"/>
                  <a:ea typeface="+mn-ea"/>
                  <a:cs typeface="+mn-cs"/>
                </a:rPr>
                <a:t>Đường 2.</a:t>
              </a:r>
              <a:r>
                <a:rPr lang="vi" sz="1350" dirty="0">
                  <a:solidFill>
                    <a:schemeClr val="dk1"/>
                  </a:solidFill>
                  <a:latin typeface="+mn-lt"/>
                  <a:ea typeface="+mn-ea"/>
                  <a:cs typeface="+mn-cs"/>
                </a:rPr>
                <a:t xml:space="preserve"> Feature kích hoạt trên tân ngữ của động từ</a:t>
              </a:r>
              <a:br/>
              <a:r>
                <a:rPr lang="vi" sz="1350" dirty="0">
                  <a:solidFill>
                    <a:schemeClr val="dk1"/>
                  </a:solidFill>
                  <a:latin typeface="+mn-lt"/>
                  <a:ea typeface="+mn-ea"/>
                  <a:cs typeface="+mn-cs"/>
                </a:rPr>
                <a:t>hoặc giới từ, thúc đẩy “to” như object complement.</a:t>
              </a:r>
            </a:p>
          </p:txBody>
        </p:sp>
        <p:sp>
          <p:nvSpPr>
            <p:cNvPr id="19" name="TextBox 19"/>
            <p:cNvSpPr txBox="1"/>
            <p:nvPr/>
          </p:nvSpPr>
          <p:spPr>
            <a:xfrm>
              <a:off x="6279642" y="5054918"/>
              <a:ext cx="4036632"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Hai đường riêng biệt, không giao nhau hoàn toàn.</a:t>
              </a:r>
            </a:p>
          </p:txBody>
        </p:sp>
      </p:grpSp>
      <p:grpSp>
        <p:nvGrpSpPr>
          <p:cNvPr id="23" name="p25-ket-luan"/>
          <p:cNvGrpSpPr/>
          <p:nvPr/>
        </p:nvGrpSpPr>
        <p:grpSpPr>
          <a:xfrm>
            <a:off x="609600" y="5848350"/>
            <a:ext cx="7373863" cy="411289"/>
            <a:chOff x="609600" y="5848350"/>
            <a:chExt cx="7373863" cy="411289"/>
          </a:xfrm>
        </p:grpSpPr>
        <p:sp>
          <p:nvSpPr>
            <p:cNvPr id="21" name="Rectangle 21"/>
            <p:cNvSpPr/>
            <p:nvPr/>
          </p:nvSpPr>
          <p:spPr>
            <a:xfrm>
              <a:off x="609600" y="5848350"/>
              <a:ext cx="76200" cy="381000"/>
            </a:xfrm>
            <a:prstGeom prst="roundRect">
              <a:avLst>
                <a:gd name="adj" fmla="val 50000"/>
              </a:avLst>
            </a:prstGeom>
            <a:solidFill>
              <a:schemeClr val="accent2"/>
            </a:solidFill>
            <a:ln>
              <a:noFill/>
            </a:ln>
          </p:spPr>
        </p:sp>
        <p:sp>
          <p:nvSpPr>
            <p:cNvPr id="22" name="TextBox 22"/>
            <p:cNvSpPr txBox="1"/>
            <p:nvPr/>
          </p:nvSpPr>
          <p:spPr>
            <a:xfrm>
              <a:off x="944118" y="5936932"/>
              <a:ext cx="7039345" cy="322707"/>
            </a:xfrm>
            <a:prstGeom prst="rect">
              <a:avLst/>
            </a:prstGeom>
            <a:noFill/>
            <a:ln>
              <a:noFill/>
            </a:ln>
          </p:spPr>
          <p:txBody>
            <a:bodyPr wrap="none" lIns="0" tIns="0" rIns="0" bIns="0" anchor="t" anchorCtr="0">
              <a:spAutoFit/>
            </a:bodyPr>
            <a:lstStyle/>
            <a:p>
              <a:pPr algn="l"/>
              <a:r>
                <a:rPr lang="vi" sz="1650" dirty="0">
                  <a:solidFill>
                    <a:schemeClr val="dk1"/>
                  </a:solidFill>
                  <a:latin typeface="+mn-lt"/>
                  <a:ea typeface="+mn-ea"/>
                  <a:cs typeface="+mn-cs"/>
                </a:rPr>
                <a:t>Từ “đây là một cluster hành vi” tiến tới “đây là cơ chế tạo ra hành vi đó”.</a:t>
              </a:r>
            </a:p>
          </p:txBody>
        </p:sp>
      </p:grpSp>
      <p:sp>
        <p:nvSpPr>
          <p:cNvPr id="24" name="TextBox 24"/>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25</a:t>
            </a:r>
          </a:p>
        </p:txBody>
      </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7046552" cy="1028319"/>
            <a:chOff x="592836" y="651510"/>
            <a:chExt cx="7046552" cy="1028319"/>
          </a:xfrm>
        </p:grpSpPr>
        <p:sp>
          <p:nvSpPr>
            <p:cNvPr id="4" name="TextBox 4"/>
            <p:cNvSpPr txBox="1"/>
            <p:nvPr/>
          </p:nvSpPr>
          <p:spPr>
            <a:xfrm>
              <a:off x="603504" y="651510"/>
              <a:ext cx="1430411"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5. Quy mô lớn</a:t>
              </a:r>
            </a:p>
          </p:txBody>
        </p:sp>
        <p:sp>
          <p:nvSpPr>
            <p:cNvPr id="5" name="TextBox 5"/>
            <p:cNvSpPr txBox="1"/>
            <p:nvPr/>
          </p:nvSpPr>
          <p:spPr>
            <a:xfrm>
              <a:off x="592836" y="1034415"/>
              <a:ext cx="7046552" cy="645414"/>
            </a:xfrm>
            <a:prstGeom prst="rect">
              <a:avLst/>
            </a:prstGeom>
            <a:noFill/>
            <a:ln>
              <a:noFill/>
            </a:ln>
          </p:spPr>
          <p:txBody>
            <a:bodyPr wrap="none" lIns="0" tIns="0" rIns="0" bIns="0" anchor="t" anchorCtr="0">
              <a:spAutoFit/>
            </a:bodyPr>
            <a:lstStyle/>
            <a:p>
              <a:pPr algn="l"/>
              <a:r>
                <a:rPr lang="vi" sz="3300" b="1" dirty="0">
                  <a:solidFill>
                    <a:schemeClr val="dk1"/>
                  </a:solidFill>
                  <a:latin typeface="+mn-lt"/>
                  <a:ea typeface="+mn-ea"/>
                  <a:cs typeface="+mn-cs"/>
                </a:rPr>
                <a:t>Tự tìm lại induction và succession</a:t>
              </a:r>
            </a:p>
          </p:txBody>
        </p:sp>
      </p:grpSp>
      <p:grpSp>
        <p:nvGrpSpPr>
          <p:cNvPr id="12" name="p26-induction"/>
          <p:cNvGrpSpPr/>
          <p:nvPr/>
        </p:nvGrpSpPr>
        <p:grpSpPr>
          <a:xfrm>
            <a:off x="609600" y="2381250"/>
            <a:ext cx="7109784" cy="969645"/>
            <a:chOff x="609600" y="2381250"/>
            <a:chExt cx="7109784" cy="969645"/>
          </a:xfrm>
        </p:grpSpPr>
        <p:sp>
          <p:nvSpPr>
            <p:cNvPr id="7" name="Rectangle 7"/>
            <p:cNvSpPr/>
            <p:nvPr/>
          </p:nvSpPr>
          <p:spPr>
            <a:xfrm>
              <a:off x="647700" y="2419350"/>
              <a:ext cx="495300" cy="495300"/>
            </a:xfrm>
            <a:prstGeom prst="roundRect">
              <a:avLst>
                <a:gd name="adj" fmla="val 19231"/>
              </a:avLst>
            </a:prstGeom>
            <a:noFill/>
            <a:ln w="14288">
              <a:solidFill>
                <a:srgbClr val="1B2430"/>
              </a:solidFill>
            </a:ln>
          </p:spPr>
        </p:sp>
        <p:sp>
          <p:nvSpPr>
            <p:cNvPr id="8" name="Rectangle 8"/>
            <p:cNvSpPr/>
            <p:nvPr/>
          </p:nvSpPr>
          <p:spPr>
            <a:xfrm>
              <a:off x="609600" y="2381250"/>
              <a:ext cx="495300" cy="495300"/>
            </a:xfrm>
            <a:prstGeom prst="roundRect">
              <a:avLst>
                <a:gd name="adj" fmla="val 19231"/>
              </a:avLst>
            </a:prstGeom>
            <a:solidFill>
              <a:schemeClr val="accent1"/>
            </a:solidFill>
            <a:ln w="14288">
              <a:solidFill>
                <a:srgbClr val="1B2430"/>
              </a:solidFill>
            </a:ln>
          </p:spPr>
        </p:sp>
        <p:sp>
          <p:nvSpPr>
            <p:cNvPr id="9" name="TextBox 9"/>
            <p:cNvSpPr txBox="1"/>
            <p:nvPr/>
          </p:nvSpPr>
          <p:spPr>
            <a:xfrm>
              <a:off x="721103" y="2517458"/>
              <a:ext cx="272294" cy="322707"/>
            </a:xfrm>
            <a:prstGeom prst="rect">
              <a:avLst/>
            </a:prstGeom>
            <a:noFill/>
            <a:ln>
              <a:noFill/>
            </a:ln>
          </p:spPr>
          <p:txBody>
            <a:bodyPr wrap="none" lIns="0" tIns="0" rIns="0" bIns="0" anchor="t" anchorCtr="0">
              <a:spAutoFit/>
            </a:bodyPr>
            <a:lstStyle/>
            <a:p>
              <a:pPr algn="ctr"/>
              <a:r>
                <a:rPr lang="vi" sz="1650" b="1" dirty="0">
                  <a:solidFill>
                    <a:srgbClr val="FFFFFF"/>
                  </a:solidFill>
                  <a:latin typeface="+mn-lt"/>
                  <a:ea typeface="+mn-ea"/>
                  <a:cs typeface="+mn-cs"/>
                </a:rPr>
                <a:t>01</a:t>
              </a:r>
            </a:p>
          </p:txBody>
        </p:sp>
        <p:sp>
          <p:nvSpPr>
            <p:cNvPr id="10" name="TextBox 10"/>
            <p:cNvSpPr txBox="1"/>
            <p:nvPr/>
          </p:nvSpPr>
          <p:spPr>
            <a:xfrm>
              <a:off x="1362456" y="2434590"/>
              <a:ext cx="1744227" cy="352044"/>
            </a:xfrm>
            <a:prstGeom prst="rect">
              <a:avLst/>
            </a:prstGeom>
            <a:noFill/>
            <a:ln>
              <a:noFill/>
            </a:ln>
          </p:spPr>
          <p:txBody>
            <a:bodyPr wrap="none" lIns="0" tIns="0" rIns="0" bIns="0" anchor="t" anchorCtr="0">
              <a:spAutoFit/>
            </a:bodyPr>
            <a:lstStyle/>
            <a:p>
              <a:pPr algn="l"/>
              <a:r>
                <a:rPr lang="vi" sz="1800" b="1" dirty="0">
                  <a:solidFill>
                    <a:schemeClr val="accent1"/>
                  </a:solidFill>
                  <a:latin typeface="+mn-lt"/>
                  <a:ea typeface="+mn-ea"/>
                  <a:cs typeface="+mn-cs"/>
                </a:rPr>
                <a:t>Induction head</a:t>
              </a:r>
            </a:p>
          </p:txBody>
        </p:sp>
        <p:sp>
          <p:nvSpPr>
            <p:cNvPr id="11" name="TextBox 11"/>
            <p:cNvSpPr txBox="1"/>
            <p:nvPr/>
          </p:nvSpPr>
          <p:spPr>
            <a:xfrm>
              <a:off x="1363980" y="2809875"/>
              <a:ext cx="6355404" cy="541020"/>
            </a:xfrm>
            <a:prstGeom prst="rect">
              <a:avLst/>
            </a:prstGeom>
            <a:noFill/>
            <a:ln>
              <a:noFill/>
            </a:ln>
          </p:spPr>
          <p:txBody>
            <a:bodyPr wrap="none" lIns="0" tIns="0" rIns="0" bIns="0" anchor="t" anchorCtr="0">
              <a:spAutoFit/>
            </a:bodyPr>
            <a:lstStyle/>
            <a:p>
              <a:pPr algn="l">
                <a:lnSpc>
                  <a:spcPts val="1950"/>
                </a:lnSpc>
              </a:pPr>
              <a:r>
                <a:rPr lang="vi" sz="1500" dirty="0">
                  <a:solidFill>
                    <a:schemeClr val="accent5"/>
                  </a:solidFill>
                  <a:latin typeface="+mn-lt"/>
                  <a:ea typeface="+mn-ea"/>
                  <a:cs typeface="+mn-cs"/>
                </a:rPr>
                <a:t>Olsson et al. 2022 tìm ra ở mức attention head, bằng dữ liệu do người soạn.</a:t>
              </a:r>
              <a:br/>
              <a:r>
                <a:rPr lang="vi" sz="1500" dirty="0">
                  <a:solidFill>
                    <a:schemeClr val="accent5"/>
                  </a:solidFill>
                  <a:latin typeface="+mn-lt"/>
                  <a:ea typeface="+mn-ea"/>
                  <a:cs typeface="+mn-cs"/>
                </a:rPr>
                <a:t>Pipeline này tìm lại được ở mức feature, một cách tự động.</a:t>
              </a:r>
            </a:p>
          </p:txBody>
        </p:sp>
      </p:grpSp>
      <p:grpSp>
        <p:nvGrpSpPr>
          <p:cNvPr id="18" name="p26-succession"/>
          <p:cNvGrpSpPr/>
          <p:nvPr/>
        </p:nvGrpSpPr>
        <p:grpSpPr>
          <a:xfrm>
            <a:off x="609600" y="3714750"/>
            <a:ext cx="7408774" cy="969645"/>
            <a:chOff x="609600" y="3714750"/>
            <a:chExt cx="7408774" cy="969645"/>
          </a:xfrm>
        </p:grpSpPr>
        <p:sp>
          <p:nvSpPr>
            <p:cNvPr id="13" name="Rectangle 13"/>
            <p:cNvSpPr/>
            <p:nvPr/>
          </p:nvSpPr>
          <p:spPr>
            <a:xfrm>
              <a:off x="647700" y="3752850"/>
              <a:ext cx="495300" cy="495300"/>
            </a:xfrm>
            <a:prstGeom prst="roundRect">
              <a:avLst>
                <a:gd name="adj" fmla="val 19231"/>
              </a:avLst>
            </a:prstGeom>
            <a:noFill/>
            <a:ln w="14288">
              <a:solidFill>
                <a:srgbClr val="1B2430"/>
              </a:solidFill>
            </a:ln>
          </p:spPr>
        </p:sp>
        <p:sp>
          <p:nvSpPr>
            <p:cNvPr id="14" name="Rectangle 14"/>
            <p:cNvSpPr/>
            <p:nvPr/>
          </p:nvSpPr>
          <p:spPr>
            <a:xfrm>
              <a:off x="609600" y="3714750"/>
              <a:ext cx="495300" cy="495300"/>
            </a:xfrm>
            <a:prstGeom prst="roundRect">
              <a:avLst>
                <a:gd name="adj" fmla="val 19231"/>
              </a:avLst>
            </a:prstGeom>
            <a:solidFill>
              <a:schemeClr val="accent3"/>
            </a:solidFill>
            <a:ln w="14288">
              <a:solidFill>
                <a:srgbClr val="1B2430"/>
              </a:solidFill>
            </a:ln>
          </p:spPr>
        </p:sp>
        <p:sp>
          <p:nvSpPr>
            <p:cNvPr id="15" name="TextBox 15"/>
            <p:cNvSpPr txBox="1"/>
            <p:nvPr/>
          </p:nvSpPr>
          <p:spPr>
            <a:xfrm>
              <a:off x="721103" y="3850958"/>
              <a:ext cx="272294" cy="322707"/>
            </a:xfrm>
            <a:prstGeom prst="rect">
              <a:avLst/>
            </a:prstGeom>
            <a:noFill/>
            <a:ln>
              <a:noFill/>
            </a:ln>
          </p:spPr>
          <p:txBody>
            <a:bodyPr wrap="none" lIns="0" tIns="0" rIns="0" bIns="0" anchor="t" anchorCtr="0">
              <a:spAutoFit/>
            </a:bodyPr>
            <a:lstStyle/>
            <a:p>
              <a:pPr algn="ctr"/>
              <a:r>
                <a:rPr lang="vi" sz="1650" b="1" dirty="0">
                  <a:solidFill>
                    <a:srgbClr val="FFFFFF"/>
                  </a:solidFill>
                  <a:latin typeface="+mn-lt"/>
                  <a:ea typeface="+mn-ea"/>
                  <a:cs typeface="+mn-cs"/>
                </a:rPr>
                <a:t>02</a:t>
              </a:r>
            </a:p>
          </p:txBody>
        </p:sp>
        <p:sp>
          <p:nvSpPr>
            <p:cNvPr id="16" name="TextBox 16"/>
            <p:cNvSpPr txBox="1"/>
            <p:nvPr/>
          </p:nvSpPr>
          <p:spPr>
            <a:xfrm>
              <a:off x="1362456" y="3768090"/>
              <a:ext cx="1753938" cy="352044"/>
            </a:xfrm>
            <a:prstGeom prst="rect">
              <a:avLst/>
            </a:prstGeom>
            <a:noFill/>
            <a:ln>
              <a:noFill/>
            </a:ln>
          </p:spPr>
          <p:txBody>
            <a:bodyPr wrap="none" lIns="0" tIns="0" rIns="0" bIns="0" anchor="t" anchorCtr="0">
              <a:spAutoFit/>
            </a:bodyPr>
            <a:lstStyle/>
            <a:p>
              <a:pPr algn="l"/>
              <a:r>
                <a:rPr lang="vi" sz="1800" b="1" dirty="0">
                  <a:solidFill>
                    <a:schemeClr val="accent3"/>
                  </a:solidFill>
                  <a:latin typeface="+mn-lt"/>
                  <a:ea typeface="+mn-ea"/>
                  <a:cs typeface="+mn-cs"/>
                </a:rPr>
                <a:t>Successor head</a:t>
              </a:r>
            </a:p>
          </p:txBody>
        </p:sp>
        <p:sp>
          <p:nvSpPr>
            <p:cNvPr id="17" name="TextBox 17"/>
            <p:cNvSpPr txBox="1"/>
            <p:nvPr/>
          </p:nvSpPr>
          <p:spPr>
            <a:xfrm>
              <a:off x="1363980" y="4143375"/>
              <a:ext cx="6654394" cy="541020"/>
            </a:xfrm>
            <a:prstGeom prst="rect">
              <a:avLst/>
            </a:prstGeom>
            <a:noFill/>
            <a:ln>
              <a:noFill/>
            </a:ln>
          </p:spPr>
          <p:txBody>
            <a:bodyPr wrap="none" lIns="0" tIns="0" rIns="0" bIns="0" anchor="t" anchorCtr="0">
              <a:spAutoFit/>
            </a:bodyPr>
            <a:lstStyle/>
            <a:p>
              <a:pPr algn="l">
                <a:lnSpc>
                  <a:spcPts val="1950"/>
                </a:lnSpc>
              </a:pPr>
              <a:r>
                <a:rPr lang="vi" sz="1500" dirty="0">
                  <a:solidFill>
                    <a:schemeClr val="accent5"/>
                  </a:solidFill>
                  <a:latin typeface="+mn-lt"/>
                  <a:ea typeface="+mn-ea"/>
                  <a:cs typeface="+mn-cs"/>
                </a:rPr>
                <a:t>Gould et al. 2023 tìm ra ở mức attention head. Ở đây nó xuất hiện lại bên trong</a:t>
              </a:r>
              <a:br/>
              <a:r>
                <a:rPr lang="vi" sz="1500" dirty="0">
                  <a:solidFill>
                    <a:schemeClr val="accent5"/>
                  </a:solidFill>
                  <a:latin typeface="+mn-lt"/>
                  <a:ea typeface="+mn-ea"/>
                  <a:cs typeface="+mn-cs"/>
                </a:rPr>
                <a:t>cluster 382, mà không ai soạn dữ liệu cho nó.</a:t>
              </a:r>
            </a:p>
          </p:txBody>
        </p:sp>
      </p:grpSp>
      <p:grpSp>
        <p:nvGrpSpPr>
          <p:cNvPr id="22" name="p26-bai-toan-mo"/>
          <p:cNvGrpSpPr/>
          <p:nvPr/>
        </p:nvGrpSpPr>
        <p:grpSpPr>
          <a:xfrm>
            <a:off x="609600" y="5257800"/>
            <a:ext cx="10972800" cy="1053084"/>
            <a:chOff x="609600" y="5257800"/>
            <a:chExt cx="10972800" cy="1053084"/>
          </a:xfrm>
        </p:grpSpPr>
        <p:sp>
          <p:nvSpPr>
            <p:cNvPr id="19" name="Rectangle 19"/>
            <p:cNvSpPr/>
            <p:nvPr/>
          </p:nvSpPr>
          <p:spPr>
            <a:xfrm>
              <a:off x="609600" y="5257800"/>
              <a:ext cx="10972800" cy="1028700"/>
            </a:xfrm>
            <a:prstGeom prst="roundRect">
              <a:avLst>
                <a:gd name="adj" fmla="val 11111"/>
              </a:avLst>
            </a:prstGeom>
            <a:solidFill>
              <a:schemeClr val="lt2"/>
            </a:solidFill>
            <a:ln>
              <a:noFill/>
            </a:ln>
          </p:spPr>
        </p:sp>
        <p:sp>
          <p:nvSpPr>
            <p:cNvPr id="20" name="TextBox 20"/>
            <p:cNvSpPr txBox="1"/>
            <p:nvPr/>
          </p:nvSpPr>
          <p:spPr>
            <a:xfrm>
              <a:off x="946404" y="5414010"/>
              <a:ext cx="1380768"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Paper tự thừa nhận</a:t>
              </a:r>
            </a:p>
          </p:txBody>
        </p:sp>
        <p:sp>
          <p:nvSpPr>
            <p:cNvPr id="21" name="TextBox 21"/>
            <p:cNvSpPr txBox="1"/>
            <p:nvPr/>
          </p:nvSpPr>
          <p:spPr>
            <a:xfrm>
              <a:off x="943356" y="5654040"/>
              <a:ext cx="6421397" cy="656844"/>
            </a:xfrm>
            <a:prstGeom prst="rect">
              <a:avLst/>
            </a:prstGeom>
            <a:noFill/>
            <a:ln>
              <a:noFill/>
            </a:ln>
          </p:spPr>
          <p:txBody>
            <a:bodyPr wrap="none" lIns="0" tIns="0" rIns="0" bIns="0" anchor="t" anchorCtr="0">
              <a:spAutoFit/>
            </a:bodyPr>
            <a:lstStyle/>
            <a:p>
              <a:pPr algn="l">
                <a:lnSpc>
                  <a:spcPts val="2400"/>
                </a:lnSpc>
              </a:pPr>
              <a:r>
                <a:rPr lang="vi" sz="1800" dirty="0">
                  <a:solidFill>
                    <a:schemeClr val="dk1"/>
                  </a:solidFill>
                  <a:latin typeface="+mn-lt"/>
                  <a:ea typeface="+mn-ea"/>
                  <a:cs typeface="+mn-cs"/>
                </a:rPr>
                <a:t>Đánh giá các cluster và circuit này là một bài toán mở chưa giải.</a:t>
              </a:r>
              <a:br/>
              <a:r>
                <a:rPr lang="vi" sz="1800" dirty="0">
                  <a:solidFill>
                    <a:schemeClr val="dk1"/>
                  </a:solidFill>
                  <a:latin typeface="+mn-lt"/>
                  <a:ea typeface="+mn-ea"/>
                  <a:cs typeface="+mn-cs"/>
                </a:rPr>
                <a:t>Hàng nghìn circuit duyệt được tại feature-circuits.xyz.</a:t>
              </a:r>
            </a:p>
          </p:txBody>
        </p:sp>
      </p:grpSp>
      <p:sp>
        <p:nvSpPr>
          <p:cNvPr id="23" name="TextBox 23"/>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26</a:t>
            </a:r>
          </a:p>
        </p:txBody>
      </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6544121" cy="1523619"/>
            <a:chOff x="592836" y="651510"/>
            <a:chExt cx="6544121" cy="1523619"/>
          </a:xfrm>
        </p:grpSpPr>
        <p:sp>
          <p:nvSpPr>
            <p:cNvPr id="4" name="TextBox 4"/>
            <p:cNvSpPr txBox="1"/>
            <p:nvPr/>
          </p:nvSpPr>
          <p:spPr>
            <a:xfrm>
              <a:off x="603504" y="651510"/>
              <a:ext cx="2003347"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6. Đánh giá và hiện tại</a:t>
              </a:r>
            </a:p>
          </p:txBody>
        </p:sp>
        <p:sp>
          <p:nvSpPr>
            <p:cNvPr id="5" name="TextBox 5"/>
            <p:cNvSpPr txBox="1"/>
            <p:nvPr/>
          </p:nvSpPr>
          <p:spPr>
            <a:xfrm>
              <a:off x="592836" y="1034415"/>
              <a:ext cx="6544121"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Bốn giới hạn, và giới hạn thứ ba</a:t>
              </a:r>
              <a:br/>
              <a:r>
                <a:rPr lang="vi" sz="3300" b="1" dirty="0">
                  <a:solidFill>
                    <a:schemeClr val="dk1"/>
                  </a:solidFill>
                  <a:latin typeface="+mn-lt"/>
                  <a:ea typeface="+mn-ea"/>
                  <a:cs typeface="+mn-cs"/>
                </a:rPr>
                <a:t>dự báo đúng chuyện hai năm sau</a:t>
              </a:r>
            </a:p>
          </p:txBody>
        </p:sp>
      </p:grpSp>
      <p:grpSp>
        <p:nvGrpSpPr>
          <p:cNvPr id="12" name="p27-gioi-han-01"/>
          <p:cNvGrpSpPr/>
          <p:nvPr/>
        </p:nvGrpSpPr>
        <p:grpSpPr>
          <a:xfrm>
            <a:off x="609600" y="2286000"/>
            <a:ext cx="6742991" cy="626745"/>
            <a:chOff x="609600" y="2286000"/>
            <a:chExt cx="6742991" cy="626745"/>
          </a:xfrm>
        </p:grpSpPr>
        <p:sp>
          <p:nvSpPr>
            <p:cNvPr id="7" name="Rectangle 7"/>
            <p:cNvSpPr/>
            <p:nvPr/>
          </p:nvSpPr>
          <p:spPr>
            <a:xfrm>
              <a:off x="647700" y="2324100"/>
              <a:ext cx="457200" cy="457200"/>
            </a:xfrm>
            <a:prstGeom prst="roundRect">
              <a:avLst>
                <a:gd name="adj" fmla="val 20833"/>
              </a:avLst>
            </a:prstGeom>
            <a:noFill/>
            <a:ln w="14288">
              <a:solidFill>
                <a:srgbClr val="1B2430"/>
              </a:solidFill>
            </a:ln>
          </p:spPr>
        </p:sp>
        <p:sp>
          <p:nvSpPr>
            <p:cNvPr id="8" name="Rectangle 8"/>
            <p:cNvSpPr/>
            <p:nvPr/>
          </p:nvSpPr>
          <p:spPr>
            <a:xfrm>
              <a:off x="609600" y="2286000"/>
              <a:ext cx="457200" cy="457200"/>
            </a:xfrm>
            <a:prstGeom prst="roundRect">
              <a:avLst>
                <a:gd name="adj" fmla="val 20833"/>
              </a:avLst>
            </a:prstGeom>
            <a:solidFill>
              <a:schemeClr val="accent1"/>
            </a:solidFill>
            <a:ln w="14288">
              <a:solidFill>
                <a:srgbClr val="1B2430"/>
              </a:solidFill>
            </a:ln>
          </p:spPr>
        </p:sp>
        <p:sp>
          <p:nvSpPr>
            <p:cNvPr id="9" name="TextBox 9"/>
            <p:cNvSpPr txBox="1"/>
            <p:nvPr/>
          </p:nvSpPr>
          <p:spPr>
            <a:xfrm>
              <a:off x="714430" y="2409825"/>
              <a:ext cx="247540" cy="293370"/>
            </a:xfrm>
            <a:prstGeom prst="rect">
              <a:avLst/>
            </a:prstGeom>
            <a:noFill/>
            <a:ln>
              <a:noFill/>
            </a:ln>
          </p:spPr>
          <p:txBody>
            <a:bodyPr wrap="none" lIns="0" tIns="0" rIns="0" bIns="0" anchor="t" anchorCtr="0">
              <a:spAutoFit/>
            </a:bodyPr>
            <a:lstStyle/>
            <a:p>
              <a:pPr algn="ctr"/>
              <a:r>
                <a:rPr lang="vi" sz="1500" b="1" dirty="0">
                  <a:solidFill>
                    <a:srgbClr val="FFFFFF"/>
                  </a:solidFill>
                  <a:latin typeface="+mn-lt"/>
                  <a:ea typeface="+mn-ea"/>
                  <a:cs typeface="+mn-cs"/>
                </a:rPr>
                <a:t>01</a:t>
              </a:r>
            </a:p>
          </p:txBody>
        </p:sp>
        <p:sp>
          <p:nvSpPr>
            <p:cNvPr id="10" name="TextBox 10"/>
            <p:cNvSpPr txBox="1"/>
            <p:nvPr/>
          </p:nvSpPr>
          <p:spPr>
            <a:xfrm>
              <a:off x="1287018" y="2317432"/>
              <a:ext cx="3195769"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Phụ thuộc vào việc có sẵn SAE</a:t>
              </a:r>
            </a:p>
          </p:txBody>
        </p:sp>
        <p:sp>
          <p:nvSpPr>
            <p:cNvPr id="11" name="TextBox 11"/>
            <p:cNvSpPr txBox="1"/>
            <p:nvPr/>
          </p:nvSpPr>
          <p:spPr>
            <a:xfrm>
              <a:off x="1287780" y="2619375"/>
              <a:ext cx="6064811" cy="293370"/>
            </a:xfrm>
            <a:prstGeom prst="rect">
              <a:avLst/>
            </a:prstGeom>
            <a:noFill/>
            <a:ln>
              <a:noFill/>
            </a:ln>
          </p:spPr>
          <p:txBody>
            <a:bodyPr wrap="none" lIns="0" tIns="0" rIns="0" bIns="0" anchor="t" anchorCtr="0">
              <a:spAutoFit/>
            </a:bodyPr>
            <a:lstStyle/>
            <a:p>
              <a:pPr algn="l"/>
              <a:r>
                <a:rPr lang="vi" sz="1500" dirty="0">
                  <a:solidFill>
                    <a:schemeClr val="accent5"/>
                  </a:solidFill>
                  <a:latin typeface="+mn-lt"/>
                  <a:ea typeface="+mn-ea"/>
                  <a:cs typeface="+mn-cs"/>
                </a:rPr>
                <a:t>Train SAE tốn compute lớn, dù chỉ phải làm một lần cho mỗi model.</a:t>
              </a:r>
            </a:p>
          </p:txBody>
        </p:sp>
      </p:grpSp>
      <p:grpSp>
        <p:nvGrpSpPr>
          <p:cNvPr id="18" name="p27-gioi-han-02"/>
          <p:cNvGrpSpPr/>
          <p:nvPr/>
        </p:nvGrpSpPr>
        <p:grpSpPr>
          <a:xfrm>
            <a:off x="609600" y="3086100"/>
            <a:ext cx="9854671" cy="626745"/>
            <a:chOff x="609600" y="3086100"/>
            <a:chExt cx="9854671" cy="626745"/>
          </a:xfrm>
        </p:grpSpPr>
        <p:sp>
          <p:nvSpPr>
            <p:cNvPr id="13" name="Rectangle 13"/>
            <p:cNvSpPr/>
            <p:nvPr/>
          </p:nvSpPr>
          <p:spPr>
            <a:xfrm>
              <a:off x="647700" y="3124200"/>
              <a:ext cx="457200" cy="457200"/>
            </a:xfrm>
            <a:prstGeom prst="roundRect">
              <a:avLst>
                <a:gd name="adj" fmla="val 20833"/>
              </a:avLst>
            </a:prstGeom>
            <a:noFill/>
            <a:ln w="14288">
              <a:solidFill>
                <a:srgbClr val="1B2430"/>
              </a:solidFill>
            </a:ln>
          </p:spPr>
        </p:sp>
        <p:sp>
          <p:nvSpPr>
            <p:cNvPr id="14" name="Rectangle 14"/>
            <p:cNvSpPr/>
            <p:nvPr/>
          </p:nvSpPr>
          <p:spPr>
            <a:xfrm>
              <a:off x="609600" y="3086100"/>
              <a:ext cx="457200" cy="457200"/>
            </a:xfrm>
            <a:prstGeom prst="roundRect">
              <a:avLst>
                <a:gd name="adj" fmla="val 20833"/>
              </a:avLst>
            </a:prstGeom>
            <a:solidFill>
              <a:schemeClr val="accent3"/>
            </a:solidFill>
            <a:ln w="14288">
              <a:solidFill>
                <a:srgbClr val="1B2430"/>
              </a:solidFill>
            </a:ln>
          </p:spPr>
        </p:sp>
        <p:sp>
          <p:nvSpPr>
            <p:cNvPr id="15" name="TextBox 15"/>
            <p:cNvSpPr txBox="1"/>
            <p:nvPr/>
          </p:nvSpPr>
          <p:spPr>
            <a:xfrm>
              <a:off x="714430" y="3209925"/>
              <a:ext cx="247540" cy="293370"/>
            </a:xfrm>
            <a:prstGeom prst="rect">
              <a:avLst/>
            </a:prstGeom>
            <a:noFill/>
            <a:ln>
              <a:noFill/>
            </a:ln>
          </p:spPr>
          <p:txBody>
            <a:bodyPr wrap="none" lIns="0" tIns="0" rIns="0" bIns="0" anchor="t" anchorCtr="0">
              <a:spAutoFit/>
            </a:bodyPr>
            <a:lstStyle/>
            <a:p>
              <a:pPr algn="ctr"/>
              <a:r>
                <a:rPr lang="vi" sz="1500" b="1" dirty="0">
                  <a:solidFill>
                    <a:srgbClr val="FFFFFF"/>
                  </a:solidFill>
                  <a:latin typeface="+mn-lt"/>
                  <a:ea typeface="+mn-ea"/>
                  <a:cs typeface="+mn-cs"/>
                </a:rPr>
                <a:t>02</a:t>
              </a:r>
            </a:p>
          </p:txBody>
        </p:sp>
        <p:sp>
          <p:nvSpPr>
            <p:cNvPr id="16" name="TextBox 16"/>
            <p:cNvSpPr txBox="1"/>
            <p:nvPr/>
          </p:nvSpPr>
          <p:spPr>
            <a:xfrm>
              <a:off x="1287018" y="3117532"/>
              <a:ext cx="3980625" cy="322707"/>
            </a:xfrm>
            <a:prstGeom prst="rect">
              <a:avLst/>
            </a:prstGeom>
            <a:noFill/>
            <a:ln>
              <a:noFill/>
            </a:ln>
          </p:spPr>
          <p:txBody>
            <a:bodyPr wrap="none" lIns="0" tIns="0" rIns="0" bIns="0" anchor="t" anchorCtr="0">
              <a:spAutoFit/>
            </a:bodyPr>
            <a:lstStyle/>
            <a:p>
              <a:pPr algn="l"/>
              <a:r>
                <a:rPr lang="vi" sz="1650" b="1" dirty="0">
                  <a:solidFill>
                    <a:schemeClr val="accent3"/>
                  </a:solidFill>
                  <a:latin typeface="+mn-lt"/>
                  <a:ea typeface="+mn-ea"/>
                  <a:cs typeface="+mn-cs"/>
                </a:rPr>
                <a:t>Phần SAE không nắm được thì vẫn tối</a:t>
              </a:r>
            </a:p>
          </p:txBody>
        </p:sp>
        <p:sp>
          <p:nvSpPr>
            <p:cNvPr id="17" name="TextBox 17"/>
            <p:cNvSpPr txBox="1"/>
            <p:nvPr/>
          </p:nvSpPr>
          <p:spPr>
            <a:xfrm>
              <a:off x="1287780" y="3419475"/>
              <a:ext cx="9176491" cy="293370"/>
            </a:xfrm>
            <a:prstGeom prst="rect">
              <a:avLst/>
            </a:prstGeom>
            <a:noFill/>
            <a:ln>
              <a:noFill/>
            </a:ln>
          </p:spPr>
          <p:txBody>
            <a:bodyPr wrap="none" lIns="0" tIns="0" rIns="0" bIns="0" anchor="t" anchorCtr="0">
              <a:spAutoFit/>
            </a:bodyPr>
            <a:lstStyle/>
            <a:p>
              <a:pPr algn="l"/>
              <a:r>
                <a:rPr lang="vi" sz="1500" dirty="0">
                  <a:solidFill>
                    <a:schemeClr val="accent5"/>
                  </a:solidFill>
                  <a:latin typeface="+mn-lt"/>
                  <a:ea typeface="+mn-ea"/>
                  <a:cs typeface="+mn-cs"/>
                </a:rPr>
                <a:t>Component nào SAE không nắm bắt được thì vẫn không diễn giải được sau khi áp dụng phương pháp.</a:t>
              </a:r>
            </a:p>
          </p:txBody>
        </p:sp>
      </p:grpSp>
      <p:grpSp>
        <p:nvGrpSpPr>
          <p:cNvPr id="24" name="p27-gioi-han-03"/>
          <p:cNvGrpSpPr/>
          <p:nvPr/>
        </p:nvGrpSpPr>
        <p:grpSpPr>
          <a:xfrm>
            <a:off x="609600" y="3886200"/>
            <a:ext cx="9648543" cy="626745"/>
            <a:chOff x="609600" y="3886200"/>
            <a:chExt cx="9648543" cy="626745"/>
          </a:xfrm>
        </p:grpSpPr>
        <p:sp>
          <p:nvSpPr>
            <p:cNvPr id="19" name="Rectangle 19"/>
            <p:cNvSpPr/>
            <p:nvPr/>
          </p:nvSpPr>
          <p:spPr>
            <a:xfrm>
              <a:off x="647700" y="3924300"/>
              <a:ext cx="457200" cy="457200"/>
            </a:xfrm>
            <a:prstGeom prst="roundRect">
              <a:avLst>
                <a:gd name="adj" fmla="val 20833"/>
              </a:avLst>
            </a:prstGeom>
            <a:noFill/>
            <a:ln w="14288">
              <a:solidFill>
                <a:srgbClr val="1B2430"/>
              </a:solidFill>
            </a:ln>
          </p:spPr>
        </p:sp>
        <p:sp>
          <p:nvSpPr>
            <p:cNvPr id="20" name="Rectangle 20"/>
            <p:cNvSpPr/>
            <p:nvPr/>
          </p:nvSpPr>
          <p:spPr>
            <a:xfrm>
              <a:off x="609600" y="3886200"/>
              <a:ext cx="457200" cy="457200"/>
            </a:xfrm>
            <a:prstGeom prst="roundRect">
              <a:avLst>
                <a:gd name="adj" fmla="val 20833"/>
              </a:avLst>
            </a:prstGeom>
            <a:solidFill>
              <a:srgbClr val="8B5A5F"/>
            </a:solidFill>
            <a:ln w="14288">
              <a:solidFill>
                <a:srgbClr val="1B2430"/>
              </a:solidFill>
            </a:ln>
          </p:spPr>
        </p:sp>
        <p:sp>
          <p:nvSpPr>
            <p:cNvPr id="21" name="TextBox 21"/>
            <p:cNvSpPr txBox="1"/>
            <p:nvPr/>
          </p:nvSpPr>
          <p:spPr>
            <a:xfrm>
              <a:off x="714430" y="4010025"/>
              <a:ext cx="247540" cy="293370"/>
            </a:xfrm>
            <a:prstGeom prst="rect">
              <a:avLst/>
            </a:prstGeom>
            <a:noFill/>
            <a:ln>
              <a:noFill/>
            </a:ln>
          </p:spPr>
          <p:txBody>
            <a:bodyPr wrap="none" lIns="0" tIns="0" rIns="0" bIns="0" anchor="t" anchorCtr="0">
              <a:spAutoFit/>
            </a:bodyPr>
            <a:lstStyle/>
            <a:p>
              <a:pPr algn="ctr"/>
              <a:r>
                <a:rPr lang="vi" sz="1500" b="1" dirty="0">
                  <a:solidFill>
                    <a:srgbClr val="FFFFFF"/>
                  </a:solidFill>
                  <a:latin typeface="+mn-lt"/>
                  <a:ea typeface="+mn-ea"/>
                  <a:cs typeface="+mn-cs"/>
                </a:rPr>
                <a:t>03</a:t>
              </a:r>
            </a:p>
          </p:txBody>
        </p:sp>
        <p:sp>
          <p:nvSpPr>
            <p:cNvPr id="22" name="TextBox 22"/>
            <p:cNvSpPr txBox="1"/>
            <p:nvPr/>
          </p:nvSpPr>
          <p:spPr>
            <a:xfrm>
              <a:off x="1287018" y="3917632"/>
              <a:ext cx="3163633" cy="322707"/>
            </a:xfrm>
            <a:prstGeom prst="rect">
              <a:avLst/>
            </a:prstGeom>
            <a:noFill/>
            <a:ln>
              <a:noFill/>
            </a:ln>
          </p:spPr>
          <p:txBody>
            <a:bodyPr wrap="none" lIns="0" tIns="0" rIns="0" bIns="0" anchor="t" anchorCtr="0">
              <a:spAutoFit/>
            </a:bodyPr>
            <a:lstStyle/>
            <a:p>
              <a:pPr algn="l"/>
              <a:r>
                <a:rPr lang="vi" sz="1650" b="1" dirty="0">
                  <a:solidFill>
                    <a:srgbClr val="8B5A5F"/>
                  </a:solidFill>
                  <a:latin typeface="+mn-lt"/>
                  <a:ea typeface="+mn-ea"/>
                  <a:cs typeface="+mn-cs"/>
                </a:rPr>
                <a:t>Phần lớn đánh giá là định tính</a:t>
              </a:r>
            </a:p>
          </p:txBody>
        </p:sp>
        <p:sp>
          <p:nvSpPr>
            <p:cNvPr id="23" name="TextBox 23"/>
            <p:cNvSpPr txBox="1"/>
            <p:nvPr/>
          </p:nvSpPr>
          <p:spPr>
            <a:xfrm>
              <a:off x="1287780" y="4219575"/>
              <a:ext cx="8970363" cy="293370"/>
            </a:xfrm>
            <a:prstGeom prst="rect">
              <a:avLst/>
            </a:prstGeom>
            <a:noFill/>
            <a:ln>
              <a:noFill/>
            </a:ln>
          </p:spPr>
          <p:txBody>
            <a:bodyPr wrap="none" lIns="0" tIns="0" rIns="0" bIns="0" anchor="t" anchorCtr="0">
              <a:spAutoFit/>
            </a:bodyPr>
            <a:lstStyle/>
            <a:p>
              <a:pPr algn="l"/>
              <a:r>
                <a:rPr lang="vi" sz="1500" dirty="0">
                  <a:solidFill>
                    <a:schemeClr val="accent5"/>
                  </a:solidFill>
                  <a:latin typeface="+mn-lt"/>
                  <a:ea typeface="+mn-ea"/>
                  <a:cs typeface="+mn-cs"/>
                </a:rPr>
                <a:t>Chỉ phần SHIFT cho bằng chứng định lượng rằng feature circuit hữu ích cho một tác vụ downstream.</a:t>
              </a:r>
            </a:p>
          </p:txBody>
        </p:sp>
      </p:grpSp>
      <p:grpSp>
        <p:nvGrpSpPr>
          <p:cNvPr id="30" name="p27-gioi-han-04"/>
          <p:cNvGrpSpPr/>
          <p:nvPr/>
        </p:nvGrpSpPr>
        <p:grpSpPr>
          <a:xfrm>
            <a:off x="609600" y="4686300"/>
            <a:ext cx="7846536" cy="626745"/>
            <a:chOff x="609600" y="4686300"/>
            <a:chExt cx="7846536" cy="626745"/>
          </a:xfrm>
        </p:grpSpPr>
        <p:sp>
          <p:nvSpPr>
            <p:cNvPr id="25" name="Rectangle 25"/>
            <p:cNvSpPr/>
            <p:nvPr/>
          </p:nvSpPr>
          <p:spPr>
            <a:xfrm>
              <a:off x="647700" y="4724400"/>
              <a:ext cx="457200" cy="457200"/>
            </a:xfrm>
            <a:prstGeom prst="roundRect">
              <a:avLst>
                <a:gd name="adj" fmla="val 20833"/>
              </a:avLst>
            </a:prstGeom>
            <a:noFill/>
            <a:ln w="14288">
              <a:solidFill>
                <a:srgbClr val="1B2430"/>
              </a:solidFill>
            </a:ln>
          </p:spPr>
        </p:sp>
        <p:sp>
          <p:nvSpPr>
            <p:cNvPr id="26" name="Rectangle 26"/>
            <p:cNvSpPr/>
            <p:nvPr/>
          </p:nvSpPr>
          <p:spPr>
            <a:xfrm>
              <a:off x="609600" y="4686300"/>
              <a:ext cx="457200" cy="457200"/>
            </a:xfrm>
            <a:prstGeom prst="roundRect">
              <a:avLst>
                <a:gd name="adj" fmla="val 20833"/>
              </a:avLst>
            </a:prstGeom>
            <a:solidFill>
              <a:srgbClr val="6E757E"/>
            </a:solidFill>
            <a:ln w="14288">
              <a:solidFill>
                <a:srgbClr val="1B2430"/>
              </a:solidFill>
            </a:ln>
          </p:spPr>
        </p:sp>
        <p:sp>
          <p:nvSpPr>
            <p:cNvPr id="27" name="TextBox 27"/>
            <p:cNvSpPr txBox="1"/>
            <p:nvPr/>
          </p:nvSpPr>
          <p:spPr>
            <a:xfrm>
              <a:off x="714430" y="4810125"/>
              <a:ext cx="247540" cy="293370"/>
            </a:xfrm>
            <a:prstGeom prst="rect">
              <a:avLst/>
            </a:prstGeom>
            <a:noFill/>
            <a:ln>
              <a:noFill/>
            </a:ln>
          </p:spPr>
          <p:txBody>
            <a:bodyPr wrap="none" lIns="0" tIns="0" rIns="0" bIns="0" anchor="t" anchorCtr="0">
              <a:spAutoFit/>
            </a:bodyPr>
            <a:lstStyle/>
            <a:p>
              <a:pPr algn="ctr"/>
              <a:r>
                <a:rPr lang="vi" sz="1500" b="1" dirty="0">
                  <a:solidFill>
                    <a:srgbClr val="FFFFFF"/>
                  </a:solidFill>
                  <a:latin typeface="+mn-lt"/>
                  <a:ea typeface="+mn-ea"/>
                  <a:cs typeface="+mn-cs"/>
                </a:rPr>
                <a:t>04</a:t>
              </a:r>
            </a:p>
          </p:txBody>
        </p:sp>
        <p:sp>
          <p:nvSpPr>
            <p:cNvPr id="28" name="TextBox 28"/>
            <p:cNvSpPr txBox="1"/>
            <p:nvPr/>
          </p:nvSpPr>
          <p:spPr>
            <a:xfrm>
              <a:off x="1287018" y="4717732"/>
              <a:ext cx="4107630" cy="322707"/>
            </a:xfrm>
            <a:prstGeom prst="rect">
              <a:avLst/>
            </a:prstGeom>
            <a:noFill/>
            <a:ln>
              <a:noFill/>
            </a:ln>
          </p:spPr>
          <p:txBody>
            <a:bodyPr wrap="none" lIns="0" tIns="0" rIns="0" bIns="0" anchor="t" anchorCtr="0">
              <a:spAutoFit/>
            </a:bodyPr>
            <a:lstStyle/>
            <a:p>
              <a:pPr algn="l"/>
              <a:r>
                <a:rPr lang="vi" sz="1650" b="1" dirty="0">
                  <a:solidFill>
                    <a:schemeClr val="accent5"/>
                  </a:solidFill>
                  <a:latin typeface="+mn-lt"/>
                  <a:ea typeface="+mn-ea"/>
                  <a:cs typeface="+mn-cs"/>
                </a:rPr>
                <a:t>Gán nhãn feature là quá trình định tính</a:t>
              </a:r>
            </a:p>
          </p:txBody>
        </p:sp>
        <p:sp>
          <p:nvSpPr>
            <p:cNvPr id="29" name="TextBox 29"/>
            <p:cNvSpPr txBox="1"/>
            <p:nvPr/>
          </p:nvSpPr>
          <p:spPr>
            <a:xfrm>
              <a:off x="1287780" y="5019675"/>
              <a:ext cx="7168356" cy="293370"/>
            </a:xfrm>
            <a:prstGeom prst="rect">
              <a:avLst/>
            </a:prstGeom>
            <a:noFill/>
            <a:ln>
              <a:noFill/>
            </a:ln>
          </p:spPr>
          <p:txBody>
            <a:bodyPr wrap="none" lIns="0" tIns="0" rIns="0" bIns="0" anchor="t" anchorCtr="0">
              <a:spAutoFit/>
            </a:bodyPr>
            <a:lstStyle/>
            <a:p>
              <a:pPr algn="l"/>
              <a:r>
                <a:rPr lang="vi" sz="1500" dirty="0">
                  <a:solidFill>
                    <a:schemeClr val="accent5"/>
                  </a:solidFill>
                  <a:latin typeface="+mn-lt"/>
                  <a:ea typeface="+mn-ea"/>
                  <a:cs typeface="+mn-cs"/>
                </a:rPr>
                <a:t>Nhãn có thể khác nhau giữa các annotator và thay đổi theo task đang quan tâm.</a:t>
              </a:r>
            </a:p>
          </p:txBody>
        </p:sp>
      </p:grpSp>
      <p:grpSp>
        <p:nvGrpSpPr>
          <p:cNvPr id="33" name="p27-nguong-tuy-y"/>
          <p:cNvGrpSpPr/>
          <p:nvPr/>
        </p:nvGrpSpPr>
        <p:grpSpPr>
          <a:xfrm>
            <a:off x="609600" y="5715000"/>
            <a:ext cx="9228257" cy="457200"/>
            <a:chOff x="609600" y="5715000"/>
            <a:chExt cx="9228257" cy="457200"/>
          </a:xfrm>
        </p:grpSpPr>
        <p:sp>
          <p:nvSpPr>
            <p:cNvPr id="31" name="Rectangle 31"/>
            <p:cNvSpPr/>
            <p:nvPr/>
          </p:nvSpPr>
          <p:spPr>
            <a:xfrm>
              <a:off x="609600" y="5715000"/>
              <a:ext cx="76200" cy="457200"/>
            </a:xfrm>
            <a:prstGeom prst="roundRect">
              <a:avLst>
                <a:gd name="adj" fmla="val 50000"/>
              </a:avLst>
            </a:prstGeom>
            <a:solidFill>
              <a:schemeClr val="accent2"/>
            </a:solidFill>
            <a:ln>
              <a:noFill/>
            </a:ln>
          </p:spPr>
        </p:sp>
        <p:sp>
          <p:nvSpPr>
            <p:cNvPr id="32" name="TextBox 32"/>
            <p:cNvSpPr txBox="1"/>
            <p:nvPr/>
          </p:nvSpPr>
          <p:spPr>
            <a:xfrm>
              <a:off x="944118" y="5841682"/>
              <a:ext cx="8893739" cy="322707"/>
            </a:xfrm>
            <a:prstGeom prst="rect">
              <a:avLst/>
            </a:prstGeom>
            <a:noFill/>
            <a:ln>
              <a:noFill/>
            </a:ln>
          </p:spPr>
          <p:txBody>
            <a:bodyPr wrap="none" lIns="0" tIns="0" rIns="0" bIns="0" anchor="t" anchorCtr="0">
              <a:spAutoFit/>
            </a:bodyPr>
            <a:lstStyle/>
            <a:p>
              <a:pPr algn="l"/>
              <a:r>
                <a:rPr lang="vi" sz="1650" dirty="0">
                  <a:solidFill>
                    <a:schemeClr val="dk1"/>
                  </a:solidFill>
                  <a:latin typeface="+mn-lt"/>
                  <a:ea typeface="+mn-ea"/>
                  <a:cs typeface="+mn-cs"/>
                </a:rPr>
                <a:t>Thêm một giới hạn ngoài mục 8: T_N và T_E chỉnh bằng tay, không có tiêu chí khách quan.</a:t>
              </a:r>
            </a:p>
          </p:txBody>
        </p:sp>
      </p:grpSp>
      <p:sp>
        <p:nvSpPr>
          <p:cNvPr id="34" name="TextBox 34"/>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27</a:t>
            </a:r>
          </a:p>
        </p:txBody>
      </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7856197" cy="1523619"/>
            <a:chOff x="592836" y="651510"/>
            <a:chExt cx="7856197" cy="1523619"/>
          </a:xfrm>
        </p:grpSpPr>
        <p:sp>
          <p:nvSpPr>
            <p:cNvPr id="4" name="TextBox 4"/>
            <p:cNvSpPr txBox="1"/>
            <p:nvPr/>
          </p:nvSpPr>
          <p:spPr>
            <a:xfrm>
              <a:off x="603504" y="651510"/>
              <a:ext cx="2003347"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6. Đánh giá và hiện tại</a:t>
              </a:r>
            </a:p>
          </p:txBody>
        </p:sp>
        <p:sp>
          <p:nvSpPr>
            <p:cNvPr id="5" name="TextBox 5"/>
            <p:cNvSpPr txBox="1"/>
            <p:nvPr/>
          </p:nvSpPr>
          <p:spPr>
            <a:xfrm>
              <a:off x="592836" y="1034415"/>
              <a:ext cx="7856197"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SAE mất vị trí trung tâm, nhưng vì lý do</a:t>
              </a:r>
              <a:br/>
              <a:r>
                <a:rPr lang="vi" sz="3300" b="1" dirty="0">
                  <a:solidFill>
                    <a:schemeClr val="dk1"/>
                  </a:solidFill>
                  <a:latin typeface="+mn-lt"/>
                  <a:ea typeface="+mn-ea"/>
                  <a:cs typeface="+mn-cs"/>
                </a:rPr>
                <a:t>không chạm tới phần 4 và phần 5</a:t>
              </a:r>
            </a:p>
          </p:txBody>
        </p:sp>
      </p:grpSp>
      <p:grpSp>
        <p:nvGrpSpPr>
          <p:cNvPr id="12" name="p28-dot-1"/>
          <p:cNvGrpSpPr/>
          <p:nvPr/>
        </p:nvGrpSpPr>
        <p:grpSpPr>
          <a:xfrm>
            <a:off x="609600" y="2286000"/>
            <a:ext cx="9064602" cy="905923"/>
            <a:chOff x="609600" y="2286000"/>
            <a:chExt cx="9064602" cy="905923"/>
          </a:xfrm>
        </p:grpSpPr>
        <p:sp>
          <p:nvSpPr>
            <p:cNvPr id="7" name="Rectangle 7"/>
            <p:cNvSpPr/>
            <p:nvPr/>
          </p:nvSpPr>
          <p:spPr>
            <a:xfrm>
              <a:off x="647700" y="2324100"/>
              <a:ext cx="457200" cy="457200"/>
            </a:xfrm>
            <a:prstGeom prst="roundRect">
              <a:avLst>
                <a:gd name="adj" fmla="val 20833"/>
              </a:avLst>
            </a:prstGeom>
            <a:noFill/>
            <a:ln w="14288">
              <a:solidFill>
                <a:srgbClr val="1B2430"/>
              </a:solidFill>
            </a:ln>
          </p:spPr>
        </p:sp>
        <p:sp>
          <p:nvSpPr>
            <p:cNvPr id="8" name="Rectangle 8"/>
            <p:cNvSpPr/>
            <p:nvPr/>
          </p:nvSpPr>
          <p:spPr>
            <a:xfrm>
              <a:off x="609600" y="2286000"/>
              <a:ext cx="457200" cy="457200"/>
            </a:xfrm>
            <a:prstGeom prst="roundRect">
              <a:avLst>
                <a:gd name="adj" fmla="val 20833"/>
              </a:avLst>
            </a:prstGeom>
            <a:solidFill>
              <a:schemeClr val="accent1"/>
            </a:solidFill>
            <a:ln w="14288">
              <a:solidFill>
                <a:srgbClr val="1B2430"/>
              </a:solidFill>
            </a:ln>
          </p:spPr>
        </p:sp>
        <p:sp>
          <p:nvSpPr>
            <p:cNvPr id="9" name="TextBox 9"/>
            <p:cNvSpPr txBox="1"/>
            <p:nvPr/>
          </p:nvSpPr>
          <p:spPr>
            <a:xfrm>
              <a:off x="714430" y="2409825"/>
              <a:ext cx="247540" cy="293370"/>
            </a:xfrm>
            <a:prstGeom prst="rect">
              <a:avLst/>
            </a:prstGeom>
            <a:noFill/>
            <a:ln>
              <a:noFill/>
            </a:ln>
          </p:spPr>
          <p:txBody>
            <a:bodyPr wrap="none" lIns="0" tIns="0" rIns="0" bIns="0" anchor="t" anchorCtr="0">
              <a:spAutoFit/>
            </a:bodyPr>
            <a:lstStyle/>
            <a:p>
              <a:pPr algn="ctr"/>
              <a:r>
                <a:rPr lang="vi" sz="1500" b="1" dirty="0">
                  <a:solidFill>
                    <a:srgbClr val="FFFFFF"/>
                  </a:solidFill>
                  <a:latin typeface="+mn-lt"/>
                  <a:ea typeface="+mn-ea"/>
                  <a:cs typeface="+mn-cs"/>
                </a:rPr>
                <a:t>01</a:t>
              </a:r>
            </a:p>
          </p:txBody>
        </p:sp>
        <p:sp>
          <p:nvSpPr>
            <p:cNvPr id="10" name="TextBox 10"/>
            <p:cNvSpPr txBox="1"/>
            <p:nvPr/>
          </p:nvSpPr>
          <p:spPr>
            <a:xfrm>
              <a:off x="1287018" y="2355532"/>
              <a:ext cx="2955496"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09/2024, feature absorption</a:t>
              </a:r>
            </a:p>
          </p:txBody>
        </p:sp>
        <p:sp>
          <p:nvSpPr>
            <p:cNvPr id="11" name="TextBox 11"/>
            <p:cNvSpPr txBox="1"/>
            <p:nvPr/>
          </p:nvSpPr>
          <p:spPr>
            <a:xfrm>
              <a:off x="1288161" y="2665571"/>
              <a:ext cx="8386041" cy="526352"/>
            </a:xfrm>
            <a:prstGeom prst="rect">
              <a:avLst/>
            </a:prstGeom>
            <a:noFill/>
            <a:ln>
              <a:noFill/>
            </a:ln>
          </p:spPr>
          <p:txBody>
            <a:bodyPr wrap="none" lIns="0" tIns="0" rIns="0" bIns="0" anchor="t" anchorCtr="0">
              <a:spAutoFit/>
            </a:bodyPr>
            <a:lstStyle/>
            <a:p>
              <a:pPr algn="l">
                <a:lnSpc>
                  <a:spcPts val="1950"/>
                </a:lnSpc>
              </a:pPr>
              <a:r>
                <a:rPr lang="vi" sz="1420" dirty="0">
                  <a:solidFill>
                    <a:schemeClr val="accent5"/>
                  </a:solidFill>
                  <a:latin typeface="+mn-lt"/>
                  <a:ea typeface="+mn-ea"/>
                  <a:cs typeface="+mn-cs"/>
                </a:rPr>
                <a:t>Với concept phân cấp A kéo theo B, latent “bắt đầu bằng chữ S” kích hoạt trên 95% token bắt đầu bằng S</a:t>
              </a:r>
              <a:br/>
              <a:r>
                <a:rPr lang="vi" sz="1420" dirty="0">
                  <a:solidFill>
                    <a:schemeClr val="accent5"/>
                  </a:solidFill>
                  <a:latin typeface="+mn-lt"/>
                  <a:ea typeface="+mn-ea"/>
                  <a:cs typeface="+mn-cs"/>
                </a:rPr>
                <a:t>nhưng im lặng trên 5% còn lại. Đổi bề rộng hay mức thưa không giải quyết được.</a:t>
              </a:r>
            </a:p>
          </p:txBody>
        </p:sp>
      </p:grpSp>
      <p:grpSp>
        <p:nvGrpSpPr>
          <p:cNvPr id="18" name="p28-dot-2"/>
          <p:cNvGrpSpPr/>
          <p:nvPr/>
        </p:nvGrpSpPr>
        <p:grpSpPr>
          <a:xfrm>
            <a:off x="609600" y="3390900"/>
            <a:ext cx="9336284" cy="1153573"/>
            <a:chOff x="609600" y="3390900"/>
            <a:chExt cx="9336284" cy="1153573"/>
          </a:xfrm>
        </p:grpSpPr>
        <p:sp>
          <p:nvSpPr>
            <p:cNvPr id="13" name="Rectangle 13"/>
            <p:cNvSpPr/>
            <p:nvPr/>
          </p:nvSpPr>
          <p:spPr>
            <a:xfrm>
              <a:off x="647700" y="3429000"/>
              <a:ext cx="457200" cy="457200"/>
            </a:xfrm>
            <a:prstGeom prst="roundRect">
              <a:avLst>
                <a:gd name="adj" fmla="val 20833"/>
              </a:avLst>
            </a:prstGeom>
            <a:noFill/>
            <a:ln w="14288">
              <a:solidFill>
                <a:srgbClr val="1B2430"/>
              </a:solidFill>
            </a:ln>
          </p:spPr>
        </p:sp>
        <p:sp>
          <p:nvSpPr>
            <p:cNvPr id="14" name="Rectangle 14"/>
            <p:cNvSpPr/>
            <p:nvPr/>
          </p:nvSpPr>
          <p:spPr>
            <a:xfrm>
              <a:off x="609600" y="3390900"/>
              <a:ext cx="457200" cy="457200"/>
            </a:xfrm>
            <a:prstGeom prst="roundRect">
              <a:avLst>
                <a:gd name="adj" fmla="val 20833"/>
              </a:avLst>
            </a:prstGeom>
            <a:solidFill>
              <a:schemeClr val="accent3"/>
            </a:solidFill>
            <a:ln w="14288">
              <a:solidFill>
                <a:srgbClr val="1B2430"/>
              </a:solidFill>
            </a:ln>
          </p:spPr>
        </p:sp>
        <p:sp>
          <p:nvSpPr>
            <p:cNvPr id="15" name="TextBox 15"/>
            <p:cNvSpPr txBox="1"/>
            <p:nvPr/>
          </p:nvSpPr>
          <p:spPr>
            <a:xfrm>
              <a:off x="714430" y="3514725"/>
              <a:ext cx="247540" cy="293370"/>
            </a:xfrm>
            <a:prstGeom prst="rect">
              <a:avLst/>
            </a:prstGeom>
            <a:noFill/>
            <a:ln>
              <a:noFill/>
            </a:ln>
          </p:spPr>
          <p:txBody>
            <a:bodyPr wrap="none" lIns="0" tIns="0" rIns="0" bIns="0" anchor="t" anchorCtr="0">
              <a:spAutoFit/>
            </a:bodyPr>
            <a:lstStyle/>
            <a:p>
              <a:pPr algn="ctr"/>
              <a:r>
                <a:rPr lang="vi" sz="1500" b="1" dirty="0">
                  <a:solidFill>
                    <a:srgbClr val="FFFFFF"/>
                  </a:solidFill>
                  <a:latin typeface="+mn-lt"/>
                  <a:ea typeface="+mn-ea"/>
                  <a:cs typeface="+mn-cs"/>
                </a:rPr>
                <a:t>02</a:t>
              </a:r>
            </a:p>
          </p:txBody>
        </p:sp>
        <p:sp>
          <p:nvSpPr>
            <p:cNvPr id="16" name="TextBox 16"/>
            <p:cNvSpPr txBox="1"/>
            <p:nvPr/>
          </p:nvSpPr>
          <p:spPr>
            <a:xfrm>
              <a:off x="1287018" y="3460432"/>
              <a:ext cx="6043557" cy="322707"/>
            </a:xfrm>
            <a:prstGeom prst="rect">
              <a:avLst/>
            </a:prstGeom>
            <a:noFill/>
            <a:ln>
              <a:noFill/>
            </a:ln>
          </p:spPr>
          <p:txBody>
            <a:bodyPr wrap="none" lIns="0" tIns="0" rIns="0" bIns="0" anchor="t" anchorCtr="0">
              <a:spAutoFit/>
            </a:bodyPr>
            <a:lstStyle/>
            <a:p>
              <a:pPr algn="l"/>
              <a:r>
                <a:rPr lang="vi" sz="1650" b="1" dirty="0">
                  <a:solidFill>
                    <a:schemeClr val="accent3"/>
                  </a:solidFill>
                  <a:latin typeface="+mn-lt"/>
                  <a:ea typeface="+mn-ea"/>
                  <a:cs typeface="+mn-cs"/>
                </a:rPr>
                <a:t>02 và 03/2025, SAE thua baseline trên tác vụ downstream</a:t>
              </a:r>
            </a:p>
          </p:txBody>
        </p:sp>
        <p:sp>
          <p:nvSpPr>
            <p:cNvPr id="17" name="TextBox 17"/>
            <p:cNvSpPr txBox="1"/>
            <p:nvPr/>
          </p:nvSpPr>
          <p:spPr>
            <a:xfrm>
              <a:off x="1288161" y="3770471"/>
              <a:ext cx="8657723" cy="774002"/>
            </a:xfrm>
            <a:prstGeom prst="rect">
              <a:avLst/>
            </a:prstGeom>
            <a:noFill/>
            <a:ln>
              <a:noFill/>
            </a:ln>
          </p:spPr>
          <p:txBody>
            <a:bodyPr wrap="none" lIns="0" tIns="0" rIns="0" bIns="0" anchor="t" anchorCtr="0">
              <a:spAutoFit/>
            </a:bodyPr>
            <a:lstStyle/>
            <a:p>
              <a:pPr algn="l">
                <a:lnSpc>
                  <a:spcPts val="1950"/>
                </a:lnSpc>
              </a:pPr>
              <a:r>
                <a:rPr lang="vi" sz="1420" dirty="0">
                  <a:solidFill>
                    <a:schemeClr val="accent5"/>
                  </a:solidFill>
                  <a:latin typeface="+mn-lt"/>
                  <a:ea typeface="+mn-ea"/>
                  <a:cs typeface="+mn-cs"/>
                </a:rPr>
                <a:t>Kantamneni et al. cho thấy SAE không vượt được logistic regression hay prompting ở sparse probing.</a:t>
              </a:r>
              <a:br/>
              <a:r>
                <a:rPr lang="vi" sz="1420" dirty="0">
                  <a:solidFill>
                    <a:schemeClr val="accent5"/>
                  </a:solidFill>
                  <a:latin typeface="+mn-lt"/>
                  <a:ea typeface="+mn-ea"/>
                  <a:cs typeface="+mn-cs"/>
                </a:rPr>
                <a:t>DeepMind đo linear probe đạt AUROC khoảng 0.999 trên OOD còn SAE probe thua rõ, và giảm ưu tiên</a:t>
              </a:r>
              <a:br/>
              <a:r>
                <a:rPr lang="vi" sz="1420" dirty="0">
                  <a:solidFill>
                    <a:schemeClr val="accent5"/>
                  </a:solidFill>
                  <a:latin typeface="+mn-lt"/>
                  <a:ea typeface="+mn-ea"/>
                  <a:cs typeface="+mn-cs"/>
                </a:rPr>
                <a:t>nghiên cứu SAE. Nhưng chính họ vẫn ghi nhận SAE hữu ích cho debug thăm dò và phát hiện tương quan giả.</a:t>
              </a:r>
            </a:p>
          </p:txBody>
        </p:sp>
      </p:grpSp>
      <p:grpSp>
        <p:nvGrpSpPr>
          <p:cNvPr id="24" name="p28-dot-3"/>
          <p:cNvGrpSpPr/>
          <p:nvPr/>
        </p:nvGrpSpPr>
        <p:grpSpPr>
          <a:xfrm>
            <a:off x="609600" y="4743450"/>
            <a:ext cx="9308325" cy="658273"/>
            <a:chOff x="609600" y="4743450"/>
            <a:chExt cx="9308325" cy="658273"/>
          </a:xfrm>
        </p:grpSpPr>
        <p:sp>
          <p:nvSpPr>
            <p:cNvPr id="19" name="Rectangle 19"/>
            <p:cNvSpPr/>
            <p:nvPr/>
          </p:nvSpPr>
          <p:spPr>
            <a:xfrm>
              <a:off x="647700" y="4781550"/>
              <a:ext cx="457200" cy="457200"/>
            </a:xfrm>
            <a:prstGeom prst="roundRect">
              <a:avLst>
                <a:gd name="adj" fmla="val 20833"/>
              </a:avLst>
            </a:prstGeom>
            <a:noFill/>
            <a:ln w="14288">
              <a:solidFill>
                <a:srgbClr val="1B2430"/>
              </a:solidFill>
            </a:ln>
          </p:spPr>
        </p:sp>
        <p:sp>
          <p:nvSpPr>
            <p:cNvPr id="20" name="Rectangle 20"/>
            <p:cNvSpPr/>
            <p:nvPr/>
          </p:nvSpPr>
          <p:spPr>
            <a:xfrm>
              <a:off x="609600" y="4743450"/>
              <a:ext cx="457200" cy="457200"/>
            </a:xfrm>
            <a:prstGeom prst="roundRect">
              <a:avLst>
                <a:gd name="adj" fmla="val 20833"/>
              </a:avLst>
            </a:prstGeom>
            <a:solidFill>
              <a:srgbClr val="8B5A5F"/>
            </a:solidFill>
            <a:ln w="14288">
              <a:solidFill>
                <a:srgbClr val="1B2430"/>
              </a:solidFill>
            </a:ln>
          </p:spPr>
        </p:sp>
        <p:sp>
          <p:nvSpPr>
            <p:cNvPr id="21" name="TextBox 21"/>
            <p:cNvSpPr txBox="1"/>
            <p:nvPr/>
          </p:nvSpPr>
          <p:spPr>
            <a:xfrm>
              <a:off x="714430" y="4867275"/>
              <a:ext cx="247540" cy="293370"/>
            </a:xfrm>
            <a:prstGeom prst="rect">
              <a:avLst/>
            </a:prstGeom>
            <a:noFill/>
            <a:ln>
              <a:noFill/>
            </a:ln>
          </p:spPr>
          <p:txBody>
            <a:bodyPr wrap="none" lIns="0" tIns="0" rIns="0" bIns="0" anchor="t" anchorCtr="0">
              <a:spAutoFit/>
            </a:bodyPr>
            <a:lstStyle/>
            <a:p>
              <a:pPr algn="ctr"/>
              <a:r>
                <a:rPr lang="vi" sz="1500" b="1" dirty="0">
                  <a:solidFill>
                    <a:srgbClr val="FFFFFF"/>
                  </a:solidFill>
                  <a:latin typeface="+mn-lt"/>
                  <a:ea typeface="+mn-ea"/>
                  <a:cs typeface="+mn-cs"/>
                </a:rPr>
                <a:t>03</a:t>
              </a:r>
            </a:p>
          </p:txBody>
        </p:sp>
        <p:sp>
          <p:nvSpPr>
            <p:cNvPr id="22" name="TextBox 22"/>
            <p:cNvSpPr txBox="1"/>
            <p:nvPr/>
          </p:nvSpPr>
          <p:spPr>
            <a:xfrm>
              <a:off x="1287018" y="4812982"/>
              <a:ext cx="4287034" cy="322707"/>
            </a:xfrm>
            <a:prstGeom prst="rect">
              <a:avLst/>
            </a:prstGeom>
            <a:noFill/>
            <a:ln>
              <a:noFill/>
            </a:ln>
          </p:spPr>
          <p:txBody>
            <a:bodyPr wrap="none" lIns="0" tIns="0" rIns="0" bIns="0" anchor="t" anchorCtr="0">
              <a:spAutoFit/>
            </a:bodyPr>
            <a:lstStyle/>
            <a:p>
              <a:pPr algn="l"/>
              <a:r>
                <a:rPr lang="vi" sz="1650" b="1" dirty="0">
                  <a:solidFill>
                    <a:srgbClr val="8B5A5F"/>
                  </a:solidFill>
                  <a:latin typeface="+mn-lt"/>
                  <a:ea typeface="+mn-ea"/>
                  <a:cs typeface="+mn-cs"/>
                </a:rPr>
                <a:t>05/2026, chính benchmark bị đặt câu hỏi</a:t>
              </a:r>
            </a:p>
          </p:txBody>
        </p:sp>
        <p:sp>
          <p:nvSpPr>
            <p:cNvPr id="23" name="TextBox 23"/>
            <p:cNvSpPr txBox="1"/>
            <p:nvPr/>
          </p:nvSpPr>
          <p:spPr>
            <a:xfrm>
              <a:off x="1288161" y="5123021"/>
              <a:ext cx="8629764" cy="278702"/>
            </a:xfrm>
            <a:prstGeom prst="rect">
              <a:avLst/>
            </a:prstGeom>
            <a:noFill/>
            <a:ln>
              <a:noFill/>
            </a:ln>
          </p:spPr>
          <p:txBody>
            <a:bodyPr wrap="none" lIns="0" tIns="0" rIns="0" bIns="0" anchor="t" anchorCtr="0">
              <a:spAutoFit/>
            </a:bodyPr>
            <a:lstStyle/>
            <a:p>
              <a:pPr algn="l"/>
              <a:r>
                <a:rPr lang="vi" sz="1420" dirty="0">
                  <a:solidFill>
                    <a:schemeClr val="accent5"/>
                  </a:solidFill>
                  <a:latin typeface="+mn-lt"/>
                  <a:ea typeface="+mn-ea"/>
                  <a:cs typeface="+mn-cs"/>
                </a:rPr>
                <a:t>SCR và TPP ở cấu hình chuẩn trượt nhiều bài kiểm tra độ tin cậy, và không nên dùng để đánh giá SAE.</a:t>
              </a:r>
            </a:p>
          </p:txBody>
        </p:sp>
      </p:grpSp>
      <p:grpSp>
        <p:nvGrpSpPr>
          <p:cNvPr id="27" name="p28-phan-bien"/>
          <p:cNvGrpSpPr/>
          <p:nvPr/>
        </p:nvGrpSpPr>
        <p:grpSpPr>
          <a:xfrm>
            <a:off x="609600" y="5734050"/>
            <a:ext cx="6854121" cy="658939"/>
            <a:chOff x="609600" y="5734050"/>
            <a:chExt cx="6854121" cy="658939"/>
          </a:xfrm>
        </p:grpSpPr>
        <p:sp>
          <p:nvSpPr>
            <p:cNvPr id="25" name="Rectangle 25"/>
            <p:cNvSpPr/>
            <p:nvPr/>
          </p:nvSpPr>
          <p:spPr>
            <a:xfrm>
              <a:off x="609600" y="5734050"/>
              <a:ext cx="76200" cy="590550"/>
            </a:xfrm>
            <a:prstGeom prst="roundRect">
              <a:avLst>
                <a:gd name="adj" fmla="val 50000"/>
              </a:avLst>
            </a:prstGeom>
            <a:solidFill>
              <a:schemeClr val="accent2"/>
            </a:solidFill>
            <a:ln>
              <a:noFill/>
            </a:ln>
          </p:spPr>
        </p:sp>
        <p:sp>
          <p:nvSpPr>
            <p:cNvPr id="26" name="TextBox 26"/>
            <p:cNvSpPr txBox="1"/>
            <p:nvPr/>
          </p:nvSpPr>
          <p:spPr>
            <a:xfrm>
              <a:off x="944118" y="5803582"/>
              <a:ext cx="6519603" cy="589407"/>
            </a:xfrm>
            <a:prstGeom prst="rect">
              <a:avLst/>
            </a:prstGeom>
            <a:noFill/>
            <a:ln>
              <a:noFill/>
            </a:ln>
          </p:spPr>
          <p:txBody>
            <a:bodyPr wrap="none" lIns="0" tIns="0" rIns="0" bIns="0" anchor="t" anchorCtr="0">
              <a:spAutoFit/>
            </a:bodyPr>
            <a:lstStyle/>
            <a:p>
              <a:pPr algn="l">
                <a:lnSpc>
                  <a:spcPts val="2100"/>
                </a:lnSpc>
              </a:pPr>
              <a:r>
                <a:rPr lang="vi" sz="1650" dirty="0">
                  <a:solidFill>
                    <a:schemeClr val="dk1"/>
                  </a:solidFill>
                  <a:latin typeface="+mn-lt"/>
                  <a:ea typeface="+mn-ea"/>
                  <a:cs typeface="+mn-cs"/>
                </a:rPr>
                <a:t>Các negative result đều đo SAE ở việc hành động trên concept đã biết,</a:t>
              </a:r>
              <a:br/>
              <a:r>
                <a:rPr lang="vi" sz="1650" dirty="0">
                  <a:solidFill>
                    <a:schemeClr val="dk1"/>
                  </a:solidFill>
                  <a:latin typeface="+mn-lt"/>
                  <a:ea typeface="+mn-ea"/>
                  <a:cs typeface="+mn-cs"/>
                </a:rPr>
                <a:t>không phải ở việc phát hiện concept chưa biết.</a:t>
              </a:r>
            </a:p>
          </p:txBody>
        </p:sp>
      </p:grpSp>
      <p:sp>
        <p:nvSpPr>
          <p:cNvPr id="28" name="TextBox 28"/>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28</a:t>
            </a:r>
          </a:p>
        </p:txBody>
      </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6966029" cy="1523619"/>
            <a:chOff x="592836" y="651510"/>
            <a:chExt cx="6966029" cy="1523619"/>
          </a:xfrm>
        </p:grpSpPr>
        <p:sp>
          <p:nvSpPr>
            <p:cNvPr id="4" name="TextBox 4"/>
            <p:cNvSpPr txBox="1"/>
            <p:nvPr/>
          </p:nvSpPr>
          <p:spPr>
            <a:xfrm>
              <a:off x="603504" y="651510"/>
              <a:ext cx="2003347"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6. Đánh giá và hiện tại</a:t>
              </a:r>
            </a:p>
          </p:txBody>
        </p:sp>
        <p:sp>
          <p:nvSpPr>
            <p:cNvPr id="5" name="TextBox 5"/>
            <p:cNvSpPr txBox="1"/>
            <p:nvPr/>
          </p:nvSpPr>
          <p:spPr>
            <a:xfrm>
              <a:off x="592836" y="1034415"/>
              <a:ext cx="6966029" cy="1140714"/>
            </a:xfrm>
            <a:prstGeom prst="rect">
              <a:avLst/>
            </a:prstGeom>
            <a:noFill/>
            <a:ln>
              <a:noFill/>
            </a:ln>
          </p:spPr>
          <p:txBody>
            <a:bodyPr wrap="none" lIns="0" tIns="0" rIns="0" bIns="0" anchor="t" anchorCtr="0">
              <a:spAutoFit/>
            </a:bodyPr>
            <a:lstStyle/>
            <a:p>
              <a:pPr algn="l">
                <a:lnSpc>
                  <a:spcPts val="3900"/>
                </a:lnSpc>
              </a:pPr>
              <a:r>
                <a:rPr lang="vi" sz="3300" b="1" dirty="0">
                  <a:solidFill>
                    <a:schemeClr val="dk1"/>
                  </a:solidFill>
                  <a:latin typeface="+mn-lt"/>
                  <a:ea typeface="+mn-ea"/>
                  <a:cs typeface="+mn-cs"/>
                </a:rPr>
                <a:t>SHIFT thành thước đo, rồi thước đo</a:t>
              </a:r>
              <a:br/>
              <a:r>
                <a:rPr lang="vi" sz="3300" b="1" dirty="0">
                  <a:solidFill>
                    <a:schemeClr val="dk1"/>
                  </a:solidFill>
                  <a:latin typeface="+mn-lt"/>
                  <a:ea typeface="+mn-ea"/>
                  <a:cs typeface="+mn-cs"/>
                </a:rPr>
                <a:t>đó bị bác, trong hai năm</a:t>
              </a:r>
            </a:p>
          </p:txBody>
        </p:sp>
      </p:grpSp>
      <p:grpSp>
        <p:nvGrpSpPr>
          <p:cNvPr id="30" name="p29-vong-lap"/>
          <p:cNvGrpSpPr/>
          <p:nvPr/>
        </p:nvGrpSpPr>
        <p:grpSpPr>
          <a:xfrm>
            <a:off x="609600" y="2762250"/>
            <a:ext cx="11010900" cy="1972723"/>
            <a:chOff x="609600" y="2762250"/>
            <a:chExt cx="11010900" cy="1972723"/>
          </a:xfrm>
        </p:grpSpPr>
        <p:sp>
          <p:nvSpPr>
            <p:cNvPr id="7" name="Rectangle 7"/>
            <p:cNvSpPr/>
            <p:nvPr/>
          </p:nvSpPr>
          <p:spPr>
            <a:xfrm>
              <a:off x="647700" y="2800350"/>
              <a:ext cx="2514600" cy="914400"/>
            </a:xfrm>
            <a:prstGeom prst="roundRect">
              <a:avLst>
                <a:gd name="adj" fmla="val 12500"/>
              </a:avLst>
            </a:prstGeom>
            <a:noFill/>
            <a:ln w="14288">
              <a:solidFill>
                <a:srgbClr val="1B2430"/>
              </a:solidFill>
            </a:ln>
          </p:spPr>
        </p:sp>
        <p:sp>
          <p:nvSpPr>
            <p:cNvPr id="8" name="Rectangle 8"/>
            <p:cNvSpPr/>
            <p:nvPr/>
          </p:nvSpPr>
          <p:spPr>
            <a:xfrm>
              <a:off x="609600" y="2762250"/>
              <a:ext cx="2514600" cy="914400"/>
            </a:xfrm>
            <a:prstGeom prst="roundRect">
              <a:avLst>
                <a:gd name="adj" fmla="val 12500"/>
              </a:avLst>
            </a:prstGeom>
            <a:solidFill>
              <a:schemeClr val="lt1"/>
            </a:solidFill>
            <a:ln w="19050">
              <a:solidFill>
                <a:schemeClr val="accent1"/>
              </a:solidFill>
            </a:ln>
          </p:spPr>
        </p:sp>
        <p:sp>
          <p:nvSpPr>
            <p:cNvPr id="9" name="TextBox 9"/>
            <p:cNvSpPr txBox="1"/>
            <p:nvPr/>
          </p:nvSpPr>
          <p:spPr>
            <a:xfrm>
              <a:off x="791718" y="2888932"/>
              <a:ext cx="662037" cy="322707"/>
            </a:xfrm>
            <a:prstGeom prst="rect">
              <a:avLst/>
            </a:prstGeom>
            <a:noFill/>
            <a:ln>
              <a:noFill/>
            </a:ln>
          </p:spPr>
          <p:txBody>
            <a:bodyPr wrap="none" lIns="0" tIns="0" rIns="0" bIns="0" anchor="t" anchorCtr="0">
              <a:spAutoFit/>
            </a:bodyPr>
            <a:lstStyle/>
            <a:p>
              <a:pPr algn="l"/>
              <a:r>
                <a:rPr lang="vi" sz="1650" b="1" dirty="0">
                  <a:solidFill>
                    <a:schemeClr val="accent1"/>
                  </a:solidFill>
                  <a:latin typeface="+mn-lt"/>
                  <a:ea typeface="+mn-ea"/>
                  <a:cs typeface="+mn-cs"/>
                </a:rPr>
                <a:t>SHIFT</a:t>
              </a:r>
            </a:p>
          </p:txBody>
        </p:sp>
        <p:sp>
          <p:nvSpPr>
            <p:cNvPr id="10" name="TextBox 10"/>
            <p:cNvSpPr txBox="1"/>
            <p:nvPr/>
          </p:nvSpPr>
          <p:spPr>
            <a:xfrm>
              <a:off x="793623" y="3196114"/>
              <a:ext cx="1477831" cy="458914"/>
            </a:xfrm>
            <a:prstGeom prst="rect">
              <a:avLst/>
            </a:prstGeom>
            <a:noFill/>
            <a:ln>
              <a:noFill/>
            </a:ln>
          </p:spPr>
          <p:txBody>
            <a:bodyPr wrap="none" lIns="0" tIns="0" rIns="0" bIns="0" anchor="t" anchorCtr="0">
              <a:spAutoFit/>
            </a:bodyPr>
            <a:lstStyle/>
            <a:p>
              <a:pPr algn="l">
                <a:lnSpc>
                  <a:spcPts val="1650"/>
                </a:lnSpc>
              </a:pPr>
              <a:r>
                <a:rPr lang="vi" sz="1280" dirty="0">
                  <a:solidFill>
                    <a:schemeClr val="accent5"/>
                  </a:solidFill>
                  <a:latin typeface="+mn-lt"/>
                  <a:ea typeface="+mn-ea"/>
                  <a:cs typeface="+mn-cs"/>
                </a:rPr>
                <a:t>2024, một ứng dụng</a:t>
              </a:r>
              <a:br/>
              <a:r>
                <a:rPr lang="vi" sz="1280" dirty="0">
                  <a:solidFill>
                    <a:schemeClr val="accent5"/>
                  </a:solidFill>
                  <a:latin typeface="+mn-lt"/>
                  <a:ea typeface="+mn-ea"/>
                  <a:cs typeface="+mn-cs"/>
                </a:rPr>
                <a:t>trong paper</a:t>
              </a:r>
            </a:p>
          </p:txBody>
        </p:sp>
        <p:sp>
          <p:nvSpPr>
            <p:cNvPr id="11" name="Rectangle 11"/>
            <p:cNvSpPr/>
            <p:nvPr/>
          </p:nvSpPr>
          <p:spPr>
            <a:xfrm>
              <a:off x="3467100" y="2800350"/>
              <a:ext cx="2514600" cy="914400"/>
            </a:xfrm>
            <a:prstGeom prst="roundRect">
              <a:avLst>
                <a:gd name="adj" fmla="val 12500"/>
              </a:avLst>
            </a:prstGeom>
            <a:noFill/>
            <a:ln w="14288">
              <a:solidFill>
                <a:srgbClr val="1B2430"/>
              </a:solidFill>
            </a:ln>
          </p:spPr>
        </p:sp>
        <p:sp>
          <p:nvSpPr>
            <p:cNvPr id="12" name="Rectangle 12"/>
            <p:cNvSpPr/>
            <p:nvPr/>
          </p:nvSpPr>
          <p:spPr>
            <a:xfrm>
              <a:off x="3429000" y="2762250"/>
              <a:ext cx="2514600" cy="914400"/>
            </a:xfrm>
            <a:prstGeom prst="roundRect">
              <a:avLst>
                <a:gd name="adj" fmla="val 12500"/>
              </a:avLst>
            </a:prstGeom>
            <a:solidFill>
              <a:schemeClr val="lt1"/>
            </a:solidFill>
            <a:ln w="19050">
              <a:solidFill>
                <a:schemeClr val="accent3"/>
              </a:solidFill>
            </a:ln>
          </p:spPr>
        </p:sp>
        <p:sp>
          <p:nvSpPr>
            <p:cNvPr id="13" name="TextBox 13"/>
            <p:cNvSpPr txBox="1"/>
            <p:nvPr/>
          </p:nvSpPr>
          <p:spPr>
            <a:xfrm>
              <a:off x="3611118" y="2888932"/>
              <a:ext cx="1240219" cy="322707"/>
            </a:xfrm>
            <a:prstGeom prst="rect">
              <a:avLst/>
            </a:prstGeom>
            <a:noFill/>
            <a:ln>
              <a:noFill/>
            </a:ln>
          </p:spPr>
          <p:txBody>
            <a:bodyPr wrap="none" lIns="0" tIns="0" rIns="0" bIns="0" anchor="t" anchorCtr="0">
              <a:spAutoFit/>
            </a:bodyPr>
            <a:lstStyle/>
            <a:p>
              <a:pPr algn="l"/>
              <a:r>
                <a:rPr lang="vi" sz="1650" b="1" dirty="0">
                  <a:solidFill>
                    <a:schemeClr val="accent3"/>
                  </a:solidFill>
                  <a:latin typeface="+mn-lt"/>
                  <a:ea typeface="+mn-ea"/>
                  <a:cs typeface="+mn-cs"/>
                </a:rPr>
                <a:t>SCR và TPP</a:t>
              </a:r>
            </a:p>
          </p:txBody>
        </p:sp>
        <p:sp>
          <p:nvSpPr>
            <p:cNvPr id="14" name="TextBox 14"/>
            <p:cNvSpPr txBox="1"/>
            <p:nvPr/>
          </p:nvSpPr>
          <p:spPr>
            <a:xfrm>
              <a:off x="3613023" y="3196114"/>
              <a:ext cx="1449204" cy="458914"/>
            </a:xfrm>
            <a:prstGeom prst="rect">
              <a:avLst/>
            </a:prstGeom>
            <a:noFill/>
            <a:ln>
              <a:noFill/>
            </a:ln>
          </p:spPr>
          <p:txBody>
            <a:bodyPr wrap="none" lIns="0" tIns="0" rIns="0" bIns="0" anchor="t" anchorCtr="0">
              <a:spAutoFit/>
            </a:bodyPr>
            <a:lstStyle/>
            <a:p>
              <a:pPr algn="l">
                <a:lnSpc>
                  <a:spcPts val="1650"/>
                </a:lnSpc>
              </a:pPr>
              <a:r>
                <a:rPr lang="vi" sz="1280" dirty="0">
                  <a:solidFill>
                    <a:schemeClr val="accent5"/>
                  </a:solidFill>
                  <a:latin typeface="+mn-lt"/>
                  <a:ea typeface="+mn-ea"/>
                  <a:cs typeface="+mn-cs"/>
                </a:rPr>
                <a:t>11/2024, thay người</a:t>
              </a:r>
              <a:br/>
              <a:r>
                <a:rPr lang="vi" sz="1280" dirty="0">
                  <a:solidFill>
                    <a:schemeClr val="accent5"/>
                  </a:solidFill>
                  <a:latin typeface="+mn-lt"/>
                  <a:ea typeface="+mn-ea"/>
                  <a:cs typeface="+mn-cs"/>
                </a:rPr>
                <a:t>chú thích bằng LLM</a:t>
              </a:r>
            </a:p>
          </p:txBody>
        </p:sp>
        <p:sp>
          <p:nvSpPr>
            <p:cNvPr id="15" name="Rectangle 15"/>
            <p:cNvSpPr/>
            <p:nvPr/>
          </p:nvSpPr>
          <p:spPr>
            <a:xfrm>
              <a:off x="6286500" y="2800350"/>
              <a:ext cx="2514600" cy="914400"/>
            </a:xfrm>
            <a:prstGeom prst="roundRect">
              <a:avLst>
                <a:gd name="adj" fmla="val 12500"/>
              </a:avLst>
            </a:prstGeom>
            <a:noFill/>
            <a:ln w="14288">
              <a:solidFill>
                <a:srgbClr val="1B2430"/>
              </a:solidFill>
            </a:ln>
          </p:spPr>
        </p:sp>
        <p:sp>
          <p:nvSpPr>
            <p:cNvPr id="16" name="Rectangle 16"/>
            <p:cNvSpPr/>
            <p:nvPr/>
          </p:nvSpPr>
          <p:spPr>
            <a:xfrm>
              <a:off x="6248400" y="2762250"/>
              <a:ext cx="2514600" cy="914400"/>
            </a:xfrm>
            <a:prstGeom prst="roundRect">
              <a:avLst>
                <a:gd name="adj" fmla="val 12500"/>
              </a:avLst>
            </a:prstGeom>
            <a:solidFill>
              <a:schemeClr val="lt1"/>
            </a:solidFill>
            <a:ln w="19050">
              <a:solidFill>
                <a:srgbClr val="6E757E"/>
              </a:solidFill>
            </a:ln>
          </p:spPr>
        </p:sp>
        <p:sp>
          <p:nvSpPr>
            <p:cNvPr id="17" name="TextBox 17"/>
            <p:cNvSpPr txBox="1"/>
            <p:nvPr/>
          </p:nvSpPr>
          <p:spPr>
            <a:xfrm>
              <a:off x="6430518" y="2888932"/>
              <a:ext cx="1082271" cy="322707"/>
            </a:xfrm>
            <a:prstGeom prst="rect">
              <a:avLst/>
            </a:prstGeom>
            <a:noFill/>
            <a:ln>
              <a:noFill/>
            </a:ln>
          </p:spPr>
          <p:txBody>
            <a:bodyPr wrap="none" lIns="0" tIns="0" rIns="0" bIns="0" anchor="t" anchorCtr="0">
              <a:spAutoFit/>
            </a:bodyPr>
            <a:lstStyle/>
            <a:p>
              <a:pPr algn="l"/>
              <a:r>
                <a:rPr lang="vi" sz="1650" b="1" dirty="0">
                  <a:solidFill>
                    <a:schemeClr val="accent5"/>
                  </a:solidFill>
                  <a:latin typeface="+mn-lt"/>
                  <a:ea typeface="+mn-ea"/>
                  <a:cs typeface="+mn-cs"/>
                </a:rPr>
                <a:t>SAEBench</a:t>
              </a:r>
            </a:p>
          </p:txBody>
        </p:sp>
        <p:sp>
          <p:nvSpPr>
            <p:cNvPr id="18" name="TextBox 18"/>
            <p:cNvSpPr txBox="1"/>
            <p:nvPr/>
          </p:nvSpPr>
          <p:spPr>
            <a:xfrm>
              <a:off x="6432423" y="3196114"/>
              <a:ext cx="1802349" cy="458914"/>
            </a:xfrm>
            <a:prstGeom prst="rect">
              <a:avLst/>
            </a:prstGeom>
            <a:noFill/>
            <a:ln>
              <a:noFill/>
            </a:ln>
          </p:spPr>
          <p:txBody>
            <a:bodyPr wrap="none" lIns="0" tIns="0" rIns="0" bIns="0" anchor="t" anchorCtr="0">
              <a:spAutoFit/>
            </a:bodyPr>
            <a:lstStyle/>
            <a:p>
              <a:pPr algn="l">
                <a:lnSpc>
                  <a:spcPts val="1650"/>
                </a:lnSpc>
              </a:pPr>
              <a:r>
                <a:rPr lang="vi" sz="1280" dirty="0">
                  <a:solidFill>
                    <a:schemeClr val="accent5"/>
                  </a:solidFill>
                  <a:latin typeface="+mn-lt"/>
                  <a:ea typeface="+mn-ea"/>
                  <a:cs typeface="+mn-cs"/>
                </a:rPr>
                <a:t>03/2025, thành thước</a:t>
              </a:r>
              <a:br/>
              <a:r>
                <a:rPr lang="vi" sz="1280" dirty="0">
                  <a:solidFill>
                    <a:schemeClr val="accent5"/>
                  </a:solidFill>
                  <a:latin typeface="+mn-lt"/>
                  <a:ea typeface="+mn-ea"/>
                  <a:cs typeface="+mn-cs"/>
                </a:rPr>
                <a:t>đo chuẩn của cộng đồng</a:t>
              </a:r>
            </a:p>
          </p:txBody>
        </p:sp>
        <p:sp>
          <p:nvSpPr>
            <p:cNvPr id="19" name="Rectangle 19"/>
            <p:cNvSpPr/>
            <p:nvPr/>
          </p:nvSpPr>
          <p:spPr>
            <a:xfrm>
              <a:off x="9105900" y="2800350"/>
              <a:ext cx="2514600" cy="914400"/>
            </a:xfrm>
            <a:prstGeom prst="roundRect">
              <a:avLst>
                <a:gd name="adj" fmla="val 12500"/>
              </a:avLst>
            </a:prstGeom>
            <a:noFill/>
            <a:ln w="14288">
              <a:solidFill>
                <a:srgbClr val="1B2430"/>
              </a:solidFill>
            </a:ln>
          </p:spPr>
        </p:sp>
        <p:sp>
          <p:nvSpPr>
            <p:cNvPr id="20" name="Rectangle 20"/>
            <p:cNvSpPr/>
            <p:nvPr/>
          </p:nvSpPr>
          <p:spPr>
            <a:xfrm>
              <a:off x="9067800" y="2762250"/>
              <a:ext cx="2514600" cy="914400"/>
            </a:xfrm>
            <a:prstGeom prst="roundRect">
              <a:avLst>
                <a:gd name="adj" fmla="val 12500"/>
              </a:avLst>
            </a:prstGeom>
            <a:solidFill>
              <a:schemeClr val="lt1"/>
            </a:solidFill>
            <a:ln w="19050">
              <a:solidFill>
                <a:srgbClr val="8B5A5F"/>
              </a:solidFill>
            </a:ln>
          </p:spPr>
        </p:sp>
        <p:sp>
          <p:nvSpPr>
            <p:cNvPr id="21" name="TextBox 21"/>
            <p:cNvSpPr txBox="1"/>
            <p:nvPr/>
          </p:nvSpPr>
          <p:spPr>
            <a:xfrm>
              <a:off x="9249918" y="2888932"/>
              <a:ext cx="1135438" cy="322707"/>
            </a:xfrm>
            <a:prstGeom prst="rect">
              <a:avLst/>
            </a:prstGeom>
            <a:noFill/>
            <a:ln>
              <a:noFill/>
            </a:ln>
          </p:spPr>
          <p:txBody>
            <a:bodyPr wrap="none" lIns="0" tIns="0" rIns="0" bIns="0" anchor="t" anchorCtr="0">
              <a:spAutoFit/>
            </a:bodyPr>
            <a:lstStyle/>
            <a:p>
              <a:pPr algn="l"/>
              <a:r>
                <a:rPr lang="vi" sz="1650" b="1" dirty="0">
                  <a:solidFill>
                    <a:srgbClr val="8B5A5F"/>
                  </a:solidFill>
                  <a:latin typeface="+mn-lt"/>
                  <a:ea typeface="+mn-ea"/>
                  <a:cs typeface="+mn-cs"/>
                </a:rPr>
                <a:t>SCR bị bác</a:t>
              </a:r>
            </a:p>
          </p:txBody>
        </p:sp>
        <p:sp>
          <p:nvSpPr>
            <p:cNvPr id="22" name="TextBox 22"/>
            <p:cNvSpPr txBox="1"/>
            <p:nvPr/>
          </p:nvSpPr>
          <p:spPr>
            <a:xfrm>
              <a:off x="9251823" y="3196114"/>
              <a:ext cx="1548349" cy="458914"/>
            </a:xfrm>
            <a:prstGeom prst="rect">
              <a:avLst/>
            </a:prstGeom>
            <a:noFill/>
            <a:ln>
              <a:noFill/>
            </a:ln>
          </p:spPr>
          <p:txBody>
            <a:bodyPr wrap="none" lIns="0" tIns="0" rIns="0" bIns="0" anchor="t" anchorCtr="0">
              <a:spAutoFit/>
            </a:bodyPr>
            <a:lstStyle/>
            <a:p>
              <a:pPr algn="l">
                <a:lnSpc>
                  <a:spcPts val="1650"/>
                </a:lnSpc>
              </a:pPr>
              <a:r>
                <a:rPr lang="vi" sz="1280" dirty="0">
                  <a:solidFill>
                    <a:schemeClr val="accent5"/>
                  </a:solidFill>
                  <a:latin typeface="+mn-lt"/>
                  <a:ea typeface="+mn-ea"/>
                  <a:cs typeface="+mn-cs"/>
                </a:rPr>
                <a:t>05/2026, không đáng</a:t>
              </a:r>
              <a:br/>
              <a:r>
                <a:rPr lang="vi" sz="1280" dirty="0">
                  <a:solidFill>
                    <a:schemeClr val="accent5"/>
                  </a:solidFill>
                  <a:latin typeface="+mn-lt"/>
                  <a:ea typeface="+mn-ea"/>
                  <a:cs typeface="+mn-cs"/>
                </a:rPr>
                <a:t>tin để đánh giá SAE</a:t>
              </a:r>
            </a:p>
          </p:txBody>
        </p:sp>
        <p:sp>
          <p:nvSpPr>
            <p:cNvPr id="23" name="Line 23"/>
            <p:cNvSpPr/>
            <p:nvPr/>
          </p:nvSpPr>
          <p:spPr>
            <a:xfrm>
              <a:off x="3124200" y="3219450"/>
              <a:ext cx="266700" cy="1"/>
            </a:xfrm>
            <a:prstGeom prst="line">
              <a:avLst/>
            </a:prstGeom>
            <a:noFill/>
            <a:ln w="19050">
              <a:solidFill>
                <a:schemeClr val="accent1"/>
              </a:solidFill>
              <a:tailEnd type="triangle" w="lg" len="lg"/>
            </a:ln>
          </p:spPr>
        </p:sp>
        <p:sp>
          <p:nvSpPr>
            <p:cNvPr id="24" name="Line 24"/>
            <p:cNvSpPr/>
            <p:nvPr/>
          </p:nvSpPr>
          <p:spPr>
            <a:xfrm>
              <a:off x="5943600" y="3219450"/>
              <a:ext cx="266700" cy="1"/>
            </a:xfrm>
            <a:prstGeom prst="line">
              <a:avLst/>
            </a:prstGeom>
            <a:noFill/>
            <a:ln w="19050">
              <a:solidFill>
                <a:schemeClr val="accent1"/>
              </a:solidFill>
              <a:tailEnd type="triangle" w="lg" len="lg"/>
            </a:ln>
          </p:spPr>
        </p:sp>
        <p:sp>
          <p:nvSpPr>
            <p:cNvPr id="25" name="Line 25"/>
            <p:cNvSpPr/>
            <p:nvPr/>
          </p:nvSpPr>
          <p:spPr>
            <a:xfrm>
              <a:off x="8763000" y="3219450"/>
              <a:ext cx="266700" cy="1"/>
            </a:xfrm>
            <a:prstGeom prst="line">
              <a:avLst/>
            </a:prstGeom>
            <a:noFill/>
            <a:ln w="19050">
              <a:solidFill>
                <a:schemeClr val="accent1"/>
              </a:solidFill>
              <a:tailEnd type="triangle" w="lg" len="lg"/>
            </a:ln>
          </p:spPr>
        </p:sp>
        <p:sp>
          <p:nvSpPr>
            <p:cNvPr id="26" name="Line 26"/>
            <p:cNvSpPr/>
            <p:nvPr/>
          </p:nvSpPr>
          <p:spPr>
            <a:xfrm>
              <a:off x="10325100" y="3714750"/>
              <a:ext cx="9525" cy="590550"/>
            </a:xfrm>
            <a:custGeom>
              <a:avLst/>
              <a:gdLst/>
              <a:ahLst/>
              <a:cxnLst/>
              <a:rect l="l" t="t" r="r" b="b"/>
              <a:pathLst>
                <a:path w="9525" h="590550">
                  <a:moveTo>
                    <a:pt x="0" y="0"/>
                  </a:moveTo>
                  <a:lnTo>
                    <a:pt x="0" y="590550"/>
                  </a:lnTo>
                </a:path>
              </a:pathLst>
            </a:custGeom>
            <a:noFill/>
            <a:ln w="19050">
              <a:solidFill>
                <a:srgbClr val="8B5A5F"/>
              </a:solidFill>
            </a:ln>
          </p:spPr>
        </p:sp>
        <p:sp>
          <p:nvSpPr>
            <p:cNvPr id="27" name="Line 27"/>
            <p:cNvSpPr/>
            <p:nvPr/>
          </p:nvSpPr>
          <p:spPr>
            <a:xfrm>
              <a:off x="1866900" y="4305300"/>
              <a:ext cx="8458200" cy="9525"/>
            </a:xfrm>
            <a:custGeom>
              <a:avLst/>
              <a:gdLst/>
              <a:ahLst/>
              <a:cxnLst/>
              <a:rect l="l" t="t" r="r" b="b"/>
              <a:pathLst>
                <a:path w="8458200" h="9525">
                  <a:moveTo>
                    <a:pt x="8458200" y="0"/>
                  </a:moveTo>
                  <a:lnTo>
                    <a:pt x="0" y="0"/>
                  </a:lnTo>
                </a:path>
              </a:pathLst>
            </a:custGeom>
            <a:noFill/>
            <a:ln w="19050">
              <a:solidFill>
                <a:srgbClr val="8B5A5F"/>
              </a:solidFill>
            </a:ln>
          </p:spPr>
        </p:sp>
        <p:sp>
          <p:nvSpPr>
            <p:cNvPr id="28" name="Line 28"/>
            <p:cNvSpPr/>
            <p:nvPr/>
          </p:nvSpPr>
          <p:spPr>
            <a:xfrm flipV="1">
              <a:off x="1866900" y="3752850"/>
              <a:ext cx="1" cy="552450"/>
            </a:xfrm>
            <a:prstGeom prst="line">
              <a:avLst/>
            </a:prstGeom>
            <a:noFill/>
            <a:ln w="19050">
              <a:solidFill>
                <a:srgbClr val="8B5A5F"/>
              </a:solidFill>
              <a:tailEnd type="triangle" w="lg" len="lg"/>
            </a:ln>
          </p:spPr>
        </p:sp>
        <p:sp>
          <p:nvSpPr>
            <p:cNvPr id="29" name="TextBox 29"/>
            <p:cNvSpPr txBox="1"/>
            <p:nvPr/>
          </p:nvSpPr>
          <p:spPr>
            <a:xfrm>
              <a:off x="4100028" y="4456271"/>
              <a:ext cx="3991944" cy="278702"/>
            </a:xfrm>
            <a:prstGeom prst="rect">
              <a:avLst/>
            </a:prstGeom>
            <a:noFill/>
            <a:ln>
              <a:noFill/>
            </a:ln>
          </p:spPr>
          <p:txBody>
            <a:bodyPr wrap="none" lIns="0" tIns="0" rIns="0" bIns="0" anchor="t" anchorCtr="0">
              <a:spAutoFit/>
            </a:bodyPr>
            <a:lstStyle/>
            <a:p>
              <a:pPr algn="ctr"/>
              <a:r>
                <a:rPr lang="vi" sz="1420" dirty="0">
                  <a:solidFill>
                    <a:srgbClr val="8B5A5F"/>
                  </a:solidFill>
                  <a:latin typeface="+mn-lt"/>
                  <a:ea typeface="+mn-ea"/>
                  <a:cs typeface="+mn-cs"/>
                </a:rPr>
                <a:t>Chính thước đo kế thừa từ SHIFT bị đặt câu hỏi</a:t>
              </a:r>
            </a:p>
          </p:txBody>
        </p:sp>
      </p:grpSp>
      <p:grpSp>
        <p:nvGrpSpPr>
          <p:cNvPr id="33" name="p29-y-nghia"/>
          <p:cNvGrpSpPr/>
          <p:nvPr/>
        </p:nvGrpSpPr>
        <p:grpSpPr>
          <a:xfrm>
            <a:off x="609600" y="5334000"/>
            <a:ext cx="9596733" cy="716089"/>
            <a:chOff x="609600" y="5334000"/>
            <a:chExt cx="9596733" cy="716089"/>
          </a:xfrm>
        </p:grpSpPr>
        <p:sp>
          <p:nvSpPr>
            <p:cNvPr id="31" name="Rectangle 31"/>
            <p:cNvSpPr/>
            <p:nvPr/>
          </p:nvSpPr>
          <p:spPr>
            <a:xfrm>
              <a:off x="609600" y="5334000"/>
              <a:ext cx="76200" cy="685800"/>
            </a:xfrm>
            <a:prstGeom prst="roundRect">
              <a:avLst>
                <a:gd name="adj" fmla="val 50000"/>
              </a:avLst>
            </a:prstGeom>
            <a:solidFill>
              <a:schemeClr val="accent2"/>
            </a:solidFill>
            <a:ln>
              <a:noFill/>
            </a:ln>
          </p:spPr>
        </p:sp>
        <p:sp>
          <p:nvSpPr>
            <p:cNvPr id="32" name="TextBox 32"/>
            <p:cNvSpPr txBox="1"/>
            <p:nvPr/>
          </p:nvSpPr>
          <p:spPr>
            <a:xfrm>
              <a:off x="944118" y="5441632"/>
              <a:ext cx="9262215" cy="608457"/>
            </a:xfrm>
            <a:prstGeom prst="rect">
              <a:avLst/>
            </a:prstGeom>
            <a:noFill/>
            <a:ln>
              <a:noFill/>
            </a:ln>
          </p:spPr>
          <p:txBody>
            <a:bodyPr wrap="none" lIns="0" tIns="0" rIns="0" bIns="0" anchor="t" anchorCtr="0">
              <a:spAutoFit/>
            </a:bodyPr>
            <a:lstStyle/>
            <a:p>
              <a:pPr algn="l">
                <a:lnSpc>
                  <a:spcPts val="2250"/>
                </a:lnSpc>
              </a:pPr>
              <a:r>
                <a:rPr lang="vi" sz="1650" dirty="0">
                  <a:solidFill>
                    <a:schemeClr val="dk1"/>
                  </a:solidFill>
                  <a:latin typeface="+mn-lt"/>
                  <a:ea typeface="+mn-ea"/>
                  <a:cs typeface="+mn-cs"/>
                </a:rPr>
                <a:t>Đây không phải để chê paper. Nó minh hoạ đúng điều mục 8 Limitations đã nói: đánh giá dictionary</a:t>
              </a:r>
              <a:br/>
              <a:r>
                <a:rPr lang="vi" sz="1650" dirty="0">
                  <a:solidFill>
                    <a:schemeClr val="dk1"/>
                  </a:solidFill>
                  <a:latin typeface="+mn-lt"/>
                  <a:ea typeface="+mn-ea"/>
                  <a:cs typeface="+mn-cs"/>
                </a:rPr>
                <a:t>và circuit khi không có task downstream rõ ràng là bài toán khó, và bài toán đó vẫn chưa được giải.</a:t>
              </a:r>
            </a:p>
          </p:txBody>
        </p:sp>
      </p:grpSp>
      <p:sp>
        <p:nvSpPr>
          <p:cNvPr id="34" name="TextBox 34"/>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29</a:t>
            </a:r>
          </a:p>
        </p:txBody>
      </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10687050" y="0"/>
            <a:ext cx="1504950" cy="1238250"/>
          </a:xfrm>
          <a:custGeom>
            <a:avLst/>
            <a:gdLst/>
            <a:ahLst/>
            <a:cxnLst/>
            <a:rect l="l" t="t" r="r" b="b"/>
            <a:pathLst>
              <a:path w="1504950" h="1238250">
                <a:moveTo>
                  <a:pt x="1504950" y="0"/>
                </a:moveTo>
                <a:lnTo>
                  <a:pt x="0" y="0"/>
                </a:lnTo>
                <a:cubicBezTo>
                  <a:pt x="342900" y="190500"/>
                  <a:pt x="476250" y="457200"/>
                  <a:pt x="361950" y="685800"/>
                </a:cubicBezTo>
                <a:cubicBezTo>
                  <a:pt x="247650" y="914400"/>
                  <a:pt x="419100" y="1104900"/>
                  <a:pt x="704850" y="1162050"/>
                </a:cubicBezTo>
                <a:cubicBezTo>
                  <a:pt x="990600" y="1219200"/>
                  <a:pt x="1295400" y="1123950"/>
                  <a:pt x="1504950" y="1238250"/>
                </a:cubicBezTo>
                <a:close/>
              </a:path>
            </a:pathLst>
          </a:custGeom>
          <a:solidFill>
            <a:schemeClr val="accent1"/>
          </a:solidFill>
          <a:ln>
            <a:noFill/>
          </a:ln>
        </p:spPr>
      </p:sp>
      <p:sp>
        <p:nvSpPr>
          <p:cNvPr id="3" name="blob-tr-echo"/>
          <p:cNvSpPr/>
          <p:nvPr/>
        </p:nvSpPr>
        <p:spPr>
          <a:xfrm>
            <a:off x="10572750" y="95250"/>
            <a:ext cx="1619250" cy="1314450"/>
          </a:xfrm>
          <a:custGeom>
            <a:avLst/>
            <a:gdLst/>
            <a:ahLst/>
            <a:cxnLst/>
            <a:rect l="l" t="t" r="r" b="b"/>
            <a:pathLst>
              <a:path w="1619250" h="1314450">
                <a:moveTo>
                  <a:pt x="1619250" y="38100"/>
                </a:moveTo>
                <a:lnTo>
                  <a:pt x="0" y="0"/>
                </a:lnTo>
                <a:cubicBezTo>
                  <a:pt x="361950" y="228600"/>
                  <a:pt x="495300" y="495300"/>
                  <a:pt x="381000" y="723900"/>
                </a:cubicBezTo>
                <a:cubicBezTo>
                  <a:pt x="266700" y="952500"/>
                  <a:pt x="438150" y="1162050"/>
                  <a:pt x="742950" y="1219200"/>
                </a:cubicBezTo>
                <a:cubicBezTo>
                  <a:pt x="1047750" y="1276350"/>
                  <a:pt x="1371600" y="1181100"/>
                  <a:pt x="1619250" y="1314450"/>
                </a:cubicBezTo>
              </a:path>
            </a:pathLst>
          </a:custGeom>
          <a:noFill/>
          <a:ln w="19050">
            <a:solidFill>
              <a:srgbClr val="1B2430"/>
            </a:solidFill>
          </a:ln>
        </p:spPr>
      </p:sp>
      <p:grpSp>
        <p:nvGrpSpPr>
          <p:cNvPr id="6" name="page-head"/>
          <p:cNvGrpSpPr/>
          <p:nvPr/>
        </p:nvGrpSpPr>
        <p:grpSpPr>
          <a:xfrm>
            <a:off x="592836" y="651510"/>
            <a:ext cx="4272823" cy="1028319"/>
            <a:chOff x="592836" y="651510"/>
            <a:chExt cx="4272823" cy="1028319"/>
          </a:xfrm>
        </p:grpSpPr>
        <p:sp>
          <p:nvSpPr>
            <p:cNvPr id="4" name="TextBox 4"/>
            <p:cNvSpPr txBox="1"/>
            <p:nvPr/>
          </p:nvSpPr>
          <p:spPr>
            <a:xfrm>
              <a:off x="603504" y="651510"/>
              <a:ext cx="2003347"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Phần 6. Đánh giá và hiện tại</a:t>
              </a:r>
            </a:p>
          </p:txBody>
        </p:sp>
        <p:sp>
          <p:nvSpPr>
            <p:cNvPr id="5" name="TextBox 5"/>
            <p:cNvSpPr txBox="1"/>
            <p:nvPr/>
          </p:nvSpPr>
          <p:spPr>
            <a:xfrm>
              <a:off x="592836" y="1034415"/>
              <a:ext cx="4272823" cy="645414"/>
            </a:xfrm>
            <a:prstGeom prst="rect">
              <a:avLst/>
            </a:prstGeom>
            <a:noFill/>
            <a:ln>
              <a:noFill/>
            </a:ln>
          </p:spPr>
          <p:txBody>
            <a:bodyPr wrap="none" lIns="0" tIns="0" rIns="0" bIns="0" anchor="t" anchorCtr="0">
              <a:spAutoFit/>
            </a:bodyPr>
            <a:lstStyle/>
            <a:p>
              <a:pPr algn="l"/>
              <a:r>
                <a:rPr lang="vi" sz="3300" b="1" dirty="0">
                  <a:solidFill>
                    <a:schemeClr val="dk1"/>
                  </a:solidFill>
                  <a:latin typeface="+mn-lt"/>
                  <a:ea typeface="+mn-ea"/>
                  <a:cs typeface="+mn-cs"/>
                </a:rPr>
                <a:t>Hai hướng kế nhiệm</a:t>
              </a:r>
            </a:p>
          </p:txBody>
        </p:sp>
      </p:grpSp>
      <p:grpSp>
        <p:nvGrpSpPr>
          <p:cNvPr id="39" name="p30-sfc-vs-attribution-graphs"/>
          <p:cNvGrpSpPr/>
          <p:nvPr/>
        </p:nvGrpSpPr>
        <p:grpSpPr>
          <a:xfrm>
            <a:off x="602361" y="2004060"/>
            <a:ext cx="10980039" cy="3129915"/>
            <a:chOff x="602361" y="2004060"/>
            <a:chExt cx="10980039" cy="3129915"/>
          </a:xfrm>
        </p:grpSpPr>
        <p:sp>
          <p:nvSpPr>
            <p:cNvPr id="7" name="TextBox 7"/>
            <p:cNvSpPr txBox="1"/>
            <p:nvPr/>
          </p:nvSpPr>
          <p:spPr>
            <a:xfrm>
              <a:off x="603504" y="2004060"/>
              <a:ext cx="1121932"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Chiều đối chiếu</a:t>
              </a:r>
            </a:p>
          </p:txBody>
        </p:sp>
        <p:sp>
          <p:nvSpPr>
            <p:cNvPr id="8" name="TextBox 8"/>
            <p:cNvSpPr txBox="1"/>
            <p:nvPr/>
          </p:nvSpPr>
          <p:spPr>
            <a:xfrm>
              <a:off x="3842004" y="2004060"/>
              <a:ext cx="1752443" cy="234696"/>
            </a:xfrm>
            <a:prstGeom prst="rect">
              <a:avLst/>
            </a:prstGeom>
            <a:noFill/>
            <a:ln>
              <a:noFill/>
            </a:ln>
          </p:spPr>
          <p:txBody>
            <a:bodyPr wrap="none" lIns="0" tIns="0" rIns="0" bIns="0" anchor="t" anchorCtr="0">
              <a:spAutoFit/>
            </a:bodyPr>
            <a:lstStyle/>
            <a:p>
              <a:pPr algn="l"/>
              <a:r>
                <a:rPr lang="vi" sz="1200" b="1" dirty="0">
                  <a:solidFill>
                    <a:schemeClr val="accent1"/>
                  </a:solidFill>
                  <a:latin typeface="+mn-lt"/>
                  <a:ea typeface="+mn-ea"/>
                  <a:cs typeface="+mn-cs"/>
                </a:rPr>
                <a:t>Sparse Feature Circuits</a:t>
              </a:r>
            </a:p>
          </p:txBody>
        </p:sp>
        <p:sp>
          <p:nvSpPr>
            <p:cNvPr id="9" name="TextBox 9"/>
            <p:cNvSpPr txBox="1"/>
            <p:nvPr/>
          </p:nvSpPr>
          <p:spPr>
            <a:xfrm>
              <a:off x="7652004" y="2004060"/>
              <a:ext cx="1453556" cy="234696"/>
            </a:xfrm>
            <a:prstGeom prst="rect">
              <a:avLst/>
            </a:prstGeom>
            <a:noFill/>
            <a:ln>
              <a:noFill/>
            </a:ln>
          </p:spPr>
          <p:txBody>
            <a:bodyPr wrap="none" lIns="0" tIns="0" rIns="0" bIns="0" anchor="t" anchorCtr="0">
              <a:spAutoFit/>
            </a:bodyPr>
            <a:lstStyle/>
            <a:p>
              <a:pPr algn="l"/>
              <a:r>
                <a:rPr lang="vi" sz="1200" b="1" dirty="0">
                  <a:solidFill>
                    <a:schemeClr val="accent3"/>
                  </a:solidFill>
                  <a:latin typeface="+mn-lt"/>
                  <a:ea typeface="+mn-ea"/>
                  <a:cs typeface="+mn-cs"/>
                </a:rPr>
                <a:t>Attribution Graphs</a:t>
              </a:r>
            </a:p>
          </p:txBody>
        </p:sp>
        <p:sp>
          <p:nvSpPr>
            <p:cNvPr id="10" name="Line 10"/>
            <p:cNvSpPr/>
            <p:nvPr/>
          </p:nvSpPr>
          <p:spPr>
            <a:xfrm>
              <a:off x="609600" y="2266950"/>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11" name="TextBox 11"/>
            <p:cNvSpPr txBox="1"/>
            <p:nvPr/>
          </p:nvSpPr>
          <p:spPr>
            <a:xfrm>
              <a:off x="602361" y="2436971"/>
              <a:ext cx="862921" cy="278702"/>
            </a:xfrm>
            <a:prstGeom prst="rect">
              <a:avLst/>
            </a:prstGeom>
            <a:noFill/>
            <a:ln>
              <a:noFill/>
            </a:ln>
          </p:spPr>
          <p:txBody>
            <a:bodyPr wrap="none" lIns="0" tIns="0" rIns="0" bIns="0" anchor="t" anchorCtr="0">
              <a:spAutoFit/>
            </a:bodyPr>
            <a:lstStyle/>
            <a:p>
              <a:pPr algn="l"/>
              <a:r>
                <a:rPr lang="vi" sz="1420" dirty="0">
                  <a:solidFill>
                    <a:schemeClr val="accent5"/>
                  </a:solidFill>
                  <a:latin typeface="+mn-lt"/>
                  <a:ea typeface="+mn-ea"/>
                  <a:cs typeface="+mn-cs"/>
                </a:rPr>
                <a:t>Thời điểm</a:t>
              </a:r>
            </a:p>
          </p:txBody>
        </p:sp>
        <p:sp>
          <p:nvSpPr>
            <p:cNvPr id="12" name="TextBox 12"/>
            <p:cNvSpPr txBox="1"/>
            <p:nvPr/>
          </p:nvSpPr>
          <p:spPr>
            <a:xfrm>
              <a:off x="3840861" y="2436971"/>
              <a:ext cx="2070174"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03/2024, ICLR 2025 oral</a:t>
              </a:r>
            </a:p>
          </p:txBody>
        </p:sp>
        <p:sp>
          <p:nvSpPr>
            <p:cNvPr id="13" name="TextBox 13"/>
            <p:cNvSpPr txBox="1"/>
            <p:nvPr/>
          </p:nvSpPr>
          <p:spPr>
            <a:xfrm>
              <a:off x="7650861" y="2436971"/>
              <a:ext cx="987905"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27/03/2025</a:t>
              </a:r>
            </a:p>
          </p:txBody>
        </p:sp>
        <p:sp>
          <p:nvSpPr>
            <p:cNvPr id="14" name="Line 14"/>
            <p:cNvSpPr/>
            <p:nvPr/>
          </p:nvSpPr>
          <p:spPr>
            <a:xfrm>
              <a:off x="609600" y="2724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602361" y="2837021"/>
              <a:ext cx="563133" cy="278702"/>
            </a:xfrm>
            <a:prstGeom prst="rect">
              <a:avLst/>
            </a:prstGeom>
            <a:noFill/>
            <a:ln>
              <a:noFill/>
            </a:ln>
          </p:spPr>
          <p:txBody>
            <a:bodyPr wrap="none" lIns="0" tIns="0" rIns="0" bIns="0" anchor="t" anchorCtr="0">
              <a:spAutoFit/>
            </a:bodyPr>
            <a:lstStyle/>
            <a:p>
              <a:pPr algn="l"/>
              <a:r>
                <a:rPr lang="vi" sz="1420" dirty="0">
                  <a:solidFill>
                    <a:schemeClr val="accent5"/>
                  </a:solidFill>
                  <a:latin typeface="+mn-lt"/>
                  <a:ea typeface="+mn-ea"/>
                  <a:cs typeface="+mn-cs"/>
                </a:rPr>
                <a:t>Model</a:t>
              </a:r>
            </a:p>
          </p:txBody>
        </p:sp>
        <p:sp>
          <p:nvSpPr>
            <p:cNvPr id="16" name="TextBox 16"/>
            <p:cNvSpPr txBox="1"/>
            <p:nvPr/>
          </p:nvSpPr>
          <p:spPr>
            <a:xfrm>
              <a:off x="3840861" y="2837021"/>
              <a:ext cx="2243000"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Pythia-70M, Gemma-2-2B</a:t>
              </a:r>
            </a:p>
          </p:txBody>
        </p:sp>
        <p:sp>
          <p:nvSpPr>
            <p:cNvPr id="17" name="TextBox 17"/>
            <p:cNvSpPr txBox="1"/>
            <p:nvPr/>
          </p:nvSpPr>
          <p:spPr>
            <a:xfrm>
              <a:off x="7650861" y="2837021"/>
              <a:ext cx="1446462"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Claude 3.5 Haiku</a:t>
              </a:r>
            </a:p>
          </p:txBody>
        </p:sp>
        <p:sp>
          <p:nvSpPr>
            <p:cNvPr id="18" name="Line 18"/>
            <p:cNvSpPr/>
            <p:nvPr/>
          </p:nvSpPr>
          <p:spPr>
            <a:xfrm>
              <a:off x="609600" y="3124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602361" y="3237071"/>
              <a:ext cx="565085" cy="278702"/>
            </a:xfrm>
            <a:prstGeom prst="rect">
              <a:avLst/>
            </a:prstGeom>
            <a:noFill/>
            <a:ln>
              <a:noFill/>
            </a:ln>
          </p:spPr>
          <p:txBody>
            <a:bodyPr wrap="none" lIns="0" tIns="0" rIns="0" bIns="0" anchor="t" anchorCtr="0">
              <a:spAutoFit/>
            </a:bodyPr>
            <a:lstStyle/>
            <a:p>
              <a:pPr algn="l"/>
              <a:r>
                <a:rPr lang="vi" sz="1420" dirty="0">
                  <a:solidFill>
                    <a:schemeClr val="accent5"/>
                  </a:solidFill>
                  <a:latin typeface="+mn-lt"/>
                  <a:ea typeface="+mn-ea"/>
                  <a:cs typeface="+mn-cs"/>
                </a:rPr>
                <a:t>Đơn vị</a:t>
              </a:r>
            </a:p>
          </p:txBody>
        </p:sp>
        <p:sp>
          <p:nvSpPr>
            <p:cNvPr id="20" name="TextBox 20"/>
            <p:cNvSpPr txBox="1"/>
            <p:nvPr/>
          </p:nvSpPr>
          <p:spPr>
            <a:xfrm>
              <a:off x="3840861" y="3237071"/>
              <a:ext cx="1892517"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SAE feature, một layer</a:t>
              </a:r>
            </a:p>
          </p:txBody>
        </p:sp>
        <p:sp>
          <p:nvSpPr>
            <p:cNvPr id="21" name="TextBox 21"/>
            <p:cNvSpPr txBox="1"/>
            <p:nvPr/>
          </p:nvSpPr>
          <p:spPr>
            <a:xfrm>
              <a:off x="7650861" y="3237071"/>
              <a:ext cx="2556092"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Cross-layer transcoder feature</a:t>
              </a:r>
            </a:p>
          </p:txBody>
        </p:sp>
        <p:sp>
          <p:nvSpPr>
            <p:cNvPr id="22" name="Line 22"/>
            <p:cNvSpPr/>
            <p:nvPr/>
          </p:nvSpPr>
          <p:spPr>
            <a:xfrm>
              <a:off x="609600" y="3524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602361" y="3637121"/>
              <a:ext cx="714821" cy="278702"/>
            </a:xfrm>
            <a:prstGeom prst="rect">
              <a:avLst/>
            </a:prstGeom>
            <a:noFill/>
            <a:ln>
              <a:noFill/>
            </a:ln>
          </p:spPr>
          <p:txBody>
            <a:bodyPr wrap="none" lIns="0" tIns="0" rIns="0" bIns="0" anchor="t" anchorCtr="0">
              <a:spAutoFit/>
            </a:bodyPr>
            <a:lstStyle/>
            <a:p>
              <a:pPr algn="l"/>
              <a:r>
                <a:rPr lang="vi" sz="1420" dirty="0">
                  <a:solidFill>
                    <a:schemeClr val="accent5"/>
                  </a:solidFill>
                  <a:latin typeface="+mn-lt"/>
                  <a:ea typeface="+mn-ea"/>
                  <a:cs typeface="+mn-cs"/>
                </a:rPr>
                <a:t>Phần dư</a:t>
              </a:r>
            </a:p>
          </p:txBody>
        </p:sp>
        <p:sp>
          <p:nvSpPr>
            <p:cNvPr id="24" name="TextBox 24"/>
            <p:cNvSpPr txBox="1"/>
            <p:nvPr/>
          </p:nvSpPr>
          <p:spPr>
            <a:xfrm>
              <a:off x="3840861" y="3637121"/>
              <a:ext cx="2882610"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error node có cạnh vào và cạnh ra</a:t>
              </a:r>
            </a:p>
          </p:txBody>
        </p:sp>
        <p:sp>
          <p:nvSpPr>
            <p:cNvPr id="25" name="TextBox 25"/>
            <p:cNvSpPr txBox="1"/>
            <p:nvPr/>
          </p:nvSpPr>
          <p:spPr>
            <a:xfrm>
              <a:off x="7650861" y="3637121"/>
              <a:ext cx="2610647"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error node chỉ là node đầu vào</a:t>
              </a:r>
            </a:p>
          </p:txBody>
        </p:sp>
        <p:sp>
          <p:nvSpPr>
            <p:cNvPr id="26" name="Line 26"/>
            <p:cNvSpPr/>
            <p:nvPr/>
          </p:nvSpPr>
          <p:spPr>
            <a:xfrm>
              <a:off x="609600" y="3924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7" name="TextBox 27"/>
            <p:cNvSpPr txBox="1"/>
            <p:nvPr/>
          </p:nvSpPr>
          <p:spPr>
            <a:xfrm>
              <a:off x="602361" y="4037171"/>
              <a:ext cx="688153" cy="278702"/>
            </a:xfrm>
            <a:prstGeom prst="rect">
              <a:avLst/>
            </a:prstGeom>
            <a:noFill/>
            <a:ln>
              <a:noFill/>
            </a:ln>
          </p:spPr>
          <p:txBody>
            <a:bodyPr wrap="none" lIns="0" tIns="0" rIns="0" bIns="0" anchor="t" anchorCtr="0">
              <a:spAutoFit/>
            </a:bodyPr>
            <a:lstStyle/>
            <a:p>
              <a:pPr algn="l"/>
              <a:r>
                <a:rPr lang="vi" sz="1420" dirty="0">
                  <a:solidFill>
                    <a:schemeClr val="accent5"/>
                  </a:solidFill>
                  <a:latin typeface="+mn-lt"/>
                  <a:ea typeface="+mn-ea"/>
                  <a:cs typeface="+mn-cs"/>
                </a:rPr>
                <a:t>Phạm vi</a:t>
              </a:r>
            </a:p>
          </p:txBody>
        </p:sp>
        <p:sp>
          <p:nvSpPr>
            <p:cNvPr id="28" name="TextBox 28"/>
            <p:cNvSpPr txBox="1"/>
            <p:nvPr/>
          </p:nvSpPr>
          <p:spPr>
            <a:xfrm>
              <a:off x="3840861" y="4037171"/>
              <a:ext cx="2357722"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trung bình trên một dataset</a:t>
              </a:r>
            </a:p>
          </p:txBody>
        </p:sp>
        <p:sp>
          <p:nvSpPr>
            <p:cNvPr id="29" name="TextBox 29"/>
            <p:cNvSpPr txBox="1"/>
            <p:nvPr/>
          </p:nvSpPr>
          <p:spPr>
            <a:xfrm>
              <a:off x="7650861" y="4037171"/>
              <a:ext cx="1615064"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một prompt cụ thể</a:t>
              </a:r>
            </a:p>
          </p:txBody>
        </p:sp>
        <p:sp>
          <p:nvSpPr>
            <p:cNvPr id="30" name="Line 30"/>
            <p:cNvSpPr/>
            <p:nvPr/>
          </p:nvSpPr>
          <p:spPr>
            <a:xfrm>
              <a:off x="609600" y="43243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1" name="TextBox 31"/>
            <p:cNvSpPr txBox="1"/>
            <p:nvPr/>
          </p:nvSpPr>
          <p:spPr>
            <a:xfrm>
              <a:off x="602361" y="4437221"/>
              <a:ext cx="1020342" cy="278702"/>
            </a:xfrm>
            <a:prstGeom prst="rect">
              <a:avLst/>
            </a:prstGeom>
            <a:noFill/>
            <a:ln>
              <a:noFill/>
            </a:ln>
          </p:spPr>
          <p:txBody>
            <a:bodyPr wrap="none" lIns="0" tIns="0" rIns="0" bIns="0" anchor="t" anchorCtr="0">
              <a:spAutoFit/>
            </a:bodyPr>
            <a:lstStyle/>
            <a:p>
              <a:pPr algn="l"/>
              <a:r>
                <a:rPr lang="vi" sz="1420" dirty="0">
                  <a:solidFill>
                    <a:schemeClr val="accent5"/>
                  </a:solidFill>
                  <a:latin typeface="+mn-lt"/>
                  <a:ea typeface="+mn-ea"/>
                  <a:cs typeface="+mn-cs"/>
                </a:rPr>
                <a:t>Kiểm chứng</a:t>
              </a:r>
            </a:p>
          </p:txBody>
        </p:sp>
        <p:sp>
          <p:nvSpPr>
            <p:cNvPr id="32" name="TextBox 32"/>
            <p:cNvSpPr txBox="1"/>
            <p:nvPr/>
          </p:nvSpPr>
          <p:spPr>
            <a:xfrm>
              <a:off x="3840861" y="4437221"/>
              <a:ext cx="2830708"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faithfulness, completeness, SHIFT</a:t>
              </a:r>
            </a:p>
          </p:txBody>
        </p:sp>
        <p:sp>
          <p:nvSpPr>
            <p:cNvPr id="33" name="TextBox 33"/>
            <p:cNvSpPr txBox="1"/>
            <p:nvPr/>
          </p:nvSpPr>
          <p:spPr>
            <a:xfrm>
              <a:off x="7650861" y="4437221"/>
              <a:ext cx="1865217"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thí nghiệm nhiễu loạn</a:t>
              </a:r>
            </a:p>
          </p:txBody>
        </p:sp>
        <p:sp>
          <p:nvSpPr>
            <p:cNvPr id="34" name="Line 34"/>
            <p:cNvSpPr/>
            <p:nvPr/>
          </p:nvSpPr>
          <p:spPr>
            <a:xfrm>
              <a:off x="609600" y="4724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5" name="TextBox 35"/>
            <p:cNvSpPr txBox="1"/>
            <p:nvPr/>
          </p:nvSpPr>
          <p:spPr>
            <a:xfrm>
              <a:off x="602361" y="4837271"/>
              <a:ext cx="811744" cy="278702"/>
            </a:xfrm>
            <a:prstGeom prst="rect">
              <a:avLst/>
            </a:prstGeom>
            <a:noFill/>
            <a:ln>
              <a:noFill/>
            </a:ln>
          </p:spPr>
          <p:txBody>
            <a:bodyPr wrap="none" lIns="0" tIns="0" rIns="0" bIns="0" anchor="t" anchorCtr="0">
              <a:spAutoFit/>
            </a:bodyPr>
            <a:lstStyle/>
            <a:p>
              <a:pPr algn="l"/>
              <a:r>
                <a:rPr lang="vi" sz="1420" dirty="0">
                  <a:solidFill>
                    <a:schemeClr val="accent5"/>
                  </a:solidFill>
                  <a:latin typeface="+mn-lt"/>
                  <a:ea typeface="+mn-ea"/>
                  <a:cs typeface="+mn-cs"/>
                </a:rPr>
                <a:t>Attention</a:t>
              </a:r>
            </a:p>
          </p:txBody>
        </p:sp>
        <p:sp>
          <p:nvSpPr>
            <p:cNvPr id="36" name="TextBox 36"/>
            <p:cNvSpPr txBox="1"/>
            <p:nvPr/>
          </p:nvSpPr>
          <p:spPr>
            <a:xfrm>
              <a:off x="3840861" y="4837271"/>
              <a:ext cx="2408338"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có SAE cho attention output</a:t>
              </a:r>
            </a:p>
          </p:txBody>
        </p:sp>
        <p:sp>
          <p:nvSpPr>
            <p:cNvPr id="37" name="TextBox 37"/>
            <p:cNvSpPr txBox="1"/>
            <p:nvPr/>
          </p:nvSpPr>
          <p:spPr>
            <a:xfrm>
              <a:off x="7650861" y="4837271"/>
              <a:ext cx="2750588" cy="278702"/>
            </a:xfrm>
            <a:prstGeom prst="rect">
              <a:avLst/>
            </a:prstGeom>
            <a:noFill/>
            <a:ln>
              <a:noFill/>
            </a:ln>
          </p:spPr>
          <p:txBody>
            <a:bodyPr wrap="none" lIns="0" tIns="0" rIns="0" bIns="0" anchor="t" anchorCtr="0">
              <a:spAutoFit/>
            </a:bodyPr>
            <a:lstStyle/>
            <a:p>
              <a:pPr algn="l"/>
              <a:r>
                <a:rPr lang="vi" sz="1420" dirty="0">
                  <a:solidFill>
                    <a:schemeClr val="dk1"/>
                  </a:solidFill>
                  <a:latin typeface="+mn-lt"/>
                  <a:ea typeface="+mn-ea"/>
                  <a:cs typeface="+mn-cs"/>
                </a:rPr>
                <a:t>không giải thích được QK-circuit</a:t>
              </a:r>
            </a:p>
          </p:txBody>
        </p:sp>
        <p:sp>
          <p:nvSpPr>
            <p:cNvPr id="38" name="Line 38"/>
            <p:cNvSpPr/>
            <p:nvPr/>
          </p:nvSpPr>
          <p:spPr>
            <a:xfrm>
              <a:off x="609600" y="51244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41" name="p30-luu-y"/>
          <p:cNvGrpSpPr/>
          <p:nvPr/>
        </p:nvGrpSpPr>
        <p:grpSpPr>
          <a:xfrm>
            <a:off x="602742" y="5321618"/>
            <a:ext cx="9846450" cy="264033"/>
            <a:chOff x="602742" y="5321618"/>
            <a:chExt cx="9846450" cy="264033"/>
          </a:xfrm>
        </p:grpSpPr>
        <p:sp>
          <p:nvSpPr>
            <p:cNvPr id="40" name="TextBox 40"/>
            <p:cNvSpPr txBox="1"/>
            <p:nvPr/>
          </p:nvSpPr>
          <p:spPr>
            <a:xfrm>
              <a:off x="602742" y="5321618"/>
              <a:ext cx="9846450" cy="264033"/>
            </a:xfrm>
            <a:prstGeom prst="rect">
              <a:avLst/>
            </a:prstGeom>
            <a:noFill/>
            <a:ln>
              <a:noFill/>
            </a:ln>
          </p:spPr>
          <p:txBody>
            <a:bodyPr wrap="none" lIns="0" tIns="0" rIns="0" bIns="0" anchor="t" anchorCtr="0">
              <a:spAutoFit/>
            </a:bodyPr>
            <a:lstStyle/>
            <a:p>
              <a:pPr algn="l"/>
              <a:r>
                <a:rPr lang="vi" sz="1350" dirty="0">
                  <a:solidFill>
                    <a:schemeClr val="accent5"/>
                  </a:solidFill>
                  <a:latin typeface="+mn-lt"/>
                  <a:ea typeface="+mn-ea"/>
                  <a:cs typeface="+mn-cs"/>
                </a:rPr>
                <a:t>Bản methods của Anthropic không trích Marks et al., nên gọi đây là hướng kế nhiệm về ý tưởng, không nói là xây trên SFC.</a:t>
              </a:r>
            </a:p>
          </p:txBody>
        </p:sp>
      </p:grpSp>
      <p:grpSp>
        <p:nvGrpSpPr>
          <p:cNvPr id="44" name="p30-weight-sparse"/>
          <p:cNvGrpSpPr/>
          <p:nvPr/>
        </p:nvGrpSpPr>
        <p:grpSpPr>
          <a:xfrm>
            <a:off x="609600" y="5734050"/>
            <a:ext cx="10164413" cy="664845"/>
            <a:chOff x="609600" y="5734050"/>
            <a:chExt cx="10164413" cy="664845"/>
          </a:xfrm>
        </p:grpSpPr>
        <p:sp>
          <p:nvSpPr>
            <p:cNvPr id="42" name="Rectangle 42"/>
            <p:cNvSpPr/>
            <p:nvPr/>
          </p:nvSpPr>
          <p:spPr>
            <a:xfrm>
              <a:off x="609600" y="5734050"/>
              <a:ext cx="76200" cy="590550"/>
            </a:xfrm>
            <a:prstGeom prst="roundRect">
              <a:avLst>
                <a:gd name="adj" fmla="val 50000"/>
              </a:avLst>
            </a:prstGeom>
            <a:solidFill>
              <a:schemeClr val="accent2"/>
            </a:solidFill>
            <a:ln>
              <a:noFill/>
            </a:ln>
          </p:spPr>
        </p:sp>
        <p:sp>
          <p:nvSpPr>
            <p:cNvPr id="43" name="TextBox 43"/>
            <p:cNvSpPr txBox="1"/>
            <p:nvPr/>
          </p:nvSpPr>
          <p:spPr>
            <a:xfrm>
              <a:off x="944880" y="5838825"/>
              <a:ext cx="9829133" cy="560070"/>
            </a:xfrm>
            <a:prstGeom prst="rect">
              <a:avLst/>
            </a:prstGeom>
            <a:noFill/>
            <a:ln>
              <a:noFill/>
            </a:ln>
          </p:spPr>
          <p:txBody>
            <a:bodyPr wrap="none" lIns="0" tIns="0" rIns="0" bIns="0" anchor="t" anchorCtr="0">
              <a:spAutoFit/>
            </a:bodyPr>
            <a:lstStyle/>
            <a:p>
              <a:pPr algn="l">
                <a:lnSpc>
                  <a:spcPts val="2100"/>
                </a:lnSpc>
              </a:pPr>
              <a:r>
                <a:rPr lang="vi" sz="1500" dirty="0">
                  <a:solidFill>
                    <a:schemeClr val="dk1"/>
                  </a:solidFill>
                  <a:latin typeface="+mn-lt"/>
                  <a:ea typeface="+mn-ea"/>
                  <a:cs typeface="+mn-cs"/>
                </a:rPr>
                <a:t>OpenAI 13/11/2025, weight-sparse transformers: ép khoảng 99.9% trọng số về 0 để giảm superposition ngay tại gốc.</a:t>
              </a:r>
              <a:br/>
              <a:r>
                <a:rPr lang="vi" sz="1500" dirty="0">
                  <a:solidFill>
                    <a:schemeClr val="dk1"/>
                  </a:solidFill>
                  <a:latin typeface="+mn-lt"/>
                  <a:ea typeface="+mn-ea"/>
                  <a:cs typeface="+mn-cs"/>
                </a:rPr>
                <a:t>Ở cùng mức pretraining loss, circuit nhỏ hơn khoảng 16 lần. Đánh đổi: thưa hơn thì năng lực kém hơn.</a:t>
              </a:r>
            </a:p>
          </p:txBody>
        </p:sp>
      </p:grpSp>
      <p:sp>
        <p:nvSpPr>
          <p:cNvPr id="45" name="TextBox 45"/>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30</a:t>
            </a:r>
          </a:p>
        </p:txBody>
      </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blob-tr"/>
          <p:cNvSpPr/>
          <p:nvPr/>
        </p:nvSpPr>
        <p:spPr>
          <a:xfrm>
            <a:off x="9525000" y="0"/>
            <a:ext cx="2667000" cy="2457450"/>
          </a:xfrm>
          <a:custGeom>
            <a:avLst/>
            <a:gdLst/>
            <a:ahLst/>
            <a:cxnLst/>
            <a:rect l="l" t="t" r="r" b="b"/>
            <a:pathLst>
              <a:path w="2667000" h="2457450">
                <a:moveTo>
                  <a:pt x="2667000" y="0"/>
                </a:moveTo>
                <a:lnTo>
                  <a:pt x="0" y="0"/>
                </a:lnTo>
                <a:cubicBezTo>
                  <a:pt x="647700" y="266700"/>
                  <a:pt x="933450" y="704850"/>
                  <a:pt x="838200" y="1123950"/>
                </a:cubicBezTo>
                <a:cubicBezTo>
                  <a:pt x="742950" y="1543050"/>
                  <a:pt x="304800" y="1676400"/>
                  <a:pt x="419100" y="2038350"/>
                </a:cubicBezTo>
                <a:cubicBezTo>
                  <a:pt x="552450" y="2457450"/>
                  <a:pt x="1714500" y="2247900"/>
                  <a:pt x="2667000" y="2419350"/>
                </a:cubicBezTo>
                <a:close/>
              </a:path>
            </a:pathLst>
          </a:custGeom>
          <a:solidFill>
            <a:schemeClr val="accent1"/>
          </a:solidFill>
          <a:ln>
            <a:noFill/>
          </a:ln>
        </p:spPr>
      </p:sp>
      <p:sp>
        <p:nvSpPr>
          <p:cNvPr id="3" name="blob-tr-echo"/>
          <p:cNvSpPr/>
          <p:nvPr/>
        </p:nvSpPr>
        <p:spPr>
          <a:xfrm>
            <a:off x="9410700" y="152400"/>
            <a:ext cx="2781300" cy="2476500"/>
          </a:xfrm>
          <a:custGeom>
            <a:avLst/>
            <a:gdLst/>
            <a:ahLst/>
            <a:cxnLst/>
            <a:rect l="l" t="t" r="r" b="b"/>
            <a:pathLst>
              <a:path w="2781300" h="2476500">
                <a:moveTo>
                  <a:pt x="2781300" y="57150"/>
                </a:moveTo>
                <a:lnTo>
                  <a:pt x="0" y="0"/>
                </a:lnTo>
                <a:cubicBezTo>
                  <a:pt x="666750" y="285750"/>
                  <a:pt x="971550" y="723900"/>
                  <a:pt x="876300" y="1143000"/>
                </a:cubicBezTo>
                <a:cubicBezTo>
                  <a:pt x="781050" y="1562100"/>
                  <a:pt x="323850" y="1695450"/>
                  <a:pt x="438150" y="2057400"/>
                </a:cubicBezTo>
                <a:cubicBezTo>
                  <a:pt x="571500" y="2476500"/>
                  <a:pt x="1790700" y="2286000"/>
                  <a:pt x="2781300" y="2476500"/>
                </a:cubicBezTo>
              </a:path>
            </a:pathLst>
          </a:custGeom>
          <a:noFill/>
          <a:ln w="19050">
            <a:solidFill>
              <a:srgbClr val="1B2430"/>
            </a:solidFill>
          </a:ln>
        </p:spPr>
      </p:sp>
      <p:grpSp>
        <p:nvGrpSpPr>
          <p:cNvPr id="6" name="page-head"/>
          <p:cNvGrpSpPr/>
          <p:nvPr/>
        </p:nvGrpSpPr>
        <p:grpSpPr>
          <a:xfrm>
            <a:off x="592836" y="651510"/>
            <a:ext cx="3848883" cy="1028319"/>
            <a:chOff x="592836" y="651510"/>
            <a:chExt cx="3848883" cy="1028319"/>
          </a:xfrm>
        </p:grpSpPr>
        <p:sp>
          <p:nvSpPr>
            <p:cNvPr id="4" name="TextBox 4"/>
            <p:cNvSpPr txBox="1"/>
            <p:nvPr/>
          </p:nvSpPr>
          <p:spPr>
            <a:xfrm>
              <a:off x="603504" y="651510"/>
              <a:ext cx="249534" cy="234696"/>
            </a:xfrm>
            <a:prstGeom prst="rect">
              <a:avLst/>
            </a:prstGeom>
            <a:noFill/>
            <a:ln>
              <a:noFill/>
            </a:ln>
          </p:spPr>
          <p:txBody>
            <a:bodyPr wrap="none" lIns="0" tIns="0" rIns="0" bIns="0" anchor="t" anchorCtr="0">
              <a:spAutoFit/>
            </a:bodyPr>
            <a:lstStyle/>
            <a:p>
              <a:pPr algn="l"/>
              <a:r>
                <a:rPr lang="vi" sz="1200" dirty="0">
                  <a:solidFill>
                    <a:schemeClr val="accent5"/>
                  </a:solidFill>
                  <a:latin typeface="+mn-lt"/>
                  <a:ea typeface="+mn-ea"/>
                  <a:cs typeface="+mn-cs"/>
                </a:rPr>
                <a:t>Kết</a:t>
              </a:r>
            </a:p>
          </p:txBody>
        </p:sp>
        <p:sp>
          <p:nvSpPr>
            <p:cNvPr id="5" name="TextBox 5"/>
            <p:cNvSpPr txBox="1"/>
            <p:nvPr/>
          </p:nvSpPr>
          <p:spPr>
            <a:xfrm>
              <a:off x="592836" y="1034415"/>
              <a:ext cx="3848883" cy="645414"/>
            </a:xfrm>
            <a:prstGeom prst="rect">
              <a:avLst/>
            </a:prstGeom>
            <a:noFill/>
            <a:ln>
              <a:noFill/>
            </a:ln>
          </p:spPr>
          <p:txBody>
            <a:bodyPr wrap="none" lIns="0" tIns="0" rIns="0" bIns="0" anchor="t" anchorCtr="0">
              <a:spAutoFit/>
            </a:bodyPr>
            <a:lstStyle/>
            <a:p>
              <a:pPr algn="l"/>
              <a:r>
                <a:rPr lang="vi" sz="3300" b="1" dirty="0">
                  <a:solidFill>
                    <a:schemeClr val="dk1"/>
                  </a:solidFill>
                  <a:latin typeface="+mn-lt"/>
                  <a:ea typeface="+mn-ea"/>
                  <a:cs typeface="+mn-cs"/>
                </a:rPr>
                <a:t>Ba câu đáng để lại</a:t>
              </a:r>
            </a:p>
          </p:txBody>
        </p:sp>
      </p:grpSp>
      <p:grpSp>
        <p:nvGrpSpPr>
          <p:cNvPr id="9" name="p31-cau-1"/>
          <p:cNvGrpSpPr/>
          <p:nvPr/>
        </p:nvGrpSpPr>
        <p:grpSpPr>
          <a:xfrm>
            <a:off x="598170" y="1966912"/>
            <a:ext cx="9489919" cy="673227"/>
            <a:chOff x="598170" y="1966912"/>
            <a:chExt cx="9489919" cy="673227"/>
          </a:xfrm>
        </p:grpSpPr>
        <p:sp>
          <p:nvSpPr>
            <p:cNvPr id="7" name="TextBox 7"/>
            <p:cNvSpPr txBox="1"/>
            <p:nvPr/>
          </p:nvSpPr>
          <p:spPr>
            <a:xfrm>
              <a:off x="598170" y="1966912"/>
              <a:ext cx="371310" cy="440055"/>
            </a:xfrm>
            <a:prstGeom prst="rect">
              <a:avLst/>
            </a:prstGeom>
            <a:noFill/>
            <a:ln>
              <a:noFill/>
            </a:ln>
          </p:spPr>
          <p:txBody>
            <a:bodyPr wrap="none" lIns="0" tIns="0" rIns="0" bIns="0" anchor="t" anchorCtr="0">
              <a:spAutoFit/>
            </a:bodyPr>
            <a:lstStyle/>
            <a:p>
              <a:pPr algn="l"/>
              <a:r>
                <a:rPr lang="vi" sz="2250" b="1" dirty="0">
                  <a:solidFill>
                    <a:schemeClr val="accent1"/>
                  </a:solidFill>
                  <a:latin typeface="+mn-lt"/>
                  <a:ea typeface="+mn-ea"/>
                  <a:cs typeface="+mn-cs"/>
                </a:rPr>
                <a:t>01</a:t>
              </a:r>
            </a:p>
          </p:txBody>
        </p:sp>
        <p:sp>
          <p:nvSpPr>
            <p:cNvPr id="8" name="TextBox 8"/>
            <p:cNvSpPr txBox="1"/>
            <p:nvPr/>
          </p:nvSpPr>
          <p:spPr>
            <a:xfrm>
              <a:off x="1210818" y="2031682"/>
              <a:ext cx="8877271" cy="608457"/>
            </a:xfrm>
            <a:prstGeom prst="rect">
              <a:avLst/>
            </a:prstGeom>
            <a:noFill/>
            <a:ln>
              <a:noFill/>
            </a:ln>
          </p:spPr>
          <p:txBody>
            <a:bodyPr wrap="none" lIns="0" tIns="0" rIns="0" bIns="0" anchor="t" anchorCtr="0">
              <a:spAutoFit/>
            </a:bodyPr>
            <a:lstStyle/>
            <a:p>
              <a:pPr algn="l">
                <a:lnSpc>
                  <a:spcPts val="2250"/>
                </a:lnSpc>
              </a:pPr>
              <a:r>
                <a:rPr lang="vi" sz="1650" dirty="0">
                  <a:solidFill>
                    <a:schemeClr val="dk1"/>
                  </a:solidFill>
                  <a:latin typeface="+mn-lt"/>
                  <a:ea typeface="+mn-ea"/>
                  <a:cs typeface="+mn-cs"/>
                </a:rPr>
                <a:t>Đóng góp về phương pháp không phải là dùng SAE hay dùng attribution patching, cả hai đã có.</a:t>
              </a:r>
              <a:br/>
              <a:r>
                <a:rPr lang="el-GR" sz="1650" dirty="0">
                  <a:solidFill>
                    <a:schemeClr val="dk1"/>
                  </a:solidFill>
                  <a:latin typeface="+mn-lt"/>
                  <a:ea typeface="+mn-ea"/>
                  <a:cs typeface="+mn-cs"/>
                </a:rPr>
                <a:t>Là ghép chúng lại và giữ phần dư ε làm node, để circuit vừa đọc được vừa trung thực.</a:t>
              </a:r>
            </a:p>
          </p:txBody>
        </p:sp>
      </p:grpSp>
      <p:grpSp>
        <p:nvGrpSpPr>
          <p:cNvPr id="12" name="p31-cau-2"/>
          <p:cNvGrpSpPr/>
          <p:nvPr/>
        </p:nvGrpSpPr>
        <p:grpSpPr>
          <a:xfrm>
            <a:off x="598170" y="3033712"/>
            <a:ext cx="9362974" cy="673227"/>
            <a:chOff x="598170" y="3033712"/>
            <a:chExt cx="9362974" cy="673227"/>
          </a:xfrm>
        </p:grpSpPr>
        <p:sp>
          <p:nvSpPr>
            <p:cNvPr id="10" name="TextBox 10"/>
            <p:cNvSpPr txBox="1"/>
            <p:nvPr/>
          </p:nvSpPr>
          <p:spPr>
            <a:xfrm>
              <a:off x="598170" y="3033712"/>
              <a:ext cx="371310" cy="440055"/>
            </a:xfrm>
            <a:prstGeom prst="rect">
              <a:avLst/>
            </a:prstGeom>
            <a:noFill/>
            <a:ln>
              <a:noFill/>
            </a:ln>
          </p:spPr>
          <p:txBody>
            <a:bodyPr wrap="none" lIns="0" tIns="0" rIns="0" bIns="0" anchor="t" anchorCtr="0">
              <a:spAutoFit/>
            </a:bodyPr>
            <a:lstStyle/>
            <a:p>
              <a:pPr algn="l"/>
              <a:r>
                <a:rPr lang="vi" sz="2250" b="1" dirty="0">
                  <a:solidFill>
                    <a:schemeClr val="accent3"/>
                  </a:solidFill>
                  <a:latin typeface="+mn-lt"/>
                  <a:ea typeface="+mn-ea"/>
                  <a:cs typeface="+mn-cs"/>
                </a:rPr>
                <a:t>02</a:t>
              </a:r>
            </a:p>
          </p:txBody>
        </p:sp>
        <p:sp>
          <p:nvSpPr>
            <p:cNvPr id="11" name="TextBox 11"/>
            <p:cNvSpPr txBox="1"/>
            <p:nvPr/>
          </p:nvSpPr>
          <p:spPr>
            <a:xfrm>
              <a:off x="1210818" y="3098482"/>
              <a:ext cx="8750326" cy="608457"/>
            </a:xfrm>
            <a:prstGeom prst="rect">
              <a:avLst/>
            </a:prstGeom>
            <a:noFill/>
            <a:ln>
              <a:noFill/>
            </a:ln>
          </p:spPr>
          <p:txBody>
            <a:bodyPr wrap="none" lIns="0" tIns="0" rIns="0" bIns="0" anchor="t" anchorCtr="0">
              <a:spAutoFit/>
            </a:bodyPr>
            <a:lstStyle/>
            <a:p>
              <a:pPr algn="l">
                <a:lnSpc>
                  <a:spcPts val="2250"/>
                </a:lnSpc>
              </a:pPr>
              <a:r>
                <a:rPr lang="vi" sz="1650" dirty="0">
                  <a:solidFill>
                    <a:schemeClr val="dk1"/>
                  </a:solidFill>
                  <a:latin typeface="+mn-lt"/>
                  <a:ea typeface="+mn-ea"/>
                  <a:cs typeface="+mn-cs"/>
                </a:rPr>
                <a:t>Phần SHIFT trả lời được câu hỏi khó nhất của interpretability, circuit này dùng được vào việc gì,</a:t>
              </a:r>
              <a:br/>
              <a:r>
                <a:rPr lang="vi" sz="1650" dirty="0">
                  <a:solidFill>
                    <a:schemeClr val="dk1"/>
                  </a:solidFill>
                  <a:latin typeface="+mn-lt"/>
                  <a:ea typeface="+mn-ea"/>
                  <a:cs typeface="+mn-cs"/>
                </a:rPr>
                <a:t xml:space="preserve">bằng một con số </a:t>
              </a:r>
              <a:r>
                <a:rPr lang="vi" sz="1650" b="1" dirty="0">
                  <a:solidFill>
                    <a:schemeClr val="accent1"/>
                  </a:solidFill>
                  <a:latin typeface="+mn-lt"/>
                  <a:ea typeface="+mn-ea"/>
                  <a:cs typeface="+mn-cs"/>
                </a:rPr>
                <a:t>93.1 so với Oracle 93.0</a:t>
              </a:r>
              <a:r>
                <a:rPr lang="vi" sz="1650" dirty="0">
                  <a:solidFill>
                    <a:schemeClr val="dk1"/>
                  </a:solidFill>
                  <a:latin typeface="+mn-lt"/>
                  <a:ea typeface="+mn-ea"/>
                  <a:cs typeface="+mn-cs"/>
                </a:rPr>
                <a:t>, chứ không bằng một hình vẽ đẹp.</a:t>
              </a:r>
            </a:p>
          </p:txBody>
        </p:sp>
      </p:grpSp>
      <p:grpSp>
        <p:nvGrpSpPr>
          <p:cNvPr id="16" name="p31-cau-3"/>
          <p:cNvGrpSpPr/>
          <p:nvPr/>
        </p:nvGrpSpPr>
        <p:grpSpPr>
          <a:xfrm>
            <a:off x="609600" y="4114800"/>
            <a:ext cx="10972800" cy="1199579"/>
            <a:chOff x="609600" y="4114800"/>
            <a:chExt cx="10972800" cy="1199579"/>
          </a:xfrm>
        </p:grpSpPr>
        <p:sp>
          <p:nvSpPr>
            <p:cNvPr id="13" name="Rectangle 13"/>
            <p:cNvSpPr/>
            <p:nvPr/>
          </p:nvSpPr>
          <p:spPr>
            <a:xfrm>
              <a:off x="609600" y="4114800"/>
              <a:ext cx="10972800" cy="1181100"/>
            </a:xfrm>
            <a:prstGeom prst="roundRect">
              <a:avLst>
                <a:gd name="adj" fmla="val 9677"/>
              </a:avLst>
            </a:prstGeom>
            <a:solidFill>
              <a:schemeClr val="lt2"/>
            </a:solidFill>
            <a:ln>
              <a:noFill/>
            </a:ln>
          </p:spPr>
        </p:sp>
        <p:sp>
          <p:nvSpPr>
            <p:cNvPr id="14" name="TextBox 14"/>
            <p:cNvSpPr txBox="1"/>
            <p:nvPr/>
          </p:nvSpPr>
          <p:spPr>
            <a:xfrm>
              <a:off x="941070" y="4252912"/>
              <a:ext cx="371310" cy="440055"/>
            </a:xfrm>
            <a:prstGeom prst="rect">
              <a:avLst/>
            </a:prstGeom>
            <a:noFill/>
            <a:ln>
              <a:noFill/>
            </a:ln>
          </p:spPr>
          <p:txBody>
            <a:bodyPr wrap="none" lIns="0" tIns="0" rIns="0" bIns="0" anchor="t" anchorCtr="0">
              <a:spAutoFit/>
            </a:bodyPr>
            <a:lstStyle/>
            <a:p>
              <a:pPr algn="l"/>
              <a:r>
                <a:rPr lang="vi" sz="2250" b="1" dirty="0">
                  <a:solidFill>
                    <a:srgbClr val="8B5A5F"/>
                  </a:solidFill>
                  <a:latin typeface="+mn-lt"/>
                  <a:ea typeface="+mn-ea"/>
                  <a:cs typeface="+mn-cs"/>
                </a:rPr>
                <a:t>03</a:t>
              </a:r>
            </a:p>
          </p:txBody>
        </p:sp>
        <p:sp>
          <p:nvSpPr>
            <p:cNvPr id="15" name="TextBox 15"/>
            <p:cNvSpPr txBox="1"/>
            <p:nvPr/>
          </p:nvSpPr>
          <p:spPr>
            <a:xfrm>
              <a:off x="1552194" y="4285298"/>
              <a:ext cx="6847993" cy="1029081"/>
            </a:xfrm>
            <a:prstGeom prst="rect">
              <a:avLst/>
            </a:prstGeom>
            <a:noFill/>
            <a:ln>
              <a:noFill/>
            </a:ln>
          </p:spPr>
          <p:txBody>
            <a:bodyPr wrap="none" lIns="0" tIns="0" rIns="0" bIns="0" anchor="t" anchorCtr="0">
              <a:spAutoFit/>
            </a:bodyPr>
            <a:lstStyle/>
            <a:p>
              <a:pPr algn="l">
                <a:lnSpc>
                  <a:spcPts val="2550"/>
                </a:lnSpc>
              </a:pPr>
              <a:r>
                <a:rPr lang="vi" sz="1950" dirty="0">
                  <a:solidFill>
                    <a:schemeClr val="dk1"/>
                  </a:solidFill>
                  <a:latin typeface="+mn-lt"/>
                  <a:ea typeface="+mn-ea"/>
                  <a:cs typeface="+mn-cs"/>
                </a:rPr>
                <a:t>Hai năm sau, SAE đã mất vị trí trung tâm, nhưng bài toán</a:t>
              </a:r>
              <a:br/>
              <a:r>
                <a:rPr lang="vi" sz="1950" dirty="0">
                  <a:solidFill>
                    <a:schemeClr val="dk1"/>
                  </a:solidFill>
                  <a:latin typeface="+mn-lt"/>
                  <a:ea typeface="+mn-ea"/>
                  <a:cs typeface="+mn-cs"/>
                </a:rPr>
                <a:t>mà SFC đặt ra thì không: làm sao gỡ một tín hiệu không mong</a:t>
              </a:r>
              <a:br/>
              <a:r>
                <a:rPr lang="vi" sz="1950" dirty="0">
                  <a:solidFill>
                    <a:schemeClr val="dk1"/>
                  </a:solidFill>
                  <a:latin typeface="+mn-lt"/>
                  <a:ea typeface="+mn-ea"/>
                  <a:cs typeface="+mn-cs"/>
                </a:rPr>
                <a:t>muốn ra khỏi model khi dữ liệu không nói cho bạn biết nó sai.</a:t>
              </a:r>
            </a:p>
          </p:txBody>
        </p:sp>
      </p:grpSp>
      <p:grpSp>
        <p:nvGrpSpPr>
          <p:cNvPr id="19" name="p31-cau-hoi"/>
          <p:cNvGrpSpPr/>
          <p:nvPr/>
        </p:nvGrpSpPr>
        <p:grpSpPr>
          <a:xfrm>
            <a:off x="609600" y="5676900"/>
            <a:ext cx="8440312" cy="664845"/>
            <a:chOff x="609600" y="5676900"/>
            <a:chExt cx="8440312" cy="664845"/>
          </a:xfrm>
        </p:grpSpPr>
        <p:sp>
          <p:nvSpPr>
            <p:cNvPr id="17" name="Rectangle 17"/>
            <p:cNvSpPr/>
            <p:nvPr/>
          </p:nvSpPr>
          <p:spPr>
            <a:xfrm>
              <a:off x="609600" y="5676900"/>
              <a:ext cx="76200" cy="647700"/>
            </a:xfrm>
            <a:prstGeom prst="roundRect">
              <a:avLst>
                <a:gd name="adj" fmla="val 50000"/>
              </a:avLst>
            </a:prstGeom>
            <a:solidFill>
              <a:schemeClr val="accent2"/>
            </a:solidFill>
            <a:ln>
              <a:noFill/>
            </a:ln>
          </p:spPr>
        </p:sp>
        <p:sp>
          <p:nvSpPr>
            <p:cNvPr id="18" name="TextBox 18"/>
            <p:cNvSpPr txBox="1"/>
            <p:nvPr/>
          </p:nvSpPr>
          <p:spPr>
            <a:xfrm>
              <a:off x="944880" y="5781675"/>
              <a:ext cx="8105032" cy="560070"/>
            </a:xfrm>
            <a:prstGeom prst="rect">
              <a:avLst/>
            </a:prstGeom>
            <a:noFill/>
            <a:ln>
              <a:noFill/>
            </a:ln>
          </p:spPr>
          <p:txBody>
            <a:bodyPr wrap="none" lIns="0" tIns="0" rIns="0" bIns="0" anchor="t" anchorCtr="0">
              <a:spAutoFit/>
            </a:bodyPr>
            <a:lstStyle/>
            <a:p>
              <a:pPr algn="l">
                <a:lnSpc>
                  <a:spcPts val="2100"/>
                </a:lnSpc>
              </a:pPr>
              <a:r>
                <a:rPr lang="vi" sz="1500" dirty="0">
                  <a:solidFill>
                    <a:schemeClr val="accent5"/>
                  </a:solidFill>
                  <a:latin typeface="+mn-lt"/>
                  <a:ea typeface="+mn-ea"/>
                  <a:cs typeface="+mn-cs"/>
                </a:rPr>
                <a:t>Câu hỏi thảo luận: nếu bước 2 của SHIFT được thay bằng LLM, và độ tin cậy của thước đo đó sau</a:t>
              </a:r>
              <a:br/>
              <a:r>
                <a:rPr lang="vi" sz="1500" dirty="0">
                  <a:solidFill>
                    <a:schemeClr val="accent5"/>
                  </a:solidFill>
                  <a:latin typeface="+mn-lt"/>
                  <a:ea typeface="+mn-ea"/>
                  <a:cs typeface="+mn-cs"/>
                </a:rPr>
                <a:t>đó bị đặt câu hỏi, thì phán đoán của người còn là nguồn tín hiệu phân định hợp lệ tới đâu?</a:t>
              </a:r>
            </a:p>
          </p:txBody>
        </p:sp>
      </p:grpSp>
      <p:sp>
        <p:nvSpPr>
          <p:cNvPr id="20" name="TextBox 20"/>
          <p:cNvSpPr txBox="1"/>
          <p:nvPr/>
        </p:nvSpPr>
        <p:spPr>
          <a:xfrm>
            <a:off x="11402127" y="6461760"/>
            <a:ext cx="186369" cy="234696"/>
          </a:xfrm>
          <a:prstGeom prst="rect">
            <a:avLst/>
          </a:prstGeom>
          <a:noFill/>
          <a:ln>
            <a:noFill/>
          </a:ln>
        </p:spPr>
        <p:txBody>
          <a:bodyPr wrap="none" lIns="0" tIns="0" rIns="0" bIns="0" anchor="t" anchorCtr="0">
            <a:spAutoFit/>
          </a:bodyPr>
          <a:lstStyle/>
          <a:p>
            <a:pPr algn="r"/>
            <a:r>
              <a:rPr lang="vi" sz="1200" dirty="0">
                <a:solidFill>
                  <a:schemeClr val="accent5"/>
                </a:solidFill>
                <a:latin typeface="+mn-lt"/>
                <a:ea typeface="+mn-ea"/>
                <a:cs typeface="+mn-cs"/>
              </a:rPr>
              <a:t>31</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parse_feature_circuits">
  <a:themeElements>
    <a:clrScheme name="sparse_feature_circuits">
      <a:dk1>
        <a:srgbClr val="4A4A4A"/>
      </a:dk1>
      <a:lt1>
        <a:srgbClr val="FFFFFF"/>
      </a:lt1>
      <a:dk2>
        <a:srgbClr val="1F497D"/>
      </a:dk2>
      <a:lt2>
        <a:srgbClr val="F1F6F7"/>
      </a:lt2>
      <a:accent1>
        <a:srgbClr val="1C6E7E"/>
      </a:accent1>
      <a:accent2>
        <a:srgbClr val="FCD34D"/>
      </a:accent2>
      <a:accent3>
        <a:srgbClr val="3E93A3"/>
      </a:accent3>
      <a:accent4>
        <a:srgbClr val="1C6E7E"/>
      </a:accent4>
      <a:accent5>
        <a:srgbClr val="6E757E"/>
      </a:accent5>
      <a:accent6>
        <a:srgbClr val="E2E6EA"/>
      </a:accent6>
      <a:hlink>
        <a:srgbClr val="FCD34D"/>
      </a:hlink>
      <a:folHlink>
        <a:srgbClr val="3E93A3"/>
      </a:folHlink>
    </a:clrScheme>
    <a:fontScheme name="sparse_feature_circuits">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parse_feature_circui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parse_feature_circuits">
  <a:themeElements>
    <a:clrScheme name="sparse_feature_circuits">
      <a:dk1>
        <a:srgbClr val="4A4A4A"/>
      </a:dk1>
      <a:lt1>
        <a:srgbClr val="FFFFFF"/>
      </a:lt1>
      <a:dk2>
        <a:srgbClr val="1F497D"/>
      </a:dk2>
      <a:lt2>
        <a:srgbClr val="F1F6F7"/>
      </a:lt2>
      <a:accent1>
        <a:srgbClr val="1C6E7E"/>
      </a:accent1>
      <a:accent2>
        <a:srgbClr val="FCD34D"/>
      </a:accent2>
      <a:accent3>
        <a:srgbClr val="3E93A3"/>
      </a:accent3>
      <a:accent4>
        <a:srgbClr val="1C6E7E"/>
      </a:accent4>
      <a:accent5>
        <a:srgbClr val="6E757E"/>
      </a:accent5>
      <a:accent6>
        <a:srgbClr val="E2E6EA"/>
      </a:accent6>
      <a:hlink>
        <a:srgbClr val="FCD34D"/>
      </a:hlink>
      <a:folHlink>
        <a:srgbClr val="3E93A3"/>
      </a:folHlink>
    </a:clrScheme>
    <a:fontScheme name="sparse_feature_circuits">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parse_feature_circui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dc:language>
  <cp:lastModifiedBy/>
  <cp:revision>1</cp:revision>
  <dcterms:created xsi:type="dcterms:W3CDTF">2026-09-19T05:06:48Z</dcterms:created>
  <dcterms:modified xsi:type="dcterms:W3CDTF">2026-09-19T05:06:48Z</dcterms:modified>
  <cp:category/>
  <cp:contentStatus/>
</cp:coreProperties>
</file>