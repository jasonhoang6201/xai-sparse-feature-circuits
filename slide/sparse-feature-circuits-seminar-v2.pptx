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8"/>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16x9"/>
  <p:notesSz cx="6858000" cy="9144000"/>
  <p:defaultTextStyle>
    <a:defPPr>
      <a:defRPr lang="vi"/>
    </a:defPPr>
    <a:lvl1pPr marL="0" algn="l" defTabSz="457200" rtl="0" eaLnBrk="1" latinLnBrk="0" hangingPunct="1">
      <a:defRPr sz="1800" kern="1200" lang="vi">
        <a:solidFill>
          <a:schemeClr val="tx1"/>
        </a:solidFill>
        <a:latin typeface="+mn-lt"/>
        <a:ea typeface="+mn-ea"/>
        <a:cs typeface="+mn-cs"/>
      </a:defRPr>
    </a:lvl1pPr>
    <a:lvl2pPr marL="457200" algn="l" defTabSz="457200" rtl="0" eaLnBrk="1" latinLnBrk="0" hangingPunct="1">
      <a:defRPr sz="1800" kern="1200" lang="vi">
        <a:solidFill>
          <a:schemeClr val="tx1"/>
        </a:solidFill>
        <a:latin typeface="+mn-lt"/>
        <a:ea typeface="+mn-ea"/>
        <a:cs typeface="+mn-cs"/>
      </a:defRPr>
    </a:lvl2pPr>
    <a:lvl3pPr marL="914400" algn="l" defTabSz="457200" rtl="0" eaLnBrk="1" latinLnBrk="0" hangingPunct="1">
      <a:defRPr sz="1800" kern="1200" lang="vi">
        <a:solidFill>
          <a:schemeClr val="tx1"/>
        </a:solidFill>
        <a:latin typeface="+mn-lt"/>
        <a:ea typeface="+mn-ea"/>
        <a:cs typeface="+mn-cs"/>
      </a:defRPr>
    </a:lvl3pPr>
    <a:lvl4pPr marL="1371600" algn="l" defTabSz="457200" rtl="0" eaLnBrk="1" latinLnBrk="0" hangingPunct="1">
      <a:defRPr sz="1800" kern="1200" lang="vi">
        <a:solidFill>
          <a:schemeClr val="tx1"/>
        </a:solidFill>
        <a:latin typeface="+mn-lt"/>
        <a:ea typeface="+mn-ea"/>
        <a:cs typeface="+mn-cs"/>
      </a:defRPr>
    </a:lvl4pPr>
    <a:lvl5pPr marL="1828800" algn="l" defTabSz="457200" rtl="0" eaLnBrk="1" latinLnBrk="0" hangingPunct="1">
      <a:defRPr sz="1800" kern="1200" lang="vi">
        <a:solidFill>
          <a:schemeClr val="tx1"/>
        </a:solidFill>
        <a:latin typeface="+mn-lt"/>
        <a:ea typeface="+mn-ea"/>
        <a:cs typeface="+mn-cs"/>
      </a:defRPr>
    </a:lvl5pPr>
    <a:lvl6pPr marL="2286000" algn="l" defTabSz="457200" rtl="0" eaLnBrk="1" latinLnBrk="0" hangingPunct="1">
      <a:defRPr sz="1800" kern="1200" lang="vi">
        <a:solidFill>
          <a:schemeClr val="tx1"/>
        </a:solidFill>
        <a:latin typeface="+mn-lt"/>
        <a:ea typeface="+mn-ea"/>
        <a:cs typeface="+mn-cs"/>
      </a:defRPr>
    </a:lvl6pPr>
    <a:lvl7pPr marL="2743200" algn="l" defTabSz="457200" rtl="0" eaLnBrk="1" latinLnBrk="0" hangingPunct="1">
      <a:defRPr sz="1800" kern="1200" lang="vi">
        <a:solidFill>
          <a:schemeClr val="tx1"/>
        </a:solidFill>
        <a:latin typeface="+mn-lt"/>
        <a:ea typeface="+mn-ea"/>
        <a:cs typeface="+mn-cs"/>
      </a:defRPr>
    </a:lvl7pPr>
    <a:lvl8pPr marL="3200400" algn="l" defTabSz="457200" rtl="0" eaLnBrk="1" latinLnBrk="0" hangingPunct="1">
      <a:defRPr sz="1800" kern="1200" lang="vi">
        <a:solidFill>
          <a:schemeClr val="tx1"/>
        </a:solidFill>
        <a:latin typeface="+mn-lt"/>
        <a:ea typeface="+mn-ea"/>
        <a:cs typeface="+mn-cs"/>
      </a:defRPr>
    </a:lvl8pPr>
    <a:lvl9pPr marL="3657600" algn="l" defTabSz="457200" rtl="0" eaLnBrk="1" latinLnBrk="0" hangingPunct="1">
      <a:defRPr sz="1800" kern="1200" lang="vi">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
          </a:p>
        </p:txBody>
      </p:sp>
    </p:spTree>
  </p:cSld>
  <p:clrMap bg1="lt1" tx1="dk1" bg2="lt2" tx2="dk2" accent1="accent1" accent2="accent2" accent3="accent3" accent4="accent4" accent5="accent5" accent6="accent6" hlink="hlink" folHlink="folHlink"/>
  <p:hf/>
  <p:notesStyle>
    <a:lvl1pPr marL="0" algn="l">
      <a:defRPr sz="1200" lang="vi"/>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này giải thích một hành vi của language model bằng một graph gồm các feature interpretable. Sau đó paper dùng graph đó để sửa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đi theo 5 phần: vấn đề paper giải quyết, phương pháp, thí nghiệm trên subject-verb agreement, hai ứng dụng (SHIFT và unsupervised circuit discovery), và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đặt ra một mục tiêu và hai thách thức. Mục tiêu là giải thích hành vi của model bằng các thành phần nhỏ mà con người hiểu được (interpretable), và không cần ai đoán trước cơ chế. Thách thức đầu tiên là chọn đơn vị phân tích: neuron thường không interpretable, còn linear classifier thì cần giả thuyết có sẵn. Thách thức thứ hai là có quá nhiều đơn vị, nên phải tìm được circuit với chi phí chấp nhận được. Phần còn lại của bài đi lần lượt qua hai thách thức này.</a:t>
            </a:r>
          </a:p>
          <a:p/>
          <a:p>
            <a:r>
              <a:t>Nguồn: Intro p.1, đoạn 2–3.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Circuit là tập nhỏ các thành phần mà khi thay đổi giá trị của chúng thì hành vi của model thay đổi theo. Các công trình trước tìm circuit theo hai hướng. Hướng thứ nhất lấy đơn vị là cả một attention head hay cả một MLP, ví dụ induction heads của Olsson 2022 hay MLP trong factual recall của Meng 2022. Các đơn vị này polysemantic, tức một đơn vị tham gia nhiều việc khác nhau. Hướng thứ hai dùng đơn vị nhỏ hơn, là hướng tìm bằng linear classifier, ví dụ TCAV của Kim 2018 hay Representation Engineering của Zou 2023. Nhưng muốn train classifier thì phải biết trước mình tìm concept gì, nên hướng này không áp dụng được cho hành vi ta chưa đoán ra.</a:t>
            </a:r>
          </a:p>
          <a:p/>
          <a:p>
            <a:r>
              <a:t>Nguồn: Intro p.1; Related work Section 6 p.10.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Lấy ví dụ 2 chiều nhưng có 3 concept. Mỗi concept được đặt trên một hướng nằm giữa hai trục, nên một trục nhận giá trị từ nhiều concept. Đó là lý do neuron polysemantic. Vậy muốn đọc concept thì phải tìm các hướng đó, và SAE làm việc này.</a:t>
            </a:r>
          </a:p>
          <a:p/>
          <a:p>
            <a:r>
              <a:t>Nguồn: p.1 footnote 1; Section 2 p.2 (trích Elhage 2022). Paper không tự giải thích superposition, chỉ trích dẫn.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SAE là một mạng nhỏ gắn ngoài model, được train trên activation của model đã đóng băng. Encoder biến x thành vector f rất dài nhưng gần như toàn số 0. Decoder ghép lại x̂ bằng tổng các cột vᵢ, mỗi cột nhân với fᵢ. Mỗi cột vᵢ là một feature. Ta không đặt tên feature lúc train. Sau khi train xong, mới xem feature đó kích hoạt mạnh trên đoạn văn nào để gán nhãn. Phần SAE không tái tạo được gọi là ε.</a:t>
            </a:r>
          </a:p>
          <a:p/>
          <a:p>
            <a:r>
              <a:t>Nguồn: Eq. 1 p.2; Section 2 p.3 (ReLU-linear encoder, L2 + L1); Section 4 p.8 (Neuronpedia).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gắn SAE tại ba vị trí trong mỗi layer: output attention, output MLP và residual stream. Ý quan trọng ở đây là paper không bỏ phần error ε mà giữ nó làm một node trong graph. Vì x̂ cộng ε bằng đúng x, các layer sau nhận đúng giá trị như khi chưa gắn SAE. Nhờ vậy, circuit tìm ra là circuit của chính model gốc. Ví dụ dùng xuyên suốt phần sau là câu The boy near the teacher, model phải chọn has hay have.</a:t>
            </a:r>
          </a:p>
          <a:p/>
          <a:p>
            <a:r>
              <a:t>Nguồn: Section 2 p.2–3 (2 bộ SAE, xử lý ε); Section 3.1 p.4 ("nodes correspond to feature activations or SAE errors at particular token positions").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Muốn biết một feature có quan trọng không, ta chạy câu clean, lấy giá trị của feature đó từ câu patch rồi ghi đè vào, và xem m đổi bao nhiêu. Phần chênh lệch đó là indirect effect. Nếu không có câu patch thì đặt feature về 0, gọi là zero-ablation. Lưu ý IE chỉ cho biết feature quan trọng tới mức nào. Còn feature mang nghĩa gì thì gán nhãn như ở slide SAE.</a:t>
            </a:r>
          </a:p>
          <a:p/>
          <a:p>
            <a:r>
              <a:t>Nguồn: Eq. 2 p.3; zero-ablation p.3 cuối Section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Tính đúng IE thì mỗi node cần một lần chạy riêng, mà số node là mọi feature của mọi SAE tại mọi vị trí token. Attribution patching thay phép ghi đè bằng xấp xỉ bậc nhất: lấy gradient nhân với độ chênh lệch giá trị. Chỉ cần 2 forward và 1 backward là có IE xấp xỉ cho mọi node. Nhưng hình 25 cho thấy AtP ước lượng thấp ở MLP layer 0 và residual stream các layer đầu. Integrated gradients lấy trung bình gradient trên 10 điểm, nên sát IE thật hơn và tốn khoảng 10 lần. Tác giả dùng IG khi tính node. Edge thì paper dùng xấp xỉ tuyến tính một bước.</a:t>
            </a:r>
          </a:p>
          <a:p/>
          <a:p>
            <a:r>
              <a:t>Nguồn: Eq. 3–4 p.3; Section 3.1 p.4; App H p.36; repo github.com/saprmarks/feature-circuits, `circuit.py`.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Ghép lại, ta có quy trình 4 bước. Chạy forward để lưu activation, chạy backward để lấy gradient, tính IE xấp xỉ rồi lọc node theo ngưỡng T_N. Sau đó làm tương tự cho edge. IE của edge đo ảnh hưởng của u lên m đi qua d, không tính đường đi qua các node khác. Kết quả là một graph gồm node và edge, chính là sparse feature circuit. Với data theo template, IE được tính riêng ở từng vị trí token. Với data không theo template như SHIFT và unsupervised, IE được cộng qua các vị trí token rồi lấy trung bình theo ví dụ.</a:t>
            </a:r>
          </a:p>
          <a:p/>
          <a:p>
            <a:r>
              <a:t>Nguồn: Figure 2 p.4; Section 3.1 p.4; App A.1–A.2 p.18–19.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thử trên 4 biến thể của subject-verb agreement, khó dần: có relative clause hoặc prepositional phrase chen giữa chủ ngữ và động từ. Đánh giá theo 3 tiêu chí. Interpretability do crowdworker chấm điểm 0 tới 100, và chỉ làm cho Pythia. Faithfulness hỏi: nếu chỉ giữ circuit, còn mọi thứ khác đặt về giá trị trung bình, thì circuit giữ được bao nhiêu phần hành vi; tốt nhất là 1. Completeness hỏi ngược lại: bỏ circuit đi thì phần còn lại của model còn làm được bao nhiêu; tốt nhất là 0. Mọi kết quả được so với neuron circuit, tức là cùng phương pháp nhưng node là neuron và không có ε. Paper đo trên test split và bỏ qua 1/3 đầu của circuit, vì các layer đầu xử lý token cụ thể mà train và test không dùng chung.</a:t>
            </a:r>
          </a:p>
          <a:p/>
          <a:p>
            <a:r>
              <a:t>Nguồn: Table 1 p.5; Section 3.2 p.5–6; footnote 2 p.6 (mean-ablation theo Wang et al. 2023).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Pythia, khoảng 100 node feature đã giải thích phần lớn hành vi, còn neuron cần khoảng 1 500 mới giải thích được một nửa. Ở Gemma là 500 so với 50 000. Con người cũng chấm feature dễ đọc hơn neuron. Chỗ cần lưu ý là các con số này có tính error node, và riêng residual error thì không bỏ được.</a:t>
            </a:r>
          </a:p>
          <a:p/>
          <a:p>
            <a:r>
              <a:t>Nguồn: Section 3.2 p.6; Figure 3 p.5; Table 7 p.33.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circuit thì thấy được cách model làm task. Model phát hiện chủ ngữ là số ít hay số nhiều, phát hiện chỗ bắt đầu mệnh đề phụ, rồi mang thông tin số qua mệnh đề đó tới vị trí động từ. Hai model kích thước khác nhau nhưng dùng cùng một cách. Ngoài ra, circuit across RC trùng nhiều với circuit across PP, nhưng ít trùng với simple và within RC.</a:t>
            </a:r>
          </a:p>
          <a:p/>
          <a:p>
            <a:r>
              <a:t>Nguồn: Section 3.3 p.6; Figure 4 p.7.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ứng dụng thứ nhất. Ta có một classifier đoán nghề, nhưng data train chỉ gồm giáo sư nam và y tá nữ, nên classifier có thể đoán nghề dựa vào giới tính. Không có data nào tách được hai tín hiệu này. SHIFT tìm circuit của classifier bằng zero-ablation với metric m = −log C(y|x), cho người đọc từng feature xem có liên quan tới task không, zero-ablate những feature không liên quan để được classifier mới C′, rồi nếu cần thì train lại riêng linear head trên cùng data. Người làm không cần data có nhãn mới.</a:t>
            </a:r>
          </a:p>
          <a:p/>
          <a:p>
            <a:r>
              <a:t>Nguồn: Section 4 p.7–8.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Pythia, worst-group accuracy tăng từ 24.4 lên 76.0 chỉ nhờ bỏ feature, và lên 89.0 sau khi train lại head, gần bằng oracle train trên data cân bằng. Ablate ngẫu nhiên cùng số feature thì không đổi gì. Làm với neuron thì không được, vì mỗi neuron trộn cả thông tin giới tính lẫn thông tin nghề. Neuron skyline vẫn thua, vì neuron liên quan giới tính cũng mang thông tin về nghề.</a:t>
            </a:r>
          </a:p>
          <a:p/>
          <a:p>
            <a:r>
              <a:t>Nguồn: Table 2 p.8; Section 4 Results p.9.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Ứng dụng thứ hai bỏ bước con người chọn hành vi. Máy tự gom các đoạn văn mà model xử lý giống nhau thành cluster, rồi tìm circuit cho từng cluster. Ví dụ cluster 382 là đoán số tiếp theo trong dãy. Circuit cho thấy model dùng hai cơ chế cho cluster này. Con người vẫn phải gán nhãn feature, và paper chưa có cách đánh giá định lượng cho phần này. Toàn bộ các circuit, chưa gán nhãn, có thể xem tại feature-circuits.xyz.</a:t>
            </a:r>
          </a:p>
          <a:p/>
          <a:p>
            <a:r>
              <a:t>Nguồn: Section 5 p.9–10; App 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tự nêu bốn hạn chế. Ba trong số đó xoay quanh SAE và việc gán nhãn thủ công. Các công trình sau đi tiếp đúng những chỗ này. Chính nhóm tác giả tự động hóa SHIFT bằng LLM. Một số nhóm thay SAE bằng transcoder. Cũng có các bài chỉ ra rằng feature của SAE không phải lúc nào cũng kích hoạt đúng chỗ.</a:t>
            </a:r>
          </a:p>
          <a:p/>
          <a:p>
            <a:r>
              <a:t>Nguồn: Section 8 p.10. Các link đã kiểm:</a:t>
            </a:r>
          </a:p>
          <a:p>
            <a:r>
              <a:t>- https://arxiv.org/abs/2411.18895 (SCR/TPP)</a:t>
            </a:r>
          </a:p>
          <a:p>
            <a:r>
              <a:t>- https://arxiv.org/abs/2406.11944 (transcoders)</a:t>
            </a:r>
          </a:p>
          <a:p>
            <a:r>
              <a:t>- https://transformer-circuits.pub/2025/attribution-graphs/methods.html (Circuit Tracing)</a:t>
            </a:r>
          </a:p>
          <a:p>
            <a:r>
              <a:t>- https://arxiv.org/abs/2409.14507 (feature absorption)</a:t>
            </a:r>
          </a:p>
          <a:p>
            <a:r>
              <a:t>- https://arxiv.org/abs/2502.16681 (sparse probing)</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parse_feature_circuit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vi" smtClean="0"/>
              <a:t>1/27/13</a:t>
            </a:fld>
            <a:endParaRPr lang="vi"/>
          </a:p>
        </p:txBody>
      </p:sp>
      <p:sp>
        <p:nvSpPr>
          <p:cNvPr id="3" name="Footer Placeholder 2"/>
          <p:cNvSpPr>
            <a:spLocks noGrp="1"/>
          </p:cNvSpPr>
          <p:nvPr>
            <p:ph type="ftr" sz="quarter" idx="11"/>
          </p:nvPr>
        </p:nvSpPr>
        <p:spPr/>
        <p:txBody>
          <a:bodyPr/>
          <a:lstStyle/>
          <a:p>
            <a:endParaRPr lang="vi"/>
          </a:p>
        </p:txBody>
      </p:sp>
      <p:sp>
        <p:nvSpPr>
          <p:cNvPr id="4" name="Slide Number Placeholder 3"/>
          <p:cNvSpPr>
            <a:spLocks noGrp="1"/>
          </p:cNvSpPr>
          <p:nvPr>
            <p:ph type="sldNum" sz="quarter" idx="12"/>
          </p:nvPr>
        </p:nvSpPr>
        <p:spPr/>
        <p:txBody>
          <a:bodyPr/>
          <a:lstStyle/>
          <a:p>
            <a:fld id="{C1FF6DA9-008F-8B48-92A6-B652298478BF}" type="slidenum">
              <a:rPr lang="vi" smtClean="0"/>
              <a:t>‹#›</a:t>
            </a:fld>
            <a:endParaRPr lang="vi"/>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parse_feature_circuit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vi">
                <a:solidFill>
                  <a:schemeClr val="tx1">
                    <a:tint val="75000"/>
                  </a:schemeClr>
                </a:solidFill>
              </a:defRPr>
            </a:lvl1pPr>
          </a:lstStyle>
          <a:p>
            <a:fld id="{5BCAD085-E8A6-8845-BD4E-CB4CCA059FC4}" type="datetimeFigureOut">
              <a:rPr lang="vi" smtClean="0"/>
              <a:t>1/27/13</a:t>
            </a:fld>
            <a:endParaRPr lang="vi"/>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vi">
                <a:solidFill>
                  <a:schemeClr val="tx1">
                    <a:tint val="75000"/>
                  </a:schemeClr>
                </a:solidFill>
              </a:defRPr>
            </a:lvl1pPr>
          </a:lstStyle>
          <a:p>
            <a:endParaRPr lang="vi"/>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vi">
                <a:solidFill>
                  <a:schemeClr val="tx1">
                    <a:tint val="75000"/>
                  </a:schemeClr>
                </a:solidFill>
              </a:defRPr>
            </a:lvl1pPr>
          </a:lstStyle>
          <a:p>
            <a:fld id="{C1FF6DA9-008F-8B48-92A6-B652298478BF}" type="slidenum">
              <a:rPr lang="vi" smtClean="0"/>
              <a:t>‹#›</a:t>
            </a:fld>
            <a:endParaRPr lang="vi"/>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vi">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vi">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vi">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vi">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vi">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vi">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vi">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vi">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vi">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vi">
          <a:solidFill>
            <a:schemeClr val="tx1"/>
          </a:solidFill>
          <a:latin typeface="+mn-lt"/>
          <a:ea typeface="+mn-ea"/>
          <a:cs typeface="+mn-cs"/>
        </a:defRPr>
      </a:lvl9pPr>
    </p:bodyStyle>
    <p:otherStyle>
      <a:defPPr>
        <a:defRPr lang="vi"/>
      </a:defPPr>
      <a:lvl1pPr marL="0" algn="l" defTabSz="457200" rtl="0" eaLnBrk="1" latinLnBrk="0" hangingPunct="1">
        <a:defRPr sz="1800" kern="1200" lang="vi">
          <a:solidFill>
            <a:schemeClr val="tx1"/>
          </a:solidFill>
          <a:latin typeface="+mn-lt"/>
          <a:ea typeface="+mn-ea"/>
          <a:cs typeface="+mn-cs"/>
        </a:defRPr>
      </a:lvl1pPr>
      <a:lvl2pPr marL="457200" algn="l" defTabSz="457200" rtl="0" eaLnBrk="1" latinLnBrk="0" hangingPunct="1">
        <a:defRPr sz="1700" kern="1200" lang="vi">
          <a:solidFill>
            <a:schemeClr val="tx1"/>
          </a:solidFill>
          <a:latin typeface="+mn-lt"/>
          <a:ea typeface="+mn-ea"/>
          <a:cs typeface="+mn-cs"/>
        </a:defRPr>
      </a:lvl2pPr>
      <a:lvl3pPr marL="914400" algn="l" defTabSz="457200" rtl="0" eaLnBrk="1" latinLnBrk="0" hangingPunct="1">
        <a:defRPr sz="1600" kern="1200" lang="vi">
          <a:solidFill>
            <a:schemeClr val="tx1"/>
          </a:solidFill>
          <a:latin typeface="+mn-lt"/>
          <a:ea typeface="+mn-ea"/>
          <a:cs typeface="+mn-cs"/>
        </a:defRPr>
      </a:lvl3pPr>
      <a:lvl4pPr marL="1371600" algn="l" defTabSz="457200" rtl="0" eaLnBrk="1" latinLnBrk="0" hangingPunct="1">
        <a:defRPr sz="1450" kern="1200" lang="vi">
          <a:solidFill>
            <a:schemeClr val="tx1"/>
          </a:solidFill>
          <a:latin typeface="+mn-lt"/>
          <a:ea typeface="+mn-ea"/>
          <a:cs typeface="+mn-cs"/>
        </a:defRPr>
      </a:lvl4pPr>
      <a:lvl5pPr marL="1828800" algn="l" defTabSz="457200" rtl="0" eaLnBrk="1" latinLnBrk="0" hangingPunct="1">
        <a:defRPr sz="1350" kern="1200" lang="vi">
          <a:solidFill>
            <a:schemeClr val="tx1"/>
          </a:solidFill>
          <a:latin typeface="+mn-lt"/>
          <a:ea typeface="+mn-ea"/>
          <a:cs typeface="+mn-cs"/>
        </a:defRPr>
      </a:lvl5pPr>
      <a:lvl6pPr marL="2286000" algn="l" defTabSz="457200" rtl="0" eaLnBrk="1" latinLnBrk="0" hangingPunct="1">
        <a:defRPr sz="1250" kern="1200" lang="vi">
          <a:solidFill>
            <a:schemeClr val="tx1"/>
          </a:solidFill>
          <a:latin typeface="+mn-lt"/>
          <a:ea typeface="+mn-ea"/>
          <a:cs typeface="+mn-cs"/>
        </a:defRPr>
      </a:lvl6pPr>
      <a:lvl7pPr marL="2743200" algn="l" defTabSz="457200" rtl="0" eaLnBrk="1" latinLnBrk="0" hangingPunct="1">
        <a:defRPr sz="1100" kern="1200" lang="vi">
          <a:solidFill>
            <a:schemeClr val="tx1"/>
          </a:solidFill>
          <a:latin typeface="+mn-lt"/>
          <a:ea typeface="+mn-ea"/>
          <a:cs typeface="+mn-cs"/>
        </a:defRPr>
      </a:lvl7pPr>
      <a:lvl8pPr marL="3200400" algn="l" defTabSz="457200" rtl="0" eaLnBrk="1" latinLnBrk="0" hangingPunct="1">
        <a:defRPr sz="1000" kern="1200" lang="vi">
          <a:solidFill>
            <a:schemeClr val="tx1"/>
          </a:solidFill>
          <a:latin typeface="+mn-lt"/>
          <a:ea typeface="+mn-ea"/>
          <a:cs typeface="+mn-cs"/>
        </a:defRPr>
      </a:lvl8pPr>
      <a:lvl9pPr marL="3657600" algn="l" defTabSz="457200" rtl="0" eaLnBrk="1" latinLnBrk="0" hangingPunct="1">
        <a:defRPr sz="900" kern="1200" lang="vi">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blob-br-echo"/>
          <p:cNvSpPr/>
          <p:nvPr/>
        </p:nvSpPr>
        <p:spPr>
          <a:xfrm>
            <a:off x="10515600" y="5162550"/>
            <a:ext cx="1676400" cy="1695450"/>
          </a:xfrm>
          <a:custGeom>
            <a:avLst/>
            <a:gdLst/>
            <a:ahLst/>
            <a:cxnLst/>
            <a:rect l="l" t="t" r="r" b="b"/>
            <a:pathLst>
              <a:path w="1676400" h="1695450">
                <a:moveTo>
                  <a:pt x="1676400" y="0"/>
                </a:moveTo>
                <a:cubicBezTo>
                  <a:pt x="1143000" y="152400"/>
                  <a:pt x="1009650" y="552450"/>
                  <a:pt x="666750" y="704850"/>
                </a:cubicBezTo>
                <a:cubicBezTo>
                  <a:pt x="323850" y="857250"/>
                  <a:pt x="57150" y="1200150"/>
                  <a:pt x="0" y="1695450"/>
                </a:cubicBezTo>
              </a:path>
            </a:pathLst>
          </a:custGeom>
          <a:noFill/>
          <a:ln w="19050">
            <a:solidFill>
              <a:srgbClr val="1B2430"/>
            </a:solidFill>
          </a:ln>
        </p:spPr>
      </p:sp>
      <p:sp>
        <p:nvSpPr>
          <p:cNvPr id="4" name="blob-br"/>
          <p:cNvSpPr/>
          <p:nvPr/>
        </p:nvSpPr>
        <p:spPr>
          <a:xfrm>
            <a:off x="10668000" y="5334000"/>
            <a:ext cx="1524000" cy="1524000"/>
          </a:xfrm>
          <a:custGeom>
            <a:avLst/>
            <a:gdLst/>
            <a:ahLst/>
            <a:cxnLst/>
            <a:rect l="l" t="t" r="r" b="b"/>
            <a:pathLst>
              <a:path w="1524000" h="1524000">
                <a:moveTo>
                  <a:pt x="1524000" y="1524000"/>
                </a:moveTo>
                <a:lnTo>
                  <a:pt x="1524000" y="0"/>
                </a:lnTo>
                <a:cubicBezTo>
                  <a:pt x="1028700" y="133350"/>
                  <a:pt x="895350" y="533400"/>
                  <a:pt x="571500" y="666750"/>
                </a:cubicBezTo>
                <a:cubicBezTo>
                  <a:pt x="247650" y="800100"/>
                  <a:pt x="19050" y="1085850"/>
                  <a:pt x="0" y="1524000"/>
                </a:cubicBezTo>
                <a:close/>
              </a:path>
            </a:pathLst>
          </a:custGeom>
          <a:solidFill>
            <a:schemeClr val="accent3"/>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6" name="TextBox 5"/>
          <p:cNvSpPr txBox="1"/>
          <p:nvPr/>
        </p:nvSpPr>
        <p:spPr>
          <a:xfrm>
            <a:off x="621792" y="1325880"/>
            <a:ext cx="8595360" cy="868680"/>
          </a:xfrm>
          <a:prstGeom prst="rect">
            <a:avLst/>
          </a:prstGeom>
          <a:noFill/>
        </p:spPr>
        <p:txBody>
          <a:bodyPr wrap="square" lIns="0" rIns="0" tIns="0" bIns="0" anchor="t">
            <a:noAutofit/>
          </a:bodyPr>
          <a:lstStyle/>
          <a:p>
            <a:pPr algn="l">
              <a:spcAft>
                <a:spcPts val="400"/>
              </a:spcAft>
            </a:pPr>
            <a:r>
              <a:rPr sz="5400" b="1" i="0">
                <a:solidFill>
                  <a:srgbClr val="4A4A4A"/>
                </a:solidFill>
                <a:latin typeface="Arial"/>
              </a:rPr>
              <a:t>Sparse Feature Circuits</a:t>
            </a:r>
          </a:p>
        </p:txBody>
      </p:sp>
      <p:sp>
        <p:nvSpPr>
          <p:cNvPr id="7" name="TextBox 6"/>
          <p:cNvSpPr txBox="1"/>
          <p:nvPr/>
        </p:nvSpPr>
        <p:spPr>
          <a:xfrm>
            <a:off x="640080" y="2240280"/>
            <a:ext cx="7680960" cy="868680"/>
          </a:xfrm>
          <a:prstGeom prst="rect">
            <a:avLst/>
          </a:prstGeom>
          <a:noFill/>
        </p:spPr>
        <p:txBody>
          <a:bodyPr wrap="square" lIns="0" rIns="0" tIns="0" bIns="0" anchor="t">
            <a:noAutofit/>
          </a:bodyPr>
          <a:lstStyle/>
          <a:p>
            <a:pPr algn="l">
              <a:lnSpc>
                <a:spcPct val="105000"/>
              </a:lnSpc>
              <a:spcAft>
                <a:spcPts val="400"/>
              </a:spcAft>
            </a:pPr>
            <a:r>
              <a:rPr sz="2400" b="0" i="0">
                <a:solidFill>
                  <a:srgbClr val="6E757E"/>
                </a:solidFill>
                <a:latin typeface="Arial"/>
              </a:rPr>
              <a:t>Discovering and Editing Interpretable Causal Graphs in Language Models</a:t>
            </a:r>
          </a:p>
        </p:txBody>
      </p:sp>
      <p:sp>
        <p:nvSpPr>
          <p:cNvPr id="8" name="Rectangle 7"/>
          <p:cNvSpPr/>
          <p:nvPr/>
        </p:nvSpPr>
        <p:spPr>
          <a:xfrm>
            <a:off x="640080" y="3429000"/>
            <a:ext cx="1097280" cy="54864"/>
          </a:xfrm>
          <a:prstGeom prst="rect">
            <a:avLst/>
          </a:prstGeom>
          <a:solidFill>
            <a:srgbClr val="1C6E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9" name="TextBox 8"/>
          <p:cNvSpPr txBox="1"/>
          <p:nvPr/>
        </p:nvSpPr>
        <p:spPr>
          <a:xfrm>
            <a:off x="640080" y="3703320"/>
            <a:ext cx="9144000" cy="365760"/>
          </a:xfrm>
          <a:prstGeom prst="rect">
            <a:avLst/>
          </a:prstGeom>
          <a:noFill/>
        </p:spPr>
        <p:txBody>
          <a:bodyPr wrap="square" lIns="0" rIns="0" tIns="0" bIns="0" anchor="t">
            <a:noAutofit/>
          </a:bodyPr>
          <a:lstStyle/>
          <a:p>
            <a:pPr algn="l">
              <a:spcAft>
                <a:spcPts val="400"/>
              </a:spcAft>
            </a:pPr>
            <a:r>
              <a:rPr sz="1700" b="0" i="0">
                <a:solidFill>
                  <a:srgbClr val="4A4A4A"/>
                </a:solidFill>
                <a:latin typeface="Arial"/>
              </a:rPr>
              <a:t>Samuel Marks, Can Rager, Eric J. Michaud, Yonatan Belinkov, David Bau, Aaron Mueller</a:t>
            </a:r>
          </a:p>
        </p:txBody>
      </p:sp>
      <p:sp>
        <p:nvSpPr>
          <p:cNvPr id="10" name="TextBox 9"/>
          <p:cNvSpPr txBox="1"/>
          <p:nvPr/>
        </p:nvSpPr>
        <p:spPr>
          <a:xfrm>
            <a:off x="640080" y="4114800"/>
            <a:ext cx="9144000" cy="320040"/>
          </a:xfrm>
          <a:prstGeom prst="rect">
            <a:avLst/>
          </a:prstGeom>
          <a:noFill/>
        </p:spPr>
        <p:txBody>
          <a:bodyPr wrap="square" lIns="0" rIns="0" tIns="0" bIns="0" anchor="t">
            <a:noAutofit/>
          </a:bodyPr>
          <a:lstStyle/>
          <a:p>
            <a:pPr algn="l">
              <a:spcAft>
                <a:spcPts val="400"/>
              </a:spcAft>
            </a:pPr>
            <a:r>
              <a:rPr sz="1300" b="0" i="0">
                <a:solidFill>
                  <a:srgbClr val="6E757E"/>
                </a:solidFill>
                <a:latin typeface="Arial"/>
              </a:rPr>
              <a:t>ICLR 2025, arXiv 2403.19647</a:t>
            </a:r>
          </a:p>
        </p:txBody>
      </p:sp>
      <p:sp>
        <p:nvSpPr>
          <p:cNvPr id="11" name="TextBox 10"/>
          <p:cNvSpPr txBox="1"/>
          <p:nvPr/>
        </p:nvSpPr>
        <p:spPr>
          <a:xfrm>
            <a:off x="4572000" y="5257800"/>
            <a:ext cx="5669280" cy="822960"/>
          </a:xfrm>
          <a:prstGeom prst="rect">
            <a:avLst/>
          </a:prstGeom>
          <a:noFill/>
        </p:spPr>
        <p:txBody>
          <a:bodyPr wrap="square" lIns="0" rIns="0" tIns="0" bIns="0" anchor="t">
            <a:noAutofit/>
          </a:bodyPr>
          <a:lstStyle/>
          <a:p>
            <a:pPr algn="r">
              <a:spcAft>
                <a:spcPts val="600"/>
              </a:spcAft>
            </a:pPr>
            <a:r>
              <a:rPr sz="1800" b="0" i="0">
                <a:solidFill>
                  <a:srgbClr val="4A4A4A"/>
                </a:solidFill>
                <a:latin typeface="Arial"/>
              </a:rPr>
              <a:t>Lâm Thịnh Phát  </a:t>
            </a:r>
            <a:r>
              <a:rPr sz="1800" b="0" i="0">
                <a:solidFill>
                  <a:srgbClr val="6E757E"/>
                </a:solidFill>
                <a:latin typeface="Arial"/>
              </a:rPr>
              <a:t>25C11058</a:t>
            </a:r>
          </a:p>
          <a:p>
            <a:pPr algn="r">
              <a:spcAft>
                <a:spcPts val="600"/>
              </a:spcAft>
            </a:pPr>
            <a:r>
              <a:rPr sz="1800" b="0" i="0">
                <a:solidFill>
                  <a:srgbClr val="4A4A4A"/>
                </a:solidFill>
                <a:latin typeface="Arial"/>
              </a:rPr>
              <a:t>Hoàng Thiện Nhân  </a:t>
            </a:r>
            <a:r>
              <a:rPr sz="1800" b="0" i="0">
                <a:solidFill>
                  <a:srgbClr val="6E757E"/>
                </a:solidFill>
                <a:latin typeface="Arial"/>
              </a:rPr>
              <a:t>25C11054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Sparse Feature Circuits</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Mục lục</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02</a:t>
            </a:r>
          </a:p>
        </p:txBody>
      </p:sp>
      <p:sp>
        <p:nvSpPr>
          <p:cNvPr id="7" name="Rounded Rectangle 6"/>
          <p:cNvSpPr/>
          <p:nvPr/>
        </p:nvSpPr>
        <p:spPr>
          <a:xfrm>
            <a:off x="609905" y="1783080"/>
            <a:ext cx="10927080" cy="768096"/>
          </a:xfrm>
          <a:prstGeom prst="roundRect">
            <a:avLst>
              <a:gd name="adj" fmla="val 2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8" name="Rounded Rectangle 7"/>
          <p:cNvSpPr/>
          <p:nvPr/>
        </p:nvSpPr>
        <p:spPr>
          <a:xfrm>
            <a:off x="861365" y="1931213"/>
            <a:ext cx="548640" cy="548640"/>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9" name="Rounded Rectangle 8"/>
          <p:cNvSpPr/>
          <p:nvPr/>
        </p:nvSpPr>
        <p:spPr>
          <a:xfrm>
            <a:off x="822960" y="1892808"/>
            <a:ext cx="548640" cy="548640"/>
          </a:xfrm>
          <a:prstGeom prst="roundRect">
            <a:avLst>
              <a:gd name="adj" fmla="val 17000"/>
            </a:avLst>
          </a:prstGeom>
          <a:solidFill>
            <a:srgbClr val="1C6E7E"/>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900" b="1" i="0">
                <a:solidFill>
                  <a:srgbClr val="FFFFFF"/>
                </a:solidFill>
                <a:latin typeface="Arial"/>
              </a:rPr>
              <a:t>01</a:t>
            </a:r>
          </a:p>
        </p:txBody>
      </p:sp>
      <p:sp>
        <p:nvSpPr>
          <p:cNvPr id="10" name="TextBox 9"/>
          <p:cNvSpPr txBox="1"/>
          <p:nvPr/>
        </p:nvSpPr>
        <p:spPr>
          <a:xfrm>
            <a:off x="1691640" y="1783080"/>
            <a:ext cx="9144000" cy="768096"/>
          </a:xfrm>
          <a:prstGeom prst="rect">
            <a:avLst/>
          </a:prstGeom>
          <a:noFill/>
        </p:spPr>
        <p:txBody>
          <a:bodyPr wrap="square" lIns="0" rIns="0" tIns="0" bIns="0" anchor="ctr">
            <a:noAutofit/>
          </a:bodyPr>
          <a:lstStyle/>
          <a:p>
            <a:pPr algn="l">
              <a:spcAft>
                <a:spcPts val="400"/>
              </a:spcAft>
            </a:pPr>
            <a:r>
              <a:rPr sz="2400" b="1" i="0">
                <a:solidFill>
                  <a:srgbClr val="1C6E7E"/>
                </a:solidFill>
                <a:latin typeface="Arial"/>
              </a:rPr>
              <a:t>Vấn đề</a:t>
            </a:r>
          </a:p>
        </p:txBody>
      </p:sp>
      <p:sp>
        <p:nvSpPr>
          <p:cNvPr id="11" name="Rounded Rectangle 10"/>
          <p:cNvSpPr/>
          <p:nvPr/>
        </p:nvSpPr>
        <p:spPr>
          <a:xfrm>
            <a:off x="609905" y="2679192"/>
            <a:ext cx="10927080" cy="768096"/>
          </a:xfrm>
          <a:prstGeom prst="roundRect">
            <a:avLst>
              <a:gd name="adj" fmla="val 2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2" name="Rounded Rectangle 11"/>
          <p:cNvSpPr/>
          <p:nvPr/>
        </p:nvSpPr>
        <p:spPr>
          <a:xfrm>
            <a:off x="861365" y="2827325"/>
            <a:ext cx="548640" cy="548640"/>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Rounded Rectangle 12"/>
          <p:cNvSpPr/>
          <p:nvPr/>
        </p:nvSpPr>
        <p:spPr>
          <a:xfrm>
            <a:off x="822960" y="2788920"/>
            <a:ext cx="548640" cy="548640"/>
          </a:xfrm>
          <a:prstGeom prst="roundRect">
            <a:avLst>
              <a:gd name="adj" fmla="val 17000"/>
            </a:avLst>
          </a:prstGeom>
          <a:solidFill>
            <a:srgbClr val="3E93A3"/>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900" b="1" i="0">
                <a:solidFill>
                  <a:srgbClr val="FFFFFF"/>
                </a:solidFill>
                <a:latin typeface="Arial"/>
              </a:rPr>
              <a:t>02</a:t>
            </a:r>
          </a:p>
        </p:txBody>
      </p:sp>
      <p:sp>
        <p:nvSpPr>
          <p:cNvPr id="14" name="TextBox 13"/>
          <p:cNvSpPr txBox="1"/>
          <p:nvPr/>
        </p:nvSpPr>
        <p:spPr>
          <a:xfrm>
            <a:off x="1691640" y="2679192"/>
            <a:ext cx="9144000" cy="768096"/>
          </a:xfrm>
          <a:prstGeom prst="rect">
            <a:avLst/>
          </a:prstGeom>
          <a:noFill/>
        </p:spPr>
        <p:txBody>
          <a:bodyPr wrap="square" lIns="0" rIns="0" tIns="0" bIns="0" anchor="ctr">
            <a:noAutofit/>
          </a:bodyPr>
          <a:lstStyle/>
          <a:p>
            <a:pPr algn="l">
              <a:spcAft>
                <a:spcPts val="400"/>
              </a:spcAft>
            </a:pPr>
            <a:r>
              <a:rPr sz="2400" b="1" i="0">
                <a:solidFill>
                  <a:srgbClr val="3E93A3"/>
                </a:solidFill>
                <a:latin typeface="Arial"/>
              </a:rPr>
              <a:t>Phương pháp</a:t>
            </a:r>
          </a:p>
        </p:txBody>
      </p:sp>
      <p:sp>
        <p:nvSpPr>
          <p:cNvPr id="15" name="Rounded Rectangle 14"/>
          <p:cNvSpPr/>
          <p:nvPr/>
        </p:nvSpPr>
        <p:spPr>
          <a:xfrm>
            <a:off x="609905" y="3575304"/>
            <a:ext cx="10927080" cy="768096"/>
          </a:xfrm>
          <a:prstGeom prst="roundRect">
            <a:avLst>
              <a:gd name="adj" fmla="val 2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6" name="Rounded Rectangle 15"/>
          <p:cNvSpPr/>
          <p:nvPr/>
        </p:nvSpPr>
        <p:spPr>
          <a:xfrm>
            <a:off x="861365" y="3723437"/>
            <a:ext cx="548640" cy="548640"/>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7" name="Rounded Rectangle 16"/>
          <p:cNvSpPr/>
          <p:nvPr/>
        </p:nvSpPr>
        <p:spPr>
          <a:xfrm>
            <a:off x="822960" y="3685032"/>
            <a:ext cx="548640" cy="548640"/>
          </a:xfrm>
          <a:prstGeom prst="roundRect">
            <a:avLst>
              <a:gd name="adj" fmla="val 17000"/>
            </a:avLst>
          </a:prstGeom>
          <a:solidFill>
            <a:srgbClr val="8B5A5F"/>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900" b="1" i="0">
                <a:solidFill>
                  <a:srgbClr val="FFFFFF"/>
                </a:solidFill>
                <a:latin typeface="Arial"/>
              </a:rPr>
              <a:t>03</a:t>
            </a:r>
          </a:p>
        </p:txBody>
      </p:sp>
      <p:sp>
        <p:nvSpPr>
          <p:cNvPr id="18" name="TextBox 17"/>
          <p:cNvSpPr txBox="1"/>
          <p:nvPr/>
        </p:nvSpPr>
        <p:spPr>
          <a:xfrm>
            <a:off x="1691640" y="3575304"/>
            <a:ext cx="9144000" cy="768096"/>
          </a:xfrm>
          <a:prstGeom prst="rect">
            <a:avLst/>
          </a:prstGeom>
          <a:noFill/>
        </p:spPr>
        <p:txBody>
          <a:bodyPr wrap="square" lIns="0" rIns="0" tIns="0" bIns="0" anchor="ctr">
            <a:noAutofit/>
          </a:bodyPr>
          <a:lstStyle/>
          <a:p>
            <a:pPr algn="l">
              <a:spcAft>
                <a:spcPts val="400"/>
              </a:spcAft>
            </a:pPr>
            <a:r>
              <a:rPr sz="2400" b="1" i="0">
                <a:solidFill>
                  <a:srgbClr val="8B5A5F"/>
                </a:solidFill>
                <a:latin typeface="Arial"/>
              </a:rPr>
              <a:t>Thí nghiệm subject-verb agreement</a:t>
            </a:r>
          </a:p>
        </p:txBody>
      </p:sp>
      <p:sp>
        <p:nvSpPr>
          <p:cNvPr id="19" name="Rounded Rectangle 18"/>
          <p:cNvSpPr/>
          <p:nvPr/>
        </p:nvSpPr>
        <p:spPr>
          <a:xfrm>
            <a:off x="609905" y="4471416"/>
            <a:ext cx="10927080" cy="768096"/>
          </a:xfrm>
          <a:prstGeom prst="roundRect">
            <a:avLst>
              <a:gd name="adj" fmla="val 2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0" name="Rounded Rectangle 19"/>
          <p:cNvSpPr/>
          <p:nvPr/>
        </p:nvSpPr>
        <p:spPr>
          <a:xfrm>
            <a:off x="861365" y="4619549"/>
            <a:ext cx="548640" cy="548640"/>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1" name="Rounded Rectangle 20"/>
          <p:cNvSpPr/>
          <p:nvPr/>
        </p:nvSpPr>
        <p:spPr>
          <a:xfrm>
            <a:off x="822960" y="4581144"/>
            <a:ext cx="548640" cy="548640"/>
          </a:xfrm>
          <a:prstGeom prst="roundRect">
            <a:avLst>
              <a:gd name="adj" fmla="val 17000"/>
            </a:avLst>
          </a:prstGeom>
          <a:solidFill>
            <a:srgbClr val="1C6E7E"/>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900" b="1" i="0">
                <a:solidFill>
                  <a:srgbClr val="FFFFFF"/>
                </a:solidFill>
                <a:latin typeface="Arial"/>
              </a:rPr>
              <a:t>04</a:t>
            </a:r>
          </a:p>
        </p:txBody>
      </p:sp>
      <p:sp>
        <p:nvSpPr>
          <p:cNvPr id="22" name="TextBox 21"/>
          <p:cNvSpPr txBox="1"/>
          <p:nvPr/>
        </p:nvSpPr>
        <p:spPr>
          <a:xfrm>
            <a:off x="1691640" y="4471416"/>
            <a:ext cx="9144000" cy="768096"/>
          </a:xfrm>
          <a:prstGeom prst="rect">
            <a:avLst/>
          </a:prstGeom>
          <a:noFill/>
        </p:spPr>
        <p:txBody>
          <a:bodyPr wrap="square" lIns="0" rIns="0" tIns="0" bIns="0" anchor="ctr">
            <a:noAutofit/>
          </a:bodyPr>
          <a:lstStyle/>
          <a:p>
            <a:pPr algn="l">
              <a:spcAft>
                <a:spcPts val="400"/>
              </a:spcAft>
            </a:pPr>
            <a:r>
              <a:rPr sz="2400" b="1" i="0">
                <a:solidFill>
                  <a:srgbClr val="1C6E7E"/>
                </a:solidFill>
                <a:latin typeface="Arial"/>
              </a:rPr>
              <a:t>Ứng dụng</a:t>
            </a:r>
          </a:p>
        </p:txBody>
      </p:sp>
      <p:sp>
        <p:nvSpPr>
          <p:cNvPr id="23" name="Rounded Rectangle 22"/>
          <p:cNvSpPr/>
          <p:nvPr/>
        </p:nvSpPr>
        <p:spPr>
          <a:xfrm>
            <a:off x="609905" y="5367528"/>
            <a:ext cx="10927080" cy="768096"/>
          </a:xfrm>
          <a:prstGeom prst="roundRect">
            <a:avLst>
              <a:gd name="adj" fmla="val 2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4" name="Rounded Rectangle 23"/>
          <p:cNvSpPr/>
          <p:nvPr/>
        </p:nvSpPr>
        <p:spPr>
          <a:xfrm>
            <a:off x="861365" y="5515661"/>
            <a:ext cx="548640" cy="548640"/>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5" name="Rounded Rectangle 24"/>
          <p:cNvSpPr/>
          <p:nvPr/>
        </p:nvSpPr>
        <p:spPr>
          <a:xfrm>
            <a:off x="822960" y="5477256"/>
            <a:ext cx="548640" cy="548640"/>
          </a:xfrm>
          <a:prstGeom prst="roundRect">
            <a:avLst>
              <a:gd name="adj" fmla="val 17000"/>
            </a:avLst>
          </a:prstGeom>
          <a:solidFill>
            <a:srgbClr val="3E93A3"/>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900" b="1" i="0">
                <a:solidFill>
                  <a:srgbClr val="FFFFFF"/>
                </a:solidFill>
                <a:latin typeface="Arial"/>
              </a:rPr>
              <a:t>05</a:t>
            </a:r>
          </a:p>
        </p:txBody>
      </p:sp>
      <p:sp>
        <p:nvSpPr>
          <p:cNvPr id="26" name="TextBox 25"/>
          <p:cNvSpPr txBox="1"/>
          <p:nvPr/>
        </p:nvSpPr>
        <p:spPr>
          <a:xfrm>
            <a:off x="1691640" y="5367528"/>
            <a:ext cx="9144000" cy="768096"/>
          </a:xfrm>
          <a:prstGeom prst="rect">
            <a:avLst/>
          </a:prstGeom>
          <a:noFill/>
        </p:spPr>
        <p:txBody>
          <a:bodyPr wrap="square" lIns="0" rIns="0" tIns="0" bIns="0" anchor="ctr">
            <a:noAutofit/>
          </a:bodyPr>
          <a:lstStyle/>
          <a:p>
            <a:pPr algn="l">
              <a:spcAft>
                <a:spcPts val="400"/>
              </a:spcAft>
            </a:pPr>
            <a:r>
              <a:rPr sz="2400" b="1" i="0">
                <a:solidFill>
                  <a:srgbClr val="3E93A3"/>
                </a:solidFill>
                <a:latin typeface="Arial"/>
              </a:rPr>
              <a:t>Limitations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1. Vấn đề</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Mục tiêu và thách thức</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03</a:t>
            </a:r>
          </a:p>
        </p:txBody>
      </p:sp>
      <p:sp>
        <p:nvSpPr>
          <p:cNvPr id="7" name="Rounded Rectangle 6"/>
          <p:cNvSpPr/>
          <p:nvPr/>
        </p:nvSpPr>
        <p:spPr>
          <a:xfrm>
            <a:off x="609905" y="1783080"/>
            <a:ext cx="10927080" cy="1005840"/>
          </a:xfrm>
          <a:prstGeom prst="roundRect">
            <a:avLst>
              <a:gd name="adj" fmla="val 15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8" name="TextBox 7"/>
          <p:cNvSpPr txBox="1"/>
          <p:nvPr/>
        </p:nvSpPr>
        <p:spPr>
          <a:xfrm>
            <a:off x="868680" y="1783080"/>
            <a:ext cx="1463040" cy="1005840"/>
          </a:xfrm>
          <a:prstGeom prst="rect">
            <a:avLst/>
          </a:prstGeom>
          <a:noFill/>
        </p:spPr>
        <p:txBody>
          <a:bodyPr wrap="square" lIns="0" rIns="0" tIns="0" bIns="0" anchor="ctr">
            <a:noAutofit/>
          </a:bodyPr>
          <a:lstStyle/>
          <a:p>
            <a:pPr algn="l">
              <a:spcAft>
                <a:spcPts val="400"/>
              </a:spcAft>
            </a:pPr>
            <a:r>
              <a:rPr sz="1900" b="1" i="0">
                <a:solidFill>
                  <a:srgbClr val="1C6E7E"/>
                </a:solidFill>
                <a:latin typeface="Arial"/>
              </a:rPr>
              <a:t>Mục tiêu</a:t>
            </a:r>
          </a:p>
        </p:txBody>
      </p:sp>
      <p:sp>
        <p:nvSpPr>
          <p:cNvPr id="9" name="TextBox 8"/>
          <p:cNvSpPr txBox="1"/>
          <p:nvPr/>
        </p:nvSpPr>
        <p:spPr>
          <a:xfrm>
            <a:off x="2286000" y="1783080"/>
            <a:ext cx="9052560" cy="1005840"/>
          </a:xfrm>
          <a:prstGeom prst="rect">
            <a:avLst/>
          </a:prstGeom>
          <a:noFill/>
        </p:spPr>
        <p:txBody>
          <a:bodyPr wrap="square" lIns="0" rIns="0" tIns="0" bIns="0" anchor="ctr">
            <a:noAutofit/>
          </a:bodyPr>
          <a:lstStyle/>
          <a:p>
            <a:pPr algn="l">
              <a:spcAft>
                <a:spcPts val="400"/>
              </a:spcAft>
            </a:pPr>
            <a:r>
              <a:rPr sz="1900" b="0" i="0">
                <a:solidFill>
                  <a:srgbClr val="4A4A4A"/>
                </a:solidFill>
                <a:latin typeface="Arial"/>
              </a:rPr>
              <a:t>Giải thích hành vi của model bằng các unit </a:t>
            </a:r>
            <a:r>
              <a:rPr sz="1900" b="1" i="0">
                <a:solidFill>
                  <a:srgbClr val="4A4A4A"/>
                </a:solidFill>
                <a:latin typeface="Arial"/>
              </a:rPr>
              <a:t>nhỏ</a:t>
            </a:r>
            <a:r>
              <a:rPr sz="1900" b="0" i="0">
                <a:solidFill>
                  <a:srgbClr val="4A4A4A"/>
                </a:solidFill>
                <a:latin typeface="Arial"/>
              </a:rPr>
              <a:t> và </a:t>
            </a:r>
            <a:r>
              <a:rPr sz="1900" b="1" i="0">
                <a:solidFill>
                  <a:srgbClr val="4A4A4A"/>
                </a:solidFill>
                <a:latin typeface="Arial"/>
              </a:rPr>
              <a:t>interpretable</a:t>
            </a:r>
            <a:r>
              <a:rPr sz="1900" b="0" i="0">
                <a:solidFill>
                  <a:srgbClr val="4A4A4A"/>
                </a:solidFill>
                <a:latin typeface="Arial"/>
              </a:rPr>
              <a:t>, mà không cần đoán trước cơ chế</a:t>
            </a:r>
          </a:p>
        </p:txBody>
      </p:sp>
      <p:sp>
        <p:nvSpPr>
          <p:cNvPr id="10" name="Rounded Rectangle 9"/>
          <p:cNvSpPr/>
          <p:nvPr/>
        </p:nvSpPr>
        <p:spPr>
          <a:xfrm>
            <a:off x="609905" y="3063240"/>
            <a:ext cx="5577840" cy="3108960"/>
          </a:xfrm>
          <a:prstGeom prst="roundRect">
            <a:avLst>
              <a:gd name="adj" fmla="val 6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1" name="TextBox 10"/>
          <p:cNvSpPr txBox="1"/>
          <p:nvPr/>
        </p:nvSpPr>
        <p:spPr>
          <a:xfrm>
            <a:off x="838505" y="3200400"/>
            <a:ext cx="5120640" cy="320040"/>
          </a:xfrm>
          <a:prstGeom prst="rect">
            <a:avLst/>
          </a:prstGeom>
          <a:noFill/>
        </p:spPr>
        <p:txBody>
          <a:bodyPr wrap="square" lIns="0" rIns="0" tIns="0" bIns="0" anchor="t">
            <a:noAutofit/>
          </a:bodyPr>
          <a:lstStyle/>
          <a:p>
            <a:pPr algn="l">
              <a:spcAft>
                <a:spcPts val="400"/>
              </a:spcAft>
            </a:pPr>
            <a:r>
              <a:rPr sz="1400" b="1" i="0">
                <a:solidFill>
                  <a:srgbClr val="6E757E"/>
                </a:solidFill>
                <a:latin typeface="Arial"/>
              </a:rPr>
              <a:t>Thách thức</a:t>
            </a:r>
          </a:p>
        </p:txBody>
      </p:sp>
      <p:sp>
        <p:nvSpPr>
          <p:cNvPr id="12" name="Rounded Rectangle 11"/>
          <p:cNvSpPr/>
          <p:nvPr/>
        </p:nvSpPr>
        <p:spPr>
          <a:xfrm>
            <a:off x="7269480" y="3063240"/>
            <a:ext cx="4270248" cy="3108960"/>
          </a:xfrm>
          <a:prstGeom prst="roundRect">
            <a:avLst>
              <a:gd name="adj" fmla="val 6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TextBox 12"/>
          <p:cNvSpPr txBox="1"/>
          <p:nvPr/>
        </p:nvSpPr>
        <p:spPr>
          <a:xfrm>
            <a:off x="7498080" y="3200400"/>
            <a:ext cx="3813048" cy="320040"/>
          </a:xfrm>
          <a:prstGeom prst="rect">
            <a:avLst/>
          </a:prstGeom>
          <a:noFill/>
        </p:spPr>
        <p:txBody>
          <a:bodyPr wrap="square" lIns="0" rIns="0" tIns="0" bIns="0" anchor="t">
            <a:noAutofit/>
          </a:bodyPr>
          <a:lstStyle/>
          <a:p>
            <a:pPr algn="l">
              <a:spcAft>
                <a:spcPts val="400"/>
              </a:spcAft>
            </a:pPr>
            <a:r>
              <a:rPr sz="1400" b="1" i="0">
                <a:solidFill>
                  <a:srgbClr val="6E757E"/>
                </a:solidFill>
                <a:latin typeface="Arial"/>
              </a:rPr>
              <a:t>Giải pháp của paper</a:t>
            </a:r>
          </a:p>
        </p:txBody>
      </p:sp>
      <p:sp>
        <p:nvSpPr>
          <p:cNvPr id="14" name="Rounded Rectangle 13"/>
          <p:cNvSpPr/>
          <p:nvPr/>
        </p:nvSpPr>
        <p:spPr>
          <a:xfrm>
            <a:off x="822960" y="3703320"/>
            <a:ext cx="5120640" cy="777240"/>
          </a:xfrm>
          <a:prstGeom prst="roundRect">
            <a:avLst>
              <a:gd name="adj" fmla="val 20000"/>
            </a:avLst>
          </a:prstGeom>
          <a:solidFill>
            <a:srgbClr val="FFFFFF"/>
          </a:solidFill>
          <a:ln w="952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5" name="Rounded Rectangle 14"/>
          <p:cNvSpPr/>
          <p:nvPr/>
        </p:nvSpPr>
        <p:spPr>
          <a:xfrm>
            <a:off x="1039124" y="3873764"/>
            <a:ext cx="475488" cy="475488"/>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6" name="Rounded Rectangle 15"/>
          <p:cNvSpPr/>
          <p:nvPr/>
        </p:nvSpPr>
        <p:spPr>
          <a:xfrm>
            <a:off x="1005840" y="3840480"/>
            <a:ext cx="475488" cy="475488"/>
          </a:xfrm>
          <a:prstGeom prst="roundRect">
            <a:avLst>
              <a:gd name="adj" fmla="val 17000"/>
            </a:avLst>
          </a:prstGeom>
          <a:solidFill>
            <a:srgbClr val="1C6E7E"/>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500" b="1" i="0">
                <a:solidFill>
                  <a:srgbClr val="FFFFFF"/>
                </a:solidFill>
                <a:latin typeface="Arial"/>
              </a:rPr>
              <a:t>01</a:t>
            </a:r>
          </a:p>
        </p:txBody>
      </p:sp>
      <p:sp>
        <p:nvSpPr>
          <p:cNvPr id="17" name="TextBox 16"/>
          <p:cNvSpPr txBox="1"/>
          <p:nvPr/>
        </p:nvSpPr>
        <p:spPr>
          <a:xfrm>
            <a:off x="1691640" y="3703320"/>
            <a:ext cx="4114800" cy="777240"/>
          </a:xfrm>
          <a:prstGeom prst="rect">
            <a:avLst/>
          </a:prstGeom>
          <a:noFill/>
        </p:spPr>
        <p:txBody>
          <a:bodyPr wrap="square" lIns="0" rIns="0" tIns="0" bIns="0" anchor="ctr">
            <a:noAutofit/>
          </a:bodyPr>
          <a:lstStyle/>
          <a:p>
            <a:pPr algn="l">
              <a:spcAft>
                <a:spcPts val="400"/>
              </a:spcAft>
            </a:pPr>
            <a:r>
              <a:rPr sz="1900" b="1" i="0">
                <a:solidFill>
                  <a:srgbClr val="1C6E7E"/>
                </a:solidFill>
                <a:latin typeface="Arial"/>
              </a:rPr>
              <a:t>Thách thức 1: chọn unit</a:t>
            </a:r>
          </a:p>
        </p:txBody>
      </p:sp>
      <p:cxnSp>
        <p:nvCxnSpPr>
          <p:cNvPr id="18" name="Connector 17"/>
          <p:cNvCxnSpPr/>
          <p:nvPr/>
        </p:nvCxnSpPr>
        <p:spPr>
          <a:xfrm>
            <a:off x="5989320" y="4087368"/>
            <a:ext cx="1463040" cy="0"/>
          </a:xfrm>
          <a:prstGeom prst="line">
            <a:avLst/>
          </a:prstGeom>
          <a:ln w="22225">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498080" y="3703320"/>
            <a:ext cx="3813048" cy="777240"/>
          </a:xfrm>
          <a:prstGeom prst="roundRect">
            <a:avLst>
              <a:gd name="adj" fmla="val 20000"/>
            </a:avLst>
          </a:prstGeom>
          <a:solidFill>
            <a:srgbClr val="FFFFFF"/>
          </a:solidFill>
          <a:ln w="952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800" b="1" i="0">
                <a:solidFill>
                  <a:srgbClr val="1C6E7E"/>
                </a:solidFill>
                <a:latin typeface="Arial"/>
              </a:rPr>
              <a:t>SAE (dictionary learning)</a:t>
            </a:r>
          </a:p>
        </p:txBody>
      </p:sp>
      <p:sp>
        <p:nvSpPr>
          <p:cNvPr id="20" name="Rounded Rectangle 19"/>
          <p:cNvSpPr/>
          <p:nvPr/>
        </p:nvSpPr>
        <p:spPr>
          <a:xfrm>
            <a:off x="822960" y="5029200"/>
            <a:ext cx="5120640" cy="777240"/>
          </a:xfrm>
          <a:prstGeom prst="roundRect">
            <a:avLst>
              <a:gd name="adj" fmla="val 20000"/>
            </a:avLst>
          </a:prstGeom>
          <a:solidFill>
            <a:srgbClr val="FFFFFF"/>
          </a:solidFill>
          <a:ln w="952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1" name="Rounded Rectangle 20"/>
          <p:cNvSpPr/>
          <p:nvPr/>
        </p:nvSpPr>
        <p:spPr>
          <a:xfrm>
            <a:off x="1039124" y="5199644"/>
            <a:ext cx="475488" cy="475488"/>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2" name="Rounded Rectangle 21"/>
          <p:cNvSpPr/>
          <p:nvPr/>
        </p:nvSpPr>
        <p:spPr>
          <a:xfrm>
            <a:off x="1005840" y="5166360"/>
            <a:ext cx="475488" cy="475488"/>
          </a:xfrm>
          <a:prstGeom prst="roundRect">
            <a:avLst>
              <a:gd name="adj" fmla="val 17000"/>
            </a:avLst>
          </a:prstGeom>
          <a:solidFill>
            <a:srgbClr val="3E93A3"/>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500" b="1" i="0">
                <a:solidFill>
                  <a:srgbClr val="FFFFFF"/>
                </a:solidFill>
                <a:latin typeface="Arial"/>
              </a:rPr>
              <a:t>02</a:t>
            </a:r>
          </a:p>
        </p:txBody>
      </p:sp>
      <p:sp>
        <p:nvSpPr>
          <p:cNvPr id="23" name="TextBox 22"/>
          <p:cNvSpPr txBox="1"/>
          <p:nvPr/>
        </p:nvSpPr>
        <p:spPr>
          <a:xfrm>
            <a:off x="1691640" y="5029200"/>
            <a:ext cx="4114800" cy="777240"/>
          </a:xfrm>
          <a:prstGeom prst="rect">
            <a:avLst/>
          </a:prstGeom>
          <a:noFill/>
        </p:spPr>
        <p:txBody>
          <a:bodyPr wrap="square" lIns="0" rIns="0" tIns="0" bIns="0" anchor="ctr">
            <a:noAutofit/>
          </a:bodyPr>
          <a:lstStyle/>
          <a:p>
            <a:pPr algn="l">
              <a:spcAft>
                <a:spcPts val="400"/>
              </a:spcAft>
            </a:pPr>
            <a:r>
              <a:rPr sz="1900" b="1" i="0">
                <a:solidFill>
                  <a:srgbClr val="3E93A3"/>
                </a:solidFill>
                <a:latin typeface="Arial"/>
              </a:rPr>
              <a:t>Thách thức 2: scalability</a:t>
            </a:r>
          </a:p>
        </p:txBody>
      </p:sp>
      <p:cxnSp>
        <p:nvCxnSpPr>
          <p:cNvPr id="24" name="Connector 23"/>
          <p:cNvCxnSpPr/>
          <p:nvPr/>
        </p:nvCxnSpPr>
        <p:spPr>
          <a:xfrm>
            <a:off x="5989320" y="5413248"/>
            <a:ext cx="1463040" cy="0"/>
          </a:xfrm>
          <a:prstGeom prst="line">
            <a:avLst/>
          </a:prstGeom>
          <a:ln w="22225">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98080" y="5029200"/>
            <a:ext cx="3813048" cy="777240"/>
          </a:xfrm>
          <a:prstGeom prst="roundRect">
            <a:avLst>
              <a:gd name="adj" fmla="val 20000"/>
            </a:avLst>
          </a:prstGeom>
          <a:solidFill>
            <a:srgbClr val="FFFFFF"/>
          </a:solidFill>
          <a:ln w="952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800" b="1" i="0">
                <a:solidFill>
                  <a:srgbClr val="3E93A3"/>
                </a:solidFill>
                <a:latin typeface="Arial"/>
              </a:rPr>
              <a:t>Xấp xỉ tuyến tính: AtP, IG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1. Vấn đề</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Circuit và công trình trước</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04</a:t>
            </a:r>
          </a:p>
        </p:txBody>
      </p:sp>
      <p:cxnSp>
        <p:nvCxnSpPr>
          <p:cNvPr id="7" name="Connector 6"/>
          <p:cNvCxnSpPr/>
          <p:nvPr/>
        </p:nvCxnSpPr>
        <p:spPr>
          <a:xfrm flipV="1">
            <a:off x="2377440" y="4828032"/>
            <a:ext cx="1097280" cy="694944"/>
          </a:xfrm>
          <a:prstGeom prst="line">
            <a:avLst/>
          </a:prstGeom>
          <a:ln w="25400">
            <a:solidFill>
              <a:srgbClr val="1C6E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1280160" y="4828032"/>
            <a:ext cx="1097280" cy="694944"/>
          </a:xfrm>
          <a:prstGeom prst="line">
            <a:avLst/>
          </a:prstGeom>
          <a:ln w="25400">
            <a:solidFill>
              <a:srgbClr val="1C6E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2377440" y="3639312"/>
            <a:ext cx="1097280" cy="694944"/>
          </a:xfrm>
          <a:prstGeom prst="line">
            <a:avLst/>
          </a:prstGeom>
          <a:ln w="25400">
            <a:solidFill>
              <a:srgbClr val="1C6E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280160" y="3639312"/>
            <a:ext cx="1097280" cy="694944"/>
          </a:xfrm>
          <a:prstGeom prst="line">
            <a:avLst/>
          </a:prstGeom>
          <a:ln w="25400">
            <a:solidFill>
              <a:srgbClr val="1C6E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377440" y="2478024"/>
            <a:ext cx="548640" cy="649224"/>
          </a:xfrm>
          <a:prstGeom prst="line">
            <a:avLst/>
          </a:prstGeom>
          <a:ln w="25400">
            <a:solidFill>
              <a:srgbClr val="1C6E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42416" y="5522976"/>
            <a:ext cx="475488" cy="475488"/>
          </a:xfrm>
          <a:prstGeom prst="ellipse">
            <a:avLst/>
          </a:prstGeom>
          <a:solidFill>
            <a:srgbClr val="FFFFFF"/>
          </a:solidFill>
          <a:ln w="1524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Oval 12"/>
          <p:cNvSpPr/>
          <p:nvPr/>
        </p:nvSpPr>
        <p:spPr>
          <a:xfrm>
            <a:off x="2139696" y="5522976"/>
            <a:ext cx="475488" cy="475488"/>
          </a:xfrm>
          <a:prstGeom prst="ellipse">
            <a:avLst/>
          </a:prstGeom>
          <a:solidFill>
            <a:srgbClr val="1C6E7E"/>
          </a:solidFill>
          <a:ln w="15240">
            <a:solidFill>
              <a:srgbClr val="1C6E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4" name="Oval 13"/>
          <p:cNvSpPr/>
          <p:nvPr/>
        </p:nvSpPr>
        <p:spPr>
          <a:xfrm>
            <a:off x="3236976" y="5522976"/>
            <a:ext cx="475488" cy="475488"/>
          </a:xfrm>
          <a:prstGeom prst="ellipse">
            <a:avLst/>
          </a:prstGeom>
          <a:solidFill>
            <a:srgbClr val="FFFFFF"/>
          </a:solidFill>
          <a:ln w="1524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5" name="Oval 14"/>
          <p:cNvSpPr/>
          <p:nvPr/>
        </p:nvSpPr>
        <p:spPr>
          <a:xfrm>
            <a:off x="4334256" y="5522976"/>
            <a:ext cx="475488" cy="475488"/>
          </a:xfrm>
          <a:prstGeom prst="ellipse">
            <a:avLst/>
          </a:prstGeom>
          <a:solidFill>
            <a:srgbClr val="FFFFFF"/>
          </a:solidFill>
          <a:ln w="1524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6" name="Oval 15"/>
          <p:cNvSpPr/>
          <p:nvPr/>
        </p:nvSpPr>
        <p:spPr>
          <a:xfrm>
            <a:off x="1042416" y="4334256"/>
            <a:ext cx="475488" cy="475488"/>
          </a:xfrm>
          <a:prstGeom prst="ellipse">
            <a:avLst/>
          </a:prstGeom>
          <a:solidFill>
            <a:srgbClr val="1C6E7E"/>
          </a:solidFill>
          <a:ln w="15240">
            <a:solidFill>
              <a:srgbClr val="1C6E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7" name="Oval 16"/>
          <p:cNvSpPr/>
          <p:nvPr/>
        </p:nvSpPr>
        <p:spPr>
          <a:xfrm>
            <a:off x="2139696" y="4334256"/>
            <a:ext cx="475488" cy="475488"/>
          </a:xfrm>
          <a:prstGeom prst="ellipse">
            <a:avLst/>
          </a:prstGeom>
          <a:solidFill>
            <a:srgbClr val="FFFFFF"/>
          </a:solidFill>
          <a:ln w="1524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Oval 17"/>
          <p:cNvSpPr/>
          <p:nvPr/>
        </p:nvSpPr>
        <p:spPr>
          <a:xfrm>
            <a:off x="3236976" y="4334256"/>
            <a:ext cx="475488" cy="475488"/>
          </a:xfrm>
          <a:prstGeom prst="ellipse">
            <a:avLst/>
          </a:prstGeom>
          <a:solidFill>
            <a:srgbClr val="1C6E7E"/>
          </a:solidFill>
          <a:ln w="15240">
            <a:solidFill>
              <a:srgbClr val="1C6E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9" name="Oval 18"/>
          <p:cNvSpPr/>
          <p:nvPr/>
        </p:nvSpPr>
        <p:spPr>
          <a:xfrm>
            <a:off x="4334256" y="4334256"/>
            <a:ext cx="475488" cy="475488"/>
          </a:xfrm>
          <a:prstGeom prst="ellipse">
            <a:avLst/>
          </a:prstGeom>
          <a:solidFill>
            <a:srgbClr val="FFFFFF"/>
          </a:solidFill>
          <a:ln w="1524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0" name="Oval 19"/>
          <p:cNvSpPr/>
          <p:nvPr/>
        </p:nvSpPr>
        <p:spPr>
          <a:xfrm>
            <a:off x="1042416" y="3145536"/>
            <a:ext cx="475488" cy="475488"/>
          </a:xfrm>
          <a:prstGeom prst="ellipse">
            <a:avLst/>
          </a:prstGeom>
          <a:solidFill>
            <a:srgbClr val="FFFFFF"/>
          </a:solidFill>
          <a:ln w="1524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1" name="Oval 20"/>
          <p:cNvSpPr/>
          <p:nvPr/>
        </p:nvSpPr>
        <p:spPr>
          <a:xfrm>
            <a:off x="2139696" y="3145536"/>
            <a:ext cx="475488" cy="475488"/>
          </a:xfrm>
          <a:prstGeom prst="ellipse">
            <a:avLst/>
          </a:prstGeom>
          <a:solidFill>
            <a:srgbClr val="1C6E7E"/>
          </a:solidFill>
          <a:ln w="15240">
            <a:solidFill>
              <a:srgbClr val="1C6E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2" name="Oval 21"/>
          <p:cNvSpPr/>
          <p:nvPr/>
        </p:nvSpPr>
        <p:spPr>
          <a:xfrm>
            <a:off x="3236976" y="3145536"/>
            <a:ext cx="475488" cy="475488"/>
          </a:xfrm>
          <a:prstGeom prst="ellipse">
            <a:avLst/>
          </a:prstGeom>
          <a:solidFill>
            <a:srgbClr val="FFFFFF"/>
          </a:solidFill>
          <a:ln w="1524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3" name="Oval 22"/>
          <p:cNvSpPr/>
          <p:nvPr/>
        </p:nvSpPr>
        <p:spPr>
          <a:xfrm>
            <a:off x="4334256" y="3145536"/>
            <a:ext cx="475488" cy="475488"/>
          </a:xfrm>
          <a:prstGeom prst="ellipse">
            <a:avLst/>
          </a:prstGeom>
          <a:solidFill>
            <a:srgbClr val="FFFFFF"/>
          </a:solidFill>
          <a:ln w="1524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4" name="Oval 23"/>
          <p:cNvSpPr/>
          <p:nvPr/>
        </p:nvSpPr>
        <p:spPr>
          <a:xfrm>
            <a:off x="2606040" y="1828800"/>
            <a:ext cx="640080" cy="640080"/>
          </a:xfrm>
          <a:prstGeom prst="ellipse">
            <a:avLst/>
          </a:prstGeom>
          <a:solidFill>
            <a:srgbClr val="FFFFFF"/>
          </a:solidFill>
          <a:ln w="1524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0" rIns="0" tIns="36576" bIns="36576" wrap="square">
            <a:noAutofit/>
          </a:bodyPr>
          <a:lstStyle/>
          <a:p>
            <a:pPr algn="ctr"/>
            <a:r>
              <a:rPr sz="1800" b="1" i="0">
                <a:solidFill>
                  <a:srgbClr val="4A4A4A"/>
                </a:solidFill>
                <a:latin typeface="Arial"/>
              </a:rPr>
              <a:t>m</a:t>
            </a:r>
          </a:p>
        </p:txBody>
      </p:sp>
      <p:sp>
        <p:nvSpPr>
          <p:cNvPr id="25" name="TextBox 24"/>
          <p:cNvSpPr txBox="1"/>
          <p:nvPr/>
        </p:nvSpPr>
        <p:spPr>
          <a:xfrm>
            <a:off x="228600" y="5623560"/>
            <a:ext cx="685800" cy="274320"/>
          </a:xfrm>
          <a:prstGeom prst="rect">
            <a:avLst/>
          </a:prstGeom>
          <a:noFill/>
        </p:spPr>
        <p:txBody>
          <a:bodyPr wrap="square" lIns="0" rIns="0" tIns="0" bIns="0" anchor="t">
            <a:noAutofit/>
          </a:bodyPr>
          <a:lstStyle/>
          <a:p>
            <a:pPr algn="r">
              <a:spcAft>
                <a:spcPts val="400"/>
              </a:spcAft>
            </a:pPr>
            <a:r>
              <a:rPr sz="1200" b="0" i="0">
                <a:solidFill>
                  <a:srgbClr val="6E757E"/>
                </a:solidFill>
                <a:latin typeface="Arial"/>
              </a:rPr>
              <a:t>layer 0</a:t>
            </a:r>
          </a:p>
        </p:txBody>
      </p:sp>
      <p:sp>
        <p:nvSpPr>
          <p:cNvPr id="26" name="TextBox 25"/>
          <p:cNvSpPr txBox="1"/>
          <p:nvPr/>
        </p:nvSpPr>
        <p:spPr>
          <a:xfrm>
            <a:off x="228600" y="4434840"/>
            <a:ext cx="685800" cy="274320"/>
          </a:xfrm>
          <a:prstGeom prst="rect">
            <a:avLst/>
          </a:prstGeom>
          <a:noFill/>
        </p:spPr>
        <p:txBody>
          <a:bodyPr wrap="square" lIns="0" rIns="0" tIns="0" bIns="0" anchor="t">
            <a:noAutofit/>
          </a:bodyPr>
          <a:lstStyle/>
          <a:p>
            <a:pPr algn="r">
              <a:spcAft>
                <a:spcPts val="400"/>
              </a:spcAft>
            </a:pPr>
            <a:r>
              <a:rPr sz="1200" b="0" i="0">
                <a:solidFill>
                  <a:srgbClr val="6E757E"/>
                </a:solidFill>
                <a:latin typeface="Arial"/>
              </a:rPr>
              <a:t>layer 1</a:t>
            </a:r>
          </a:p>
        </p:txBody>
      </p:sp>
      <p:sp>
        <p:nvSpPr>
          <p:cNvPr id="27" name="TextBox 26"/>
          <p:cNvSpPr txBox="1"/>
          <p:nvPr/>
        </p:nvSpPr>
        <p:spPr>
          <a:xfrm>
            <a:off x="228600" y="3246120"/>
            <a:ext cx="685800" cy="274320"/>
          </a:xfrm>
          <a:prstGeom prst="rect">
            <a:avLst/>
          </a:prstGeom>
          <a:noFill/>
        </p:spPr>
        <p:txBody>
          <a:bodyPr wrap="square" lIns="0" rIns="0" tIns="0" bIns="0" anchor="t">
            <a:noAutofit/>
          </a:bodyPr>
          <a:lstStyle/>
          <a:p>
            <a:pPr algn="r">
              <a:spcAft>
                <a:spcPts val="400"/>
              </a:spcAft>
            </a:pPr>
            <a:r>
              <a:rPr sz="1200" b="0" i="0">
                <a:solidFill>
                  <a:srgbClr val="6E757E"/>
                </a:solidFill>
                <a:latin typeface="Arial"/>
              </a:rPr>
              <a:t>layer 2</a:t>
            </a:r>
          </a:p>
        </p:txBody>
      </p:sp>
      <p:sp>
        <p:nvSpPr>
          <p:cNvPr id="28" name="Rounded Rectangle 27"/>
          <p:cNvSpPr/>
          <p:nvPr/>
        </p:nvSpPr>
        <p:spPr>
          <a:xfrm>
            <a:off x="5486400" y="1783080"/>
            <a:ext cx="6053328" cy="2103120"/>
          </a:xfrm>
          <a:prstGeom prst="roundRect">
            <a:avLst>
              <a:gd name="adj" fmla="val 7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9" name="TextBox 28"/>
          <p:cNvSpPr txBox="1"/>
          <p:nvPr/>
        </p:nvSpPr>
        <p:spPr>
          <a:xfrm>
            <a:off x="5715000" y="1874520"/>
            <a:ext cx="5623560" cy="384048"/>
          </a:xfrm>
          <a:prstGeom prst="rect">
            <a:avLst/>
          </a:prstGeom>
          <a:noFill/>
        </p:spPr>
        <p:txBody>
          <a:bodyPr wrap="square" lIns="0" rIns="0" tIns="0" bIns="0" anchor="ctr">
            <a:noAutofit/>
          </a:bodyPr>
          <a:lstStyle/>
          <a:p>
            <a:pPr algn="l">
              <a:spcAft>
                <a:spcPts val="400"/>
              </a:spcAft>
            </a:pPr>
            <a:r>
              <a:rPr sz="1800" b="1" i="0">
                <a:solidFill>
                  <a:srgbClr val="1C6E7E"/>
                </a:solidFill>
                <a:latin typeface="Arial"/>
              </a:rPr>
              <a:t>Coarse-grained unit: attention head, cả MLP</a:t>
            </a:r>
          </a:p>
        </p:txBody>
      </p:sp>
      <p:sp>
        <p:nvSpPr>
          <p:cNvPr id="30" name="Rounded Rectangle 29"/>
          <p:cNvSpPr/>
          <p:nvPr/>
        </p:nvSpPr>
        <p:spPr>
          <a:xfrm>
            <a:off x="5715000" y="2331720"/>
            <a:ext cx="5596128" cy="457200"/>
          </a:xfrm>
          <a:prstGeom prst="roundRect">
            <a:avLst>
              <a:gd name="adj" fmla="val 20000"/>
            </a:avLst>
          </a:prstGeom>
          <a:solidFill>
            <a:srgbClr val="FFFFFF"/>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1" name="TextBox 30"/>
          <p:cNvSpPr txBox="1"/>
          <p:nvPr/>
        </p:nvSpPr>
        <p:spPr>
          <a:xfrm>
            <a:off x="5852160" y="2331720"/>
            <a:ext cx="5321808" cy="457200"/>
          </a:xfrm>
          <a:prstGeom prst="rect">
            <a:avLst/>
          </a:prstGeom>
          <a:noFill/>
        </p:spPr>
        <p:txBody>
          <a:bodyPr wrap="square" lIns="0" rIns="0" tIns="0" bIns="0" anchor="ctr">
            <a:noAutofit/>
          </a:bodyPr>
          <a:lstStyle/>
          <a:p>
            <a:pPr algn="l">
              <a:spcAft>
                <a:spcPts val="0"/>
              </a:spcAft>
            </a:pPr>
            <a:r>
              <a:rPr sz="1100" b="0" i="1">
                <a:solidFill>
                  <a:srgbClr val="4A4A4A"/>
                </a:solidFill>
                <a:latin typeface="Arial"/>
              </a:rPr>
              <a:t>In-context Learning and Induction Heads</a:t>
            </a:r>
          </a:p>
          <a:p>
            <a:pPr algn="l">
              <a:spcAft>
                <a:spcPts val="0"/>
              </a:spcAft>
            </a:pPr>
            <a:r>
              <a:rPr sz="1000" b="0" i="0">
                <a:solidFill>
                  <a:srgbClr val="1C6E7E"/>
                </a:solidFill>
                <a:latin typeface="Arial"/>
              </a:rPr>
              <a:t>Olsson et al.  |  Transformer Circuits Thread 2022</a:t>
            </a:r>
          </a:p>
        </p:txBody>
      </p:sp>
      <p:sp>
        <p:nvSpPr>
          <p:cNvPr id="32" name="Rounded Rectangle 31"/>
          <p:cNvSpPr/>
          <p:nvPr/>
        </p:nvSpPr>
        <p:spPr>
          <a:xfrm>
            <a:off x="5715000" y="2852928"/>
            <a:ext cx="5596128" cy="457200"/>
          </a:xfrm>
          <a:prstGeom prst="roundRect">
            <a:avLst>
              <a:gd name="adj" fmla="val 20000"/>
            </a:avLst>
          </a:prstGeom>
          <a:solidFill>
            <a:srgbClr val="FFFFFF"/>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3" name="TextBox 32"/>
          <p:cNvSpPr txBox="1"/>
          <p:nvPr/>
        </p:nvSpPr>
        <p:spPr>
          <a:xfrm>
            <a:off x="5852160" y="2852928"/>
            <a:ext cx="5321808" cy="457200"/>
          </a:xfrm>
          <a:prstGeom prst="rect">
            <a:avLst/>
          </a:prstGeom>
          <a:noFill/>
        </p:spPr>
        <p:txBody>
          <a:bodyPr wrap="square" lIns="0" rIns="0" tIns="0" bIns="0" anchor="ctr">
            <a:noAutofit/>
          </a:bodyPr>
          <a:lstStyle/>
          <a:p>
            <a:pPr algn="l">
              <a:spcAft>
                <a:spcPts val="0"/>
              </a:spcAft>
            </a:pPr>
            <a:r>
              <a:rPr sz="1100" b="0" i="1">
                <a:solidFill>
                  <a:srgbClr val="4A4A4A"/>
                </a:solidFill>
                <a:latin typeface="Arial"/>
              </a:rPr>
              <a:t>Locating and Editing Factual Associations in GPT</a:t>
            </a:r>
          </a:p>
          <a:p>
            <a:pPr algn="l">
              <a:spcAft>
                <a:spcPts val="0"/>
              </a:spcAft>
            </a:pPr>
            <a:r>
              <a:rPr sz="1000" b="0" i="0">
                <a:solidFill>
                  <a:srgbClr val="1C6E7E"/>
                </a:solidFill>
                <a:latin typeface="Arial"/>
              </a:rPr>
              <a:t>Meng et al.  |  NeurIPS 2022</a:t>
            </a:r>
          </a:p>
        </p:txBody>
      </p:sp>
      <p:sp>
        <p:nvSpPr>
          <p:cNvPr id="34" name="Rounded Rectangle 33"/>
          <p:cNvSpPr/>
          <p:nvPr/>
        </p:nvSpPr>
        <p:spPr>
          <a:xfrm>
            <a:off x="5715000" y="3410712"/>
            <a:ext cx="5596128" cy="384048"/>
          </a:xfrm>
          <a:prstGeom prst="roundRect">
            <a:avLst>
              <a:gd name="adj" fmla="val 30000"/>
            </a:avLst>
          </a:prstGeom>
          <a:solidFill>
            <a:srgbClr val="F3E8E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5" name="TextBox 34"/>
          <p:cNvSpPr txBox="1"/>
          <p:nvPr/>
        </p:nvSpPr>
        <p:spPr>
          <a:xfrm>
            <a:off x="5870448" y="3410712"/>
            <a:ext cx="5349240" cy="384048"/>
          </a:xfrm>
          <a:prstGeom prst="rect">
            <a:avLst/>
          </a:prstGeom>
          <a:noFill/>
        </p:spPr>
        <p:txBody>
          <a:bodyPr wrap="square" lIns="0" rIns="0" tIns="0" bIns="0" anchor="ctr">
            <a:noAutofit/>
          </a:bodyPr>
          <a:lstStyle/>
          <a:p>
            <a:pPr algn="l">
              <a:spcAft>
                <a:spcPts val="400"/>
              </a:spcAft>
            </a:pPr>
            <a:r>
              <a:rPr sz="1300" b="1" i="0">
                <a:solidFill>
                  <a:srgbClr val="8B5A5F"/>
                </a:solidFill>
                <a:latin typeface="Arial"/>
              </a:rPr>
              <a:t>Hạn chế:</a:t>
            </a:r>
            <a:r>
              <a:rPr sz="1300" b="0" i="0">
                <a:solidFill>
                  <a:srgbClr val="4A4A4A"/>
                </a:solidFill>
                <a:latin typeface="Arial"/>
              </a:rPr>
              <a:t> polysemantic, một unit làm nhiều việc nên khó interpret</a:t>
            </a:r>
          </a:p>
        </p:txBody>
      </p:sp>
      <p:sp>
        <p:nvSpPr>
          <p:cNvPr id="36" name="Rounded Rectangle 35"/>
          <p:cNvSpPr/>
          <p:nvPr/>
        </p:nvSpPr>
        <p:spPr>
          <a:xfrm>
            <a:off x="5486400" y="4023360"/>
            <a:ext cx="6053328" cy="2103120"/>
          </a:xfrm>
          <a:prstGeom prst="roundRect">
            <a:avLst>
              <a:gd name="adj" fmla="val 7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7" name="TextBox 36"/>
          <p:cNvSpPr txBox="1"/>
          <p:nvPr/>
        </p:nvSpPr>
        <p:spPr>
          <a:xfrm>
            <a:off x="5715000" y="4114800"/>
            <a:ext cx="5623560" cy="384048"/>
          </a:xfrm>
          <a:prstGeom prst="rect">
            <a:avLst/>
          </a:prstGeom>
          <a:noFill/>
        </p:spPr>
        <p:txBody>
          <a:bodyPr wrap="square" lIns="0" rIns="0" tIns="0" bIns="0" anchor="ctr">
            <a:noAutofit/>
          </a:bodyPr>
          <a:lstStyle/>
          <a:p>
            <a:pPr algn="l">
              <a:spcAft>
                <a:spcPts val="400"/>
              </a:spcAft>
            </a:pPr>
            <a:r>
              <a:rPr sz="1800" b="1" i="0">
                <a:solidFill>
                  <a:srgbClr val="1C6E7E"/>
                </a:solidFill>
                <a:latin typeface="Arial"/>
              </a:rPr>
              <a:t>Fine-grained unit: linear classifier</a:t>
            </a:r>
          </a:p>
        </p:txBody>
      </p:sp>
      <p:sp>
        <p:nvSpPr>
          <p:cNvPr id="38" name="Rounded Rectangle 37"/>
          <p:cNvSpPr/>
          <p:nvPr/>
        </p:nvSpPr>
        <p:spPr>
          <a:xfrm>
            <a:off x="5715000" y="4572000"/>
            <a:ext cx="5596128" cy="457200"/>
          </a:xfrm>
          <a:prstGeom prst="roundRect">
            <a:avLst>
              <a:gd name="adj" fmla="val 20000"/>
            </a:avLst>
          </a:prstGeom>
          <a:solidFill>
            <a:srgbClr val="FFFFFF"/>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9" name="TextBox 38"/>
          <p:cNvSpPr txBox="1"/>
          <p:nvPr/>
        </p:nvSpPr>
        <p:spPr>
          <a:xfrm>
            <a:off x="5852160" y="4572000"/>
            <a:ext cx="5321808" cy="457200"/>
          </a:xfrm>
          <a:prstGeom prst="rect">
            <a:avLst/>
          </a:prstGeom>
          <a:noFill/>
        </p:spPr>
        <p:txBody>
          <a:bodyPr wrap="square" lIns="0" rIns="0" tIns="0" bIns="0" anchor="ctr">
            <a:noAutofit/>
          </a:bodyPr>
          <a:lstStyle/>
          <a:p>
            <a:pPr algn="l">
              <a:spcAft>
                <a:spcPts val="0"/>
              </a:spcAft>
            </a:pPr>
            <a:r>
              <a:rPr sz="1100" b="0" i="1">
                <a:solidFill>
                  <a:srgbClr val="4A4A4A"/>
                </a:solidFill>
                <a:latin typeface="Arial"/>
              </a:rPr>
              <a:t>Testing with Concept Activation Vectors (TCAV)</a:t>
            </a:r>
          </a:p>
          <a:p>
            <a:pPr algn="l">
              <a:spcAft>
                <a:spcPts val="0"/>
              </a:spcAft>
            </a:pPr>
            <a:r>
              <a:rPr sz="1000" b="0" i="0">
                <a:solidFill>
                  <a:srgbClr val="1C6E7E"/>
                </a:solidFill>
                <a:latin typeface="Arial"/>
              </a:rPr>
              <a:t>Kim et al.  |  ICML 2018</a:t>
            </a:r>
          </a:p>
        </p:txBody>
      </p:sp>
      <p:sp>
        <p:nvSpPr>
          <p:cNvPr id="40" name="Rounded Rectangle 39"/>
          <p:cNvSpPr/>
          <p:nvPr/>
        </p:nvSpPr>
        <p:spPr>
          <a:xfrm>
            <a:off x="5715000" y="5093208"/>
            <a:ext cx="5596128" cy="457200"/>
          </a:xfrm>
          <a:prstGeom prst="roundRect">
            <a:avLst>
              <a:gd name="adj" fmla="val 20000"/>
            </a:avLst>
          </a:prstGeom>
          <a:solidFill>
            <a:srgbClr val="FFFFFF"/>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1" name="TextBox 40"/>
          <p:cNvSpPr txBox="1"/>
          <p:nvPr/>
        </p:nvSpPr>
        <p:spPr>
          <a:xfrm>
            <a:off x="5852160" y="5093208"/>
            <a:ext cx="5321808" cy="457200"/>
          </a:xfrm>
          <a:prstGeom prst="rect">
            <a:avLst/>
          </a:prstGeom>
          <a:noFill/>
        </p:spPr>
        <p:txBody>
          <a:bodyPr wrap="square" lIns="0" rIns="0" tIns="0" bIns="0" anchor="ctr">
            <a:noAutofit/>
          </a:bodyPr>
          <a:lstStyle/>
          <a:p>
            <a:pPr algn="l">
              <a:spcAft>
                <a:spcPts val="0"/>
              </a:spcAft>
            </a:pPr>
            <a:r>
              <a:rPr sz="1100" b="0" i="1">
                <a:solidFill>
                  <a:srgbClr val="4A4A4A"/>
                </a:solidFill>
                <a:latin typeface="Arial"/>
              </a:rPr>
              <a:t>Representation Engineering: A Top-Down Approach to AI Transparency</a:t>
            </a:r>
          </a:p>
          <a:p>
            <a:pPr algn="l">
              <a:spcAft>
                <a:spcPts val="0"/>
              </a:spcAft>
            </a:pPr>
            <a:r>
              <a:rPr sz="1000" b="0" i="0">
                <a:solidFill>
                  <a:srgbClr val="1C6E7E"/>
                </a:solidFill>
                <a:latin typeface="Arial"/>
              </a:rPr>
              <a:t>Zou et al.  |  arXiv preprint 2023</a:t>
            </a:r>
          </a:p>
        </p:txBody>
      </p:sp>
      <p:sp>
        <p:nvSpPr>
          <p:cNvPr id="42" name="Rounded Rectangle 41"/>
          <p:cNvSpPr/>
          <p:nvPr/>
        </p:nvSpPr>
        <p:spPr>
          <a:xfrm>
            <a:off x="5715000" y="5650992"/>
            <a:ext cx="5596128" cy="384048"/>
          </a:xfrm>
          <a:prstGeom prst="roundRect">
            <a:avLst>
              <a:gd name="adj" fmla="val 30000"/>
            </a:avLst>
          </a:prstGeom>
          <a:solidFill>
            <a:srgbClr val="F3E8E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3" name="TextBox 42"/>
          <p:cNvSpPr txBox="1"/>
          <p:nvPr/>
        </p:nvSpPr>
        <p:spPr>
          <a:xfrm>
            <a:off x="5870448" y="5650992"/>
            <a:ext cx="5349240" cy="384048"/>
          </a:xfrm>
          <a:prstGeom prst="rect">
            <a:avLst/>
          </a:prstGeom>
          <a:noFill/>
        </p:spPr>
        <p:txBody>
          <a:bodyPr wrap="square" lIns="0" rIns="0" tIns="0" bIns="0" anchor="ctr">
            <a:noAutofit/>
          </a:bodyPr>
          <a:lstStyle/>
          <a:p>
            <a:pPr algn="l">
              <a:spcAft>
                <a:spcPts val="400"/>
              </a:spcAft>
            </a:pPr>
            <a:r>
              <a:rPr sz="1300" b="1" i="0">
                <a:solidFill>
                  <a:srgbClr val="8B5A5F"/>
                </a:solidFill>
                <a:latin typeface="Arial"/>
              </a:rPr>
              <a:t>Hạn chế:</a:t>
            </a:r>
            <a:r>
              <a:rPr sz="1300" b="0" i="0">
                <a:solidFill>
                  <a:srgbClr val="4A4A4A"/>
                </a:solidFill>
                <a:latin typeface="Arial"/>
              </a:rPr>
              <a:t> phải có giả thuyết và data gắn label từ trước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1. Vấn đề</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Polysemantic và superposition</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05</a:t>
            </a:r>
          </a:p>
        </p:txBody>
      </p:sp>
      <p:cxnSp>
        <p:nvCxnSpPr>
          <p:cNvPr id="7" name="Connector 6"/>
          <p:cNvCxnSpPr/>
          <p:nvPr/>
        </p:nvCxnSpPr>
        <p:spPr>
          <a:xfrm>
            <a:off x="822960" y="4069080"/>
            <a:ext cx="4206240" cy="0"/>
          </a:xfrm>
          <a:prstGeom prst="line">
            <a:avLst/>
          </a:prstGeom>
          <a:ln w="12700">
            <a:solidFill>
              <a:srgbClr val="6E75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926080" y="1965960"/>
            <a:ext cx="0" cy="4101084"/>
          </a:xfrm>
          <a:prstGeom prst="line">
            <a:avLst/>
          </a:prstGeom>
          <a:ln w="12700">
            <a:solidFill>
              <a:srgbClr val="6E75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114800" y="4142232"/>
            <a:ext cx="1097280" cy="274320"/>
          </a:xfrm>
          <a:prstGeom prst="rect">
            <a:avLst/>
          </a:prstGeom>
          <a:noFill/>
        </p:spPr>
        <p:txBody>
          <a:bodyPr wrap="square" lIns="0" rIns="0" tIns="0" bIns="0" anchor="t">
            <a:noAutofit/>
          </a:bodyPr>
          <a:lstStyle/>
          <a:p>
            <a:pPr algn="r">
              <a:spcAft>
                <a:spcPts val="400"/>
              </a:spcAft>
            </a:pPr>
            <a:r>
              <a:rPr sz="1300" b="0" i="0">
                <a:solidFill>
                  <a:srgbClr val="6E757E"/>
                </a:solidFill>
                <a:latin typeface="Arial"/>
              </a:rPr>
              <a:t>neuron 1</a:t>
            </a:r>
          </a:p>
        </p:txBody>
      </p:sp>
      <p:sp>
        <p:nvSpPr>
          <p:cNvPr id="10" name="TextBox 9"/>
          <p:cNvSpPr txBox="1"/>
          <p:nvPr/>
        </p:nvSpPr>
        <p:spPr>
          <a:xfrm>
            <a:off x="3035808" y="1920240"/>
            <a:ext cx="1097280" cy="274320"/>
          </a:xfrm>
          <a:prstGeom prst="rect">
            <a:avLst/>
          </a:prstGeom>
          <a:noFill/>
        </p:spPr>
        <p:txBody>
          <a:bodyPr wrap="square" lIns="0" rIns="0" tIns="0" bIns="0" anchor="t">
            <a:noAutofit/>
          </a:bodyPr>
          <a:lstStyle/>
          <a:p>
            <a:pPr algn="l">
              <a:spcAft>
                <a:spcPts val="400"/>
              </a:spcAft>
            </a:pPr>
            <a:r>
              <a:rPr sz="1300" b="0" i="0">
                <a:solidFill>
                  <a:srgbClr val="6E757E"/>
                </a:solidFill>
                <a:latin typeface="Arial"/>
              </a:rPr>
              <a:t>neuron 2</a:t>
            </a:r>
          </a:p>
        </p:txBody>
      </p:sp>
      <p:cxnSp>
        <p:nvCxnSpPr>
          <p:cNvPr id="11" name="Connector 10"/>
          <p:cNvCxnSpPr/>
          <p:nvPr/>
        </p:nvCxnSpPr>
        <p:spPr>
          <a:xfrm flipV="1">
            <a:off x="2926080" y="3154680"/>
            <a:ext cx="1583787" cy="914400"/>
          </a:xfrm>
          <a:prstGeom prst="line">
            <a:avLst/>
          </a:prstGeom>
          <a:ln w="34925">
            <a:solidFill>
              <a:srgbClr val="1C6E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601307" y="2788920"/>
            <a:ext cx="1280160" cy="292608"/>
          </a:xfrm>
          <a:prstGeom prst="rect">
            <a:avLst/>
          </a:prstGeom>
          <a:noFill/>
        </p:spPr>
        <p:txBody>
          <a:bodyPr wrap="square" lIns="0" rIns="0" tIns="0" bIns="0" anchor="t">
            <a:noAutofit/>
          </a:bodyPr>
          <a:lstStyle/>
          <a:p>
            <a:pPr algn="l">
              <a:spcAft>
                <a:spcPts val="400"/>
              </a:spcAft>
            </a:pPr>
            <a:r>
              <a:rPr sz="1400" b="1" i="0">
                <a:solidFill>
                  <a:srgbClr val="1C6E7E"/>
                </a:solidFill>
                <a:latin typeface="Arial"/>
              </a:rPr>
              <a:t>concept A</a:t>
            </a:r>
          </a:p>
        </p:txBody>
      </p:sp>
      <p:cxnSp>
        <p:nvCxnSpPr>
          <p:cNvPr id="13" name="Connector 12"/>
          <p:cNvCxnSpPr/>
          <p:nvPr/>
        </p:nvCxnSpPr>
        <p:spPr>
          <a:xfrm flipH="1" flipV="1">
            <a:off x="1342293" y="3154680"/>
            <a:ext cx="1583787" cy="914400"/>
          </a:xfrm>
          <a:prstGeom prst="line">
            <a:avLst/>
          </a:prstGeom>
          <a:ln w="34925">
            <a:solidFill>
              <a:srgbClr val="3E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6413" y="2788920"/>
            <a:ext cx="1280160" cy="292608"/>
          </a:xfrm>
          <a:prstGeom prst="rect">
            <a:avLst/>
          </a:prstGeom>
          <a:noFill/>
        </p:spPr>
        <p:txBody>
          <a:bodyPr wrap="square" lIns="0" rIns="0" tIns="0" bIns="0" anchor="t">
            <a:noAutofit/>
          </a:bodyPr>
          <a:lstStyle/>
          <a:p>
            <a:pPr algn="l">
              <a:spcAft>
                <a:spcPts val="400"/>
              </a:spcAft>
            </a:pPr>
            <a:r>
              <a:rPr sz="1400" b="1" i="0">
                <a:solidFill>
                  <a:srgbClr val="3E93A3"/>
                </a:solidFill>
                <a:latin typeface="Arial"/>
              </a:rPr>
              <a:t>concept B</a:t>
            </a:r>
          </a:p>
        </p:txBody>
      </p:sp>
      <p:cxnSp>
        <p:nvCxnSpPr>
          <p:cNvPr id="15" name="Connector 14"/>
          <p:cNvCxnSpPr/>
          <p:nvPr/>
        </p:nvCxnSpPr>
        <p:spPr>
          <a:xfrm>
            <a:off x="2926080" y="4069080"/>
            <a:ext cx="0" cy="1828800"/>
          </a:xfrm>
          <a:prstGeom prst="line">
            <a:avLst/>
          </a:prstGeom>
          <a:ln w="34925">
            <a:solidFill>
              <a:srgbClr val="8B5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063240" y="5806440"/>
            <a:ext cx="1280160" cy="292608"/>
          </a:xfrm>
          <a:prstGeom prst="rect">
            <a:avLst/>
          </a:prstGeom>
          <a:noFill/>
        </p:spPr>
        <p:txBody>
          <a:bodyPr wrap="square" lIns="0" rIns="0" tIns="0" bIns="0" anchor="t">
            <a:noAutofit/>
          </a:bodyPr>
          <a:lstStyle/>
          <a:p>
            <a:pPr algn="l">
              <a:spcAft>
                <a:spcPts val="400"/>
              </a:spcAft>
            </a:pPr>
            <a:r>
              <a:rPr sz="1400" b="1" i="0">
                <a:solidFill>
                  <a:srgbClr val="8B5A5F"/>
                </a:solidFill>
                <a:latin typeface="Arial"/>
              </a:rPr>
              <a:t>concept C</a:t>
            </a:r>
          </a:p>
        </p:txBody>
      </p:sp>
      <p:cxnSp>
        <p:nvCxnSpPr>
          <p:cNvPr id="17" name="Connector 16"/>
          <p:cNvCxnSpPr/>
          <p:nvPr/>
        </p:nvCxnSpPr>
        <p:spPr>
          <a:xfrm>
            <a:off x="1342293" y="3154680"/>
            <a:ext cx="3167574" cy="0"/>
          </a:xfrm>
          <a:prstGeom prst="line">
            <a:avLst/>
          </a:prstGeom>
          <a:ln w="12700">
            <a:solidFill>
              <a:srgbClr val="8B5A5F"/>
            </a:solidFill>
            <a:prstDash val="dash"/>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834640" y="3063240"/>
            <a:ext cx="182880" cy="182880"/>
          </a:xfrm>
          <a:prstGeom prst="ellipse">
            <a:avLst/>
          </a:prstGeom>
          <a:solidFill>
            <a:srgbClr val="FCD34D"/>
          </a:solidFill>
          <a:ln w="1524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9" name="Rounded Rectangle 18"/>
          <p:cNvSpPr/>
          <p:nvPr/>
        </p:nvSpPr>
        <p:spPr>
          <a:xfrm>
            <a:off x="6309360" y="1783080"/>
            <a:ext cx="5230368" cy="1325880"/>
          </a:xfrm>
          <a:prstGeom prst="roundRect">
            <a:avLst>
              <a:gd name="adj" fmla="val 8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0" name="TextBox 19"/>
          <p:cNvSpPr txBox="1"/>
          <p:nvPr/>
        </p:nvSpPr>
        <p:spPr>
          <a:xfrm>
            <a:off x="6537960" y="1920240"/>
            <a:ext cx="4846320" cy="365760"/>
          </a:xfrm>
          <a:prstGeom prst="rect">
            <a:avLst/>
          </a:prstGeom>
          <a:noFill/>
        </p:spPr>
        <p:txBody>
          <a:bodyPr wrap="square" lIns="0" rIns="0" tIns="0" bIns="0" anchor="t">
            <a:noAutofit/>
          </a:bodyPr>
          <a:lstStyle/>
          <a:p>
            <a:pPr algn="l">
              <a:spcAft>
                <a:spcPts val="400"/>
              </a:spcAft>
            </a:pPr>
            <a:r>
              <a:rPr sz="1900" b="1" i="0">
                <a:solidFill>
                  <a:srgbClr val="1C6E7E"/>
                </a:solidFill>
                <a:latin typeface="Arial"/>
              </a:rPr>
              <a:t>Neuron</a:t>
            </a:r>
          </a:p>
        </p:txBody>
      </p:sp>
      <p:sp>
        <p:nvSpPr>
          <p:cNvPr id="21" name="TextBox 20"/>
          <p:cNvSpPr txBox="1"/>
          <p:nvPr/>
        </p:nvSpPr>
        <p:spPr>
          <a:xfrm>
            <a:off x="6537960" y="2331720"/>
            <a:ext cx="4846320" cy="731520"/>
          </a:xfrm>
          <a:prstGeom prst="rect">
            <a:avLst/>
          </a:prstGeom>
          <a:noFill/>
        </p:spPr>
        <p:txBody>
          <a:bodyPr wrap="square" lIns="0" rIns="0" tIns="0" bIns="0" anchor="t">
            <a:noAutofit/>
          </a:bodyPr>
          <a:lstStyle/>
          <a:p>
            <a:pPr algn="l">
              <a:spcAft>
                <a:spcPts val="400"/>
              </a:spcAft>
            </a:pPr>
            <a:r>
              <a:rPr sz="1500" b="0" i="0">
                <a:solidFill>
                  <a:srgbClr val="4A4A4A"/>
                </a:solidFill>
                <a:latin typeface="Arial"/>
              </a:rPr>
              <a:t>một chiều (một tọa độ) của activation vector</a:t>
            </a:r>
          </a:p>
        </p:txBody>
      </p:sp>
      <p:sp>
        <p:nvSpPr>
          <p:cNvPr id="22" name="Rounded Rectangle 21"/>
          <p:cNvSpPr/>
          <p:nvPr/>
        </p:nvSpPr>
        <p:spPr>
          <a:xfrm>
            <a:off x="6309360" y="3264408"/>
            <a:ext cx="5230368" cy="1325880"/>
          </a:xfrm>
          <a:prstGeom prst="roundRect">
            <a:avLst>
              <a:gd name="adj" fmla="val 8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3" name="TextBox 22"/>
          <p:cNvSpPr txBox="1"/>
          <p:nvPr/>
        </p:nvSpPr>
        <p:spPr>
          <a:xfrm>
            <a:off x="6537960" y="3401568"/>
            <a:ext cx="4846320" cy="365760"/>
          </a:xfrm>
          <a:prstGeom prst="rect">
            <a:avLst/>
          </a:prstGeom>
          <a:noFill/>
        </p:spPr>
        <p:txBody>
          <a:bodyPr wrap="square" lIns="0" rIns="0" tIns="0" bIns="0" anchor="t">
            <a:noAutofit/>
          </a:bodyPr>
          <a:lstStyle/>
          <a:p>
            <a:pPr algn="l">
              <a:spcAft>
                <a:spcPts val="400"/>
              </a:spcAft>
            </a:pPr>
            <a:r>
              <a:rPr sz="1900" b="1" i="0">
                <a:solidFill>
                  <a:srgbClr val="3E93A3"/>
                </a:solidFill>
                <a:latin typeface="Arial"/>
              </a:rPr>
              <a:t>Polysemantic</a:t>
            </a:r>
          </a:p>
        </p:txBody>
      </p:sp>
      <p:sp>
        <p:nvSpPr>
          <p:cNvPr id="24" name="TextBox 23"/>
          <p:cNvSpPr txBox="1"/>
          <p:nvPr/>
        </p:nvSpPr>
        <p:spPr>
          <a:xfrm>
            <a:off x="6537960" y="3813048"/>
            <a:ext cx="4846320" cy="731520"/>
          </a:xfrm>
          <a:prstGeom prst="rect">
            <a:avLst/>
          </a:prstGeom>
          <a:noFill/>
        </p:spPr>
        <p:txBody>
          <a:bodyPr wrap="square" lIns="0" rIns="0" tIns="0" bIns="0" anchor="t">
            <a:noAutofit/>
          </a:bodyPr>
          <a:lstStyle/>
          <a:p>
            <a:pPr algn="l">
              <a:spcAft>
                <a:spcPts val="400"/>
              </a:spcAft>
            </a:pPr>
            <a:r>
              <a:rPr sz="1500" b="0" i="0">
                <a:solidFill>
                  <a:srgbClr val="4A4A4A"/>
                </a:solidFill>
                <a:latin typeface="Arial"/>
              </a:rPr>
              <a:t>một neuron kích hoạt mạnh với nhiều loại input không liên quan nhau</a:t>
            </a:r>
          </a:p>
        </p:txBody>
      </p:sp>
      <p:sp>
        <p:nvSpPr>
          <p:cNvPr id="25" name="Rounded Rectangle 24"/>
          <p:cNvSpPr/>
          <p:nvPr/>
        </p:nvSpPr>
        <p:spPr>
          <a:xfrm>
            <a:off x="6309360" y="4745736"/>
            <a:ext cx="5230368" cy="1325880"/>
          </a:xfrm>
          <a:prstGeom prst="roundRect">
            <a:avLst>
              <a:gd name="adj" fmla="val 8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6" name="TextBox 25"/>
          <p:cNvSpPr txBox="1"/>
          <p:nvPr/>
        </p:nvSpPr>
        <p:spPr>
          <a:xfrm>
            <a:off x="6537960" y="4882896"/>
            <a:ext cx="4846320" cy="365760"/>
          </a:xfrm>
          <a:prstGeom prst="rect">
            <a:avLst/>
          </a:prstGeom>
          <a:noFill/>
        </p:spPr>
        <p:txBody>
          <a:bodyPr wrap="square" lIns="0" rIns="0" tIns="0" bIns="0" anchor="t">
            <a:noAutofit/>
          </a:bodyPr>
          <a:lstStyle/>
          <a:p>
            <a:pPr algn="l">
              <a:spcAft>
                <a:spcPts val="400"/>
              </a:spcAft>
            </a:pPr>
            <a:r>
              <a:rPr sz="1900" b="1" i="0">
                <a:solidFill>
                  <a:srgbClr val="8B5A5F"/>
                </a:solidFill>
                <a:latin typeface="Arial"/>
              </a:rPr>
              <a:t>Superposition</a:t>
            </a:r>
          </a:p>
        </p:txBody>
      </p:sp>
      <p:sp>
        <p:nvSpPr>
          <p:cNvPr id="27" name="TextBox 26"/>
          <p:cNvSpPr txBox="1"/>
          <p:nvPr/>
        </p:nvSpPr>
        <p:spPr>
          <a:xfrm>
            <a:off x="6537960" y="5294376"/>
            <a:ext cx="4846320" cy="731520"/>
          </a:xfrm>
          <a:prstGeom prst="rect">
            <a:avLst/>
          </a:prstGeom>
          <a:noFill/>
        </p:spPr>
        <p:txBody>
          <a:bodyPr wrap="square" lIns="0" rIns="0" tIns="0" bIns="0" anchor="t">
            <a:noAutofit/>
          </a:bodyPr>
          <a:lstStyle/>
          <a:p>
            <a:pPr algn="l">
              <a:spcAft>
                <a:spcPts val="400"/>
              </a:spcAft>
            </a:pPr>
            <a:r>
              <a:rPr sz="1500" b="0" i="0">
                <a:solidFill>
                  <a:srgbClr val="4A4A4A"/>
                </a:solidFill>
                <a:latin typeface="Arial"/>
              </a:rPr>
              <a:t>model cần biểu diễn nhiều concept hơn số chiều, nên mỗi concept nằm trên một hướng riêng, không trùng với trục của neuron nào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2. Phương pháp</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Sparse autoencoder (SAE)</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06</a:t>
            </a:r>
          </a:p>
        </p:txBody>
      </p:sp>
      <p:sp>
        <p:nvSpPr>
          <p:cNvPr id="7" name="TextBox 6"/>
          <p:cNvSpPr txBox="1"/>
          <p:nvPr/>
        </p:nvSpPr>
        <p:spPr>
          <a:xfrm>
            <a:off x="609905" y="1691640"/>
            <a:ext cx="10972800" cy="594360"/>
          </a:xfrm>
          <a:prstGeom prst="rect">
            <a:avLst/>
          </a:prstGeom>
          <a:noFill/>
        </p:spPr>
        <p:txBody>
          <a:bodyPr wrap="square" lIns="0" rIns="0" tIns="0" bIns="0" anchor="t">
            <a:noAutofit/>
          </a:bodyPr>
          <a:lstStyle/>
          <a:p>
            <a:pPr algn="ctr">
              <a:spcAft>
                <a:spcPts val="400"/>
              </a:spcAft>
            </a:pPr>
            <a:r>
              <a:rPr sz="3000" b="0" i="0">
                <a:solidFill>
                  <a:srgbClr val="1B2430"/>
                </a:solidFill>
                <a:latin typeface="Arial"/>
              </a:rPr>
              <a:t>x = x̂ + ε(x) = Σ</a:t>
            </a:r>
            <a:r>
              <a:rPr sz="3000" b="0" i="0" baseline="-25000">
                <a:solidFill>
                  <a:srgbClr val="1B2430"/>
                </a:solidFill>
                <a:latin typeface="Arial"/>
              </a:rPr>
              <a:t>i</a:t>
            </a:r>
            <a:r>
              <a:rPr sz="3000" b="0" i="0">
                <a:solidFill>
                  <a:srgbClr val="1B2430"/>
                </a:solidFill>
                <a:latin typeface="Arial"/>
              </a:rPr>
              <a:t> f</a:t>
            </a:r>
            <a:r>
              <a:rPr sz="3000" b="0" i="0" baseline="-25000">
                <a:solidFill>
                  <a:srgbClr val="1B2430"/>
                </a:solidFill>
                <a:latin typeface="Arial"/>
              </a:rPr>
              <a:t>i</a:t>
            </a:r>
            <a:r>
              <a:rPr sz="3000" b="0" i="0">
                <a:solidFill>
                  <a:srgbClr val="1B2430"/>
                </a:solidFill>
                <a:latin typeface="Arial"/>
              </a:rPr>
              <a:t>(x) v</a:t>
            </a:r>
            <a:r>
              <a:rPr sz="3000" b="0" i="0" baseline="-25000">
                <a:solidFill>
                  <a:srgbClr val="1B2430"/>
                </a:solidFill>
                <a:latin typeface="Arial"/>
              </a:rPr>
              <a:t>i</a:t>
            </a:r>
            <a:r>
              <a:rPr sz="3000" b="0" i="0">
                <a:solidFill>
                  <a:srgbClr val="1B2430"/>
                </a:solidFill>
                <a:latin typeface="Arial"/>
              </a:rPr>
              <a:t> + b + ε(x)</a:t>
            </a:r>
          </a:p>
        </p:txBody>
      </p:sp>
      <p:sp>
        <p:nvSpPr>
          <p:cNvPr id="8" name="Rounded Rectangle 7"/>
          <p:cNvSpPr/>
          <p:nvPr/>
        </p:nvSpPr>
        <p:spPr>
          <a:xfrm>
            <a:off x="609905" y="2834640"/>
            <a:ext cx="1188720" cy="1188720"/>
          </a:xfrm>
          <a:prstGeom prst="roundRect">
            <a:avLst>
              <a:gd name="adj" fmla="val 15000"/>
            </a:avLst>
          </a:prstGeom>
          <a:solidFill>
            <a:srgbClr val="FFFFFF"/>
          </a:solidFill>
          <a:ln w="1778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2400" b="1" i="0">
                <a:solidFill>
                  <a:srgbClr val="1B2430"/>
                </a:solidFill>
                <a:latin typeface="Arial"/>
              </a:rPr>
              <a:t>x</a:t>
            </a:r>
          </a:p>
        </p:txBody>
      </p:sp>
      <p:cxnSp>
        <p:nvCxnSpPr>
          <p:cNvPr id="9" name="Connector 8"/>
          <p:cNvCxnSpPr/>
          <p:nvPr/>
        </p:nvCxnSpPr>
        <p:spPr>
          <a:xfrm>
            <a:off x="1828800" y="3429000"/>
            <a:ext cx="411480"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286000" y="2697480"/>
            <a:ext cx="2514600" cy="1463040"/>
          </a:xfrm>
          <a:prstGeom prst="roundRect">
            <a:avLst>
              <a:gd name="adj" fmla="val 12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1" name="TextBox 10"/>
          <p:cNvSpPr txBox="1"/>
          <p:nvPr/>
        </p:nvSpPr>
        <p:spPr>
          <a:xfrm>
            <a:off x="2331720" y="2834640"/>
            <a:ext cx="2423160" cy="411480"/>
          </a:xfrm>
          <a:prstGeom prst="rect">
            <a:avLst/>
          </a:prstGeom>
          <a:noFill/>
        </p:spPr>
        <p:txBody>
          <a:bodyPr wrap="square" lIns="0" rIns="0" tIns="0" bIns="0" anchor="t">
            <a:noAutofit/>
          </a:bodyPr>
          <a:lstStyle/>
          <a:p>
            <a:pPr algn="ctr">
              <a:spcAft>
                <a:spcPts val="400"/>
              </a:spcAft>
            </a:pPr>
            <a:r>
              <a:rPr sz="1800" b="1" i="0">
                <a:solidFill>
                  <a:srgbClr val="1C6E7E"/>
                </a:solidFill>
                <a:latin typeface="Arial"/>
              </a:rPr>
              <a:t>Encoder</a:t>
            </a:r>
          </a:p>
        </p:txBody>
      </p:sp>
      <p:sp>
        <p:nvSpPr>
          <p:cNvPr id="12" name="TextBox 11"/>
          <p:cNvSpPr txBox="1"/>
          <p:nvPr/>
        </p:nvSpPr>
        <p:spPr>
          <a:xfrm>
            <a:off x="2331720" y="3383280"/>
            <a:ext cx="2423160" cy="548640"/>
          </a:xfrm>
          <a:prstGeom prst="rect">
            <a:avLst/>
          </a:prstGeom>
          <a:noFill/>
        </p:spPr>
        <p:txBody>
          <a:bodyPr wrap="square" lIns="0" rIns="0" tIns="0" bIns="0" anchor="t">
            <a:noAutofit/>
          </a:bodyPr>
          <a:lstStyle/>
          <a:p>
            <a:pPr algn="ctr">
              <a:spcAft>
                <a:spcPts val="400"/>
              </a:spcAft>
            </a:pPr>
            <a:r>
              <a:rPr sz="1300" b="0" i="0">
                <a:solidFill>
                  <a:srgbClr val="4A4A4A"/>
                </a:solidFill>
                <a:latin typeface="Arial"/>
              </a:rPr>
              <a:t>f = ReLU(W</a:t>
            </a:r>
            <a:r>
              <a:rPr sz="1300" b="0" i="0" baseline="-25000">
                <a:solidFill>
                  <a:srgbClr val="4A4A4A"/>
                </a:solidFill>
                <a:latin typeface="Arial"/>
              </a:rPr>
              <a:t>E</a:t>
            </a:r>
            <a:r>
              <a:rPr sz="1300" b="0" i="0">
                <a:solidFill>
                  <a:srgbClr val="4A4A4A"/>
                </a:solidFill>
                <a:latin typeface="Arial"/>
              </a:rPr>
              <a:t>(x − b</a:t>
            </a:r>
            <a:r>
              <a:rPr sz="1300" b="0" i="0" baseline="-25000">
                <a:solidFill>
                  <a:srgbClr val="4A4A4A"/>
                </a:solidFill>
                <a:latin typeface="Arial"/>
              </a:rPr>
              <a:t>D</a:t>
            </a:r>
            <a:r>
              <a:rPr sz="1300" b="0" i="0">
                <a:solidFill>
                  <a:srgbClr val="4A4A4A"/>
                </a:solidFill>
                <a:latin typeface="Arial"/>
              </a:rPr>
              <a:t>) + b</a:t>
            </a:r>
            <a:r>
              <a:rPr sz="1300" b="0" i="0" baseline="-25000">
                <a:solidFill>
                  <a:srgbClr val="4A4A4A"/>
                </a:solidFill>
                <a:latin typeface="Arial"/>
              </a:rPr>
              <a:t>E</a:t>
            </a:r>
            <a:r>
              <a:rPr sz="1300" b="0" i="0">
                <a:solidFill>
                  <a:srgbClr val="4A4A4A"/>
                </a:solidFill>
                <a:latin typeface="Arial"/>
              </a:rPr>
              <a:t>)</a:t>
            </a:r>
          </a:p>
        </p:txBody>
      </p:sp>
      <p:cxnSp>
        <p:nvCxnSpPr>
          <p:cNvPr id="13" name="Connector 12"/>
          <p:cNvCxnSpPr/>
          <p:nvPr/>
        </p:nvCxnSpPr>
        <p:spPr>
          <a:xfrm>
            <a:off x="4846320" y="3429000"/>
            <a:ext cx="457200"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440680" y="2560320"/>
            <a:ext cx="310896" cy="164592"/>
          </a:xfrm>
          <a:prstGeom prst="rect">
            <a:avLst/>
          </a:prstGeom>
          <a:solidFill>
            <a:srgbClr val="EEF2F4"/>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5" name="Rectangle 14"/>
          <p:cNvSpPr/>
          <p:nvPr/>
        </p:nvSpPr>
        <p:spPr>
          <a:xfrm>
            <a:off x="5440680" y="2734056"/>
            <a:ext cx="310896" cy="164592"/>
          </a:xfrm>
          <a:prstGeom prst="rect">
            <a:avLst/>
          </a:prstGeom>
          <a:solidFill>
            <a:srgbClr val="EEF2F4"/>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6" name="Rectangle 15"/>
          <p:cNvSpPr/>
          <p:nvPr/>
        </p:nvSpPr>
        <p:spPr>
          <a:xfrm>
            <a:off x="5440680" y="2907792"/>
            <a:ext cx="310896" cy="164592"/>
          </a:xfrm>
          <a:prstGeom prst="rect">
            <a:avLst/>
          </a:prstGeom>
          <a:solidFill>
            <a:srgbClr val="EEF2F4"/>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7" name="Rectangle 16"/>
          <p:cNvSpPr/>
          <p:nvPr/>
        </p:nvSpPr>
        <p:spPr>
          <a:xfrm>
            <a:off x="5440680" y="3081528"/>
            <a:ext cx="310896" cy="164592"/>
          </a:xfrm>
          <a:prstGeom prst="rect">
            <a:avLst/>
          </a:prstGeom>
          <a:solidFill>
            <a:srgbClr val="1C6E7E"/>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Rectangle 17"/>
          <p:cNvSpPr/>
          <p:nvPr/>
        </p:nvSpPr>
        <p:spPr>
          <a:xfrm>
            <a:off x="5440680" y="3255264"/>
            <a:ext cx="310896" cy="164592"/>
          </a:xfrm>
          <a:prstGeom prst="rect">
            <a:avLst/>
          </a:prstGeom>
          <a:solidFill>
            <a:srgbClr val="EEF2F4"/>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9" name="Rectangle 18"/>
          <p:cNvSpPr/>
          <p:nvPr/>
        </p:nvSpPr>
        <p:spPr>
          <a:xfrm>
            <a:off x="5440680" y="3429000"/>
            <a:ext cx="310896" cy="164592"/>
          </a:xfrm>
          <a:prstGeom prst="rect">
            <a:avLst/>
          </a:prstGeom>
          <a:solidFill>
            <a:srgbClr val="EEF2F4"/>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0" name="Rectangle 19"/>
          <p:cNvSpPr/>
          <p:nvPr/>
        </p:nvSpPr>
        <p:spPr>
          <a:xfrm>
            <a:off x="5440680" y="3602736"/>
            <a:ext cx="310896" cy="164592"/>
          </a:xfrm>
          <a:prstGeom prst="rect">
            <a:avLst/>
          </a:prstGeom>
          <a:solidFill>
            <a:srgbClr val="EEF2F4"/>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1" name="Rectangle 20"/>
          <p:cNvSpPr/>
          <p:nvPr/>
        </p:nvSpPr>
        <p:spPr>
          <a:xfrm>
            <a:off x="5440680" y="3776472"/>
            <a:ext cx="310896" cy="164592"/>
          </a:xfrm>
          <a:prstGeom prst="rect">
            <a:avLst/>
          </a:prstGeom>
          <a:solidFill>
            <a:srgbClr val="EEF2F4"/>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2" name="Rectangle 21"/>
          <p:cNvSpPr/>
          <p:nvPr/>
        </p:nvSpPr>
        <p:spPr>
          <a:xfrm>
            <a:off x="5440680" y="3950208"/>
            <a:ext cx="310896" cy="164592"/>
          </a:xfrm>
          <a:prstGeom prst="rect">
            <a:avLst/>
          </a:prstGeom>
          <a:solidFill>
            <a:srgbClr val="3E93A3"/>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3" name="Rectangle 22"/>
          <p:cNvSpPr/>
          <p:nvPr/>
        </p:nvSpPr>
        <p:spPr>
          <a:xfrm>
            <a:off x="5440680" y="4123944"/>
            <a:ext cx="310896" cy="164592"/>
          </a:xfrm>
          <a:prstGeom prst="rect">
            <a:avLst/>
          </a:prstGeom>
          <a:solidFill>
            <a:srgbClr val="EEF2F4"/>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4" name="TextBox 23"/>
          <p:cNvSpPr txBox="1"/>
          <p:nvPr/>
        </p:nvSpPr>
        <p:spPr>
          <a:xfrm>
            <a:off x="5870448" y="2926080"/>
            <a:ext cx="1143000" cy="1005840"/>
          </a:xfrm>
          <a:prstGeom prst="rect">
            <a:avLst/>
          </a:prstGeom>
          <a:noFill/>
        </p:spPr>
        <p:txBody>
          <a:bodyPr wrap="square" lIns="0" rIns="0" tIns="0" bIns="0" anchor="ctr">
            <a:noAutofit/>
          </a:bodyPr>
          <a:lstStyle/>
          <a:p>
            <a:pPr algn="l">
              <a:spcAft>
                <a:spcPts val="400"/>
              </a:spcAft>
            </a:pPr>
            <a:r>
              <a:rPr sz="2200" b="1" i="0">
                <a:solidFill>
                  <a:srgbClr val="1B2430"/>
                </a:solidFill>
                <a:latin typeface="Arial"/>
              </a:rPr>
              <a:t>f</a:t>
            </a:r>
          </a:p>
          <a:p>
            <a:pPr algn="l">
              <a:spcAft>
                <a:spcPts val="400"/>
              </a:spcAft>
            </a:pPr>
            <a:r>
              <a:rPr sz="1300" b="0" i="0">
                <a:solidFill>
                  <a:srgbClr val="6E757E"/>
                </a:solidFill>
                <a:latin typeface="Arial"/>
              </a:rPr>
              <a:t>đa số = 0</a:t>
            </a:r>
          </a:p>
        </p:txBody>
      </p:sp>
      <p:cxnSp>
        <p:nvCxnSpPr>
          <p:cNvPr id="25" name="Connector 24"/>
          <p:cNvCxnSpPr/>
          <p:nvPr/>
        </p:nvCxnSpPr>
        <p:spPr>
          <a:xfrm>
            <a:off x="6858000" y="3429000"/>
            <a:ext cx="457200"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60920" y="2697480"/>
            <a:ext cx="2377440" cy="1463040"/>
          </a:xfrm>
          <a:prstGeom prst="roundRect">
            <a:avLst>
              <a:gd name="adj" fmla="val 12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7" name="TextBox 26"/>
          <p:cNvSpPr txBox="1"/>
          <p:nvPr/>
        </p:nvSpPr>
        <p:spPr>
          <a:xfrm>
            <a:off x="7406640" y="2834640"/>
            <a:ext cx="2286000" cy="411480"/>
          </a:xfrm>
          <a:prstGeom prst="rect">
            <a:avLst/>
          </a:prstGeom>
          <a:noFill/>
        </p:spPr>
        <p:txBody>
          <a:bodyPr wrap="square" lIns="0" rIns="0" tIns="0" bIns="0" anchor="t">
            <a:noAutofit/>
          </a:bodyPr>
          <a:lstStyle/>
          <a:p>
            <a:pPr algn="ctr">
              <a:spcAft>
                <a:spcPts val="400"/>
              </a:spcAft>
            </a:pPr>
            <a:r>
              <a:rPr sz="1800" b="1" i="0">
                <a:solidFill>
                  <a:srgbClr val="1C6E7E"/>
                </a:solidFill>
                <a:latin typeface="Arial"/>
              </a:rPr>
              <a:t>Decoder</a:t>
            </a:r>
          </a:p>
        </p:txBody>
      </p:sp>
      <p:sp>
        <p:nvSpPr>
          <p:cNvPr id="28" name="TextBox 27"/>
          <p:cNvSpPr txBox="1"/>
          <p:nvPr/>
        </p:nvSpPr>
        <p:spPr>
          <a:xfrm>
            <a:off x="7406640" y="3383280"/>
            <a:ext cx="2286000" cy="548640"/>
          </a:xfrm>
          <a:prstGeom prst="rect">
            <a:avLst/>
          </a:prstGeom>
          <a:noFill/>
        </p:spPr>
        <p:txBody>
          <a:bodyPr wrap="square" lIns="0" rIns="0" tIns="0" bIns="0" anchor="t">
            <a:noAutofit/>
          </a:bodyPr>
          <a:lstStyle/>
          <a:p>
            <a:pPr algn="ctr">
              <a:spcAft>
                <a:spcPts val="400"/>
              </a:spcAft>
            </a:pPr>
            <a:r>
              <a:rPr sz="1400" b="0" i="0">
                <a:solidFill>
                  <a:srgbClr val="4A4A4A"/>
                </a:solidFill>
                <a:latin typeface="Arial"/>
              </a:rPr>
              <a:t>x̂ = W</a:t>
            </a:r>
            <a:r>
              <a:rPr sz="1400" b="0" i="0" baseline="-25000">
                <a:solidFill>
                  <a:srgbClr val="4A4A4A"/>
                </a:solidFill>
                <a:latin typeface="Arial"/>
              </a:rPr>
              <a:t>D</a:t>
            </a:r>
            <a:r>
              <a:rPr sz="1400" b="0" i="0">
                <a:solidFill>
                  <a:srgbClr val="4A4A4A"/>
                </a:solidFill>
                <a:latin typeface="Arial"/>
              </a:rPr>
              <a:t> f + b</a:t>
            </a:r>
            <a:r>
              <a:rPr sz="1400" b="0" i="0" baseline="-25000">
                <a:solidFill>
                  <a:srgbClr val="4A4A4A"/>
                </a:solidFill>
                <a:latin typeface="Arial"/>
              </a:rPr>
              <a:t>D</a:t>
            </a:r>
          </a:p>
        </p:txBody>
      </p:sp>
      <p:cxnSp>
        <p:nvCxnSpPr>
          <p:cNvPr id="29" name="Connector 28"/>
          <p:cNvCxnSpPr/>
          <p:nvPr/>
        </p:nvCxnSpPr>
        <p:spPr>
          <a:xfrm>
            <a:off x="9784080" y="3429000"/>
            <a:ext cx="502920"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332720" y="2834640"/>
            <a:ext cx="1188720" cy="1188720"/>
          </a:xfrm>
          <a:prstGeom prst="roundRect">
            <a:avLst>
              <a:gd name="adj" fmla="val 15000"/>
            </a:avLst>
          </a:prstGeom>
          <a:solidFill>
            <a:srgbClr val="FFFFFF"/>
          </a:solidFill>
          <a:ln w="1778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2400" b="1" i="0">
                <a:solidFill>
                  <a:srgbClr val="1B2430"/>
                </a:solidFill>
                <a:latin typeface="Arial"/>
              </a:rPr>
              <a:t>x̂</a:t>
            </a:r>
          </a:p>
        </p:txBody>
      </p:sp>
      <p:sp>
        <p:nvSpPr>
          <p:cNvPr id="31" name="TextBox 30"/>
          <p:cNvSpPr txBox="1"/>
          <p:nvPr/>
        </p:nvSpPr>
        <p:spPr>
          <a:xfrm>
            <a:off x="8778240" y="4297680"/>
            <a:ext cx="2743200" cy="365760"/>
          </a:xfrm>
          <a:prstGeom prst="rect">
            <a:avLst/>
          </a:prstGeom>
          <a:noFill/>
        </p:spPr>
        <p:txBody>
          <a:bodyPr wrap="square" lIns="0" rIns="0" tIns="0" bIns="0" anchor="t">
            <a:noAutofit/>
          </a:bodyPr>
          <a:lstStyle/>
          <a:p>
            <a:pPr algn="ctr">
              <a:spcAft>
                <a:spcPts val="400"/>
              </a:spcAft>
            </a:pPr>
            <a:r>
              <a:rPr sz="1700" b="1" i="0">
                <a:solidFill>
                  <a:srgbClr val="8B5A5F"/>
                </a:solidFill>
                <a:latin typeface="Arial"/>
              </a:rPr>
              <a:t>ε(x) = x − x̂</a:t>
            </a:r>
          </a:p>
        </p:txBody>
      </p:sp>
      <p:sp>
        <p:nvSpPr>
          <p:cNvPr id="32" name="TextBox 31"/>
          <p:cNvSpPr txBox="1"/>
          <p:nvPr/>
        </p:nvSpPr>
        <p:spPr>
          <a:xfrm>
            <a:off x="609905" y="4572000"/>
            <a:ext cx="1371600" cy="429768"/>
          </a:xfrm>
          <a:prstGeom prst="rect">
            <a:avLst/>
          </a:prstGeom>
          <a:noFill/>
        </p:spPr>
        <p:txBody>
          <a:bodyPr wrap="square" lIns="0" rIns="0" tIns="0" bIns="0" anchor="ctr">
            <a:noAutofit/>
          </a:bodyPr>
          <a:lstStyle/>
          <a:p>
            <a:pPr algn="l">
              <a:spcAft>
                <a:spcPts val="400"/>
              </a:spcAft>
            </a:pPr>
            <a:r>
              <a:rPr sz="1700" b="1" i="0">
                <a:solidFill>
                  <a:srgbClr val="1C6E7E"/>
                </a:solidFill>
                <a:latin typeface="Arial"/>
              </a:rPr>
              <a:t>v</a:t>
            </a:r>
            <a:r>
              <a:rPr sz="1700" b="1" i="0" baseline="-25000">
                <a:solidFill>
                  <a:srgbClr val="1C6E7E"/>
                </a:solidFill>
                <a:latin typeface="Arial"/>
              </a:rPr>
              <a:t>i</a:t>
            </a:r>
          </a:p>
        </p:txBody>
      </p:sp>
      <p:sp>
        <p:nvSpPr>
          <p:cNvPr id="33" name="TextBox 32"/>
          <p:cNvSpPr txBox="1"/>
          <p:nvPr/>
        </p:nvSpPr>
        <p:spPr>
          <a:xfrm>
            <a:off x="2011680" y="4572000"/>
            <a:ext cx="9509760" cy="429768"/>
          </a:xfrm>
          <a:prstGeom prst="rect">
            <a:avLst/>
          </a:prstGeom>
          <a:noFill/>
        </p:spPr>
        <p:txBody>
          <a:bodyPr wrap="square" lIns="0" rIns="0" tIns="0" bIns="0" anchor="ctr">
            <a:noAutofit/>
          </a:bodyPr>
          <a:lstStyle/>
          <a:p>
            <a:pPr algn="l">
              <a:spcAft>
                <a:spcPts val="400"/>
              </a:spcAft>
            </a:pPr>
            <a:r>
              <a:rPr sz="1600" b="0" i="0">
                <a:solidFill>
                  <a:srgbClr val="4A4A4A"/>
                </a:solidFill>
                <a:latin typeface="Arial"/>
              </a:rPr>
              <a:t>feature: cột i của W</a:t>
            </a:r>
            <a:r>
              <a:rPr sz="1600" b="0" i="0" baseline="-25000">
                <a:solidFill>
                  <a:srgbClr val="4A4A4A"/>
                </a:solidFill>
                <a:latin typeface="Arial"/>
              </a:rPr>
              <a:t>D</a:t>
            </a:r>
            <a:r>
              <a:rPr sz="1600" b="0" i="0">
                <a:solidFill>
                  <a:srgbClr val="4A4A4A"/>
                </a:solidFill>
                <a:latin typeface="Arial"/>
              </a:rPr>
              <a:t>, là một vector hướng</a:t>
            </a:r>
          </a:p>
        </p:txBody>
      </p:sp>
      <p:cxnSp>
        <p:nvCxnSpPr>
          <p:cNvPr id="34" name="Connector 33"/>
          <p:cNvCxnSpPr/>
          <p:nvPr/>
        </p:nvCxnSpPr>
        <p:spPr>
          <a:xfrm>
            <a:off x="609905" y="5001768"/>
            <a:ext cx="10929823"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09905" y="5001768"/>
            <a:ext cx="1371600" cy="429768"/>
          </a:xfrm>
          <a:prstGeom prst="rect">
            <a:avLst/>
          </a:prstGeom>
          <a:noFill/>
        </p:spPr>
        <p:txBody>
          <a:bodyPr wrap="square" lIns="0" rIns="0" tIns="0" bIns="0" anchor="ctr">
            <a:noAutofit/>
          </a:bodyPr>
          <a:lstStyle/>
          <a:p>
            <a:pPr algn="l">
              <a:spcAft>
                <a:spcPts val="400"/>
              </a:spcAft>
            </a:pPr>
            <a:r>
              <a:rPr sz="1700" b="1" i="0">
                <a:solidFill>
                  <a:srgbClr val="1C6E7E"/>
                </a:solidFill>
                <a:latin typeface="Arial"/>
              </a:rPr>
              <a:t>f</a:t>
            </a:r>
            <a:r>
              <a:rPr sz="1700" b="1" i="0" baseline="-25000">
                <a:solidFill>
                  <a:srgbClr val="1C6E7E"/>
                </a:solidFill>
                <a:latin typeface="Arial"/>
              </a:rPr>
              <a:t>i</a:t>
            </a:r>
            <a:r>
              <a:rPr sz="1700" b="1" i="0">
                <a:solidFill>
                  <a:srgbClr val="1C6E7E"/>
                </a:solidFill>
                <a:latin typeface="Arial"/>
              </a:rPr>
              <a:t>(x)</a:t>
            </a:r>
          </a:p>
        </p:txBody>
      </p:sp>
      <p:sp>
        <p:nvSpPr>
          <p:cNvPr id="36" name="TextBox 35"/>
          <p:cNvSpPr txBox="1"/>
          <p:nvPr/>
        </p:nvSpPr>
        <p:spPr>
          <a:xfrm>
            <a:off x="2011680" y="5001768"/>
            <a:ext cx="9509760" cy="429768"/>
          </a:xfrm>
          <a:prstGeom prst="rect">
            <a:avLst/>
          </a:prstGeom>
          <a:noFill/>
        </p:spPr>
        <p:txBody>
          <a:bodyPr wrap="square" lIns="0" rIns="0" tIns="0" bIns="0" anchor="ctr">
            <a:noAutofit/>
          </a:bodyPr>
          <a:lstStyle/>
          <a:p>
            <a:pPr algn="l">
              <a:spcAft>
                <a:spcPts val="400"/>
              </a:spcAft>
            </a:pPr>
            <a:r>
              <a:rPr sz="1600" b="0" i="0">
                <a:solidFill>
                  <a:srgbClr val="4A4A4A"/>
                </a:solidFill>
                <a:latin typeface="Arial"/>
              </a:rPr>
              <a:t>feature activation: hệ số ≥ 0, tính lại cho từng input</a:t>
            </a:r>
          </a:p>
        </p:txBody>
      </p:sp>
      <p:cxnSp>
        <p:nvCxnSpPr>
          <p:cNvPr id="37" name="Connector 36"/>
          <p:cNvCxnSpPr/>
          <p:nvPr/>
        </p:nvCxnSpPr>
        <p:spPr>
          <a:xfrm>
            <a:off x="609905" y="5431536"/>
            <a:ext cx="10929823"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09905" y="5431536"/>
            <a:ext cx="1371600" cy="429768"/>
          </a:xfrm>
          <a:prstGeom prst="rect">
            <a:avLst/>
          </a:prstGeom>
          <a:noFill/>
        </p:spPr>
        <p:txBody>
          <a:bodyPr wrap="square" lIns="0" rIns="0" tIns="0" bIns="0" anchor="ctr">
            <a:noAutofit/>
          </a:bodyPr>
          <a:lstStyle/>
          <a:p>
            <a:pPr algn="l">
              <a:spcAft>
                <a:spcPts val="400"/>
              </a:spcAft>
            </a:pPr>
            <a:r>
              <a:rPr sz="1700" b="1" i="0">
                <a:solidFill>
                  <a:srgbClr val="1C6E7E"/>
                </a:solidFill>
                <a:latin typeface="Arial"/>
              </a:rPr>
              <a:t>Loss</a:t>
            </a:r>
          </a:p>
        </p:txBody>
      </p:sp>
      <p:sp>
        <p:nvSpPr>
          <p:cNvPr id="39" name="TextBox 38"/>
          <p:cNvSpPr txBox="1"/>
          <p:nvPr/>
        </p:nvSpPr>
        <p:spPr>
          <a:xfrm>
            <a:off x="2011680" y="5431536"/>
            <a:ext cx="9509760" cy="429768"/>
          </a:xfrm>
          <a:prstGeom prst="rect">
            <a:avLst/>
          </a:prstGeom>
          <a:noFill/>
        </p:spPr>
        <p:txBody>
          <a:bodyPr wrap="square" lIns="0" rIns="0" tIns="0" bIns="0" anchor="ctr">
            <a:noAutofit/>
          </a:bodyPr>
          <a:lstStyle/>
          <a:p>
            <a:pPr algn="l">
              <a:spcAft>
                <a:spcPts val="400"/>
              </a:spcAft>
            </a:pPr>
            <a:r>
              <a:rPr sz="1600" b="0" i="0">
                <a:solidFill>
                  <a:srgbClr val="4A4A4A"/>
                </a:solidFill>
                <a:latin typeface="Arial"/>
              </a:rPr>
              <a:t>‖x̂ − x‖</a:t>
            </a:r>
            <a:r>
              <a:rPr sz="1600" b="0" i="0" baseline="-25000">
                <a:solidFill>
                  <a:srgbClr val="4A4A4A"/>
                </a:solidFill>
                <a:latin typeface="Arial"/>
              </a:rPr>
              <a:t>2</a:t>
            </a:r>
            <a:r>
              <a:rPr sz="1600" b="0" i="0">
                <a:solidFill>
                  <a:srgbClr val="4A4A4A"/>
                </a:solidFill>
                <a:latin typeface="Arial"/>
              </a:rPr>
              <a:t> + λ‖f‖</a:t>
            </a:r>
            <a:r>
              <a:rPr sz="1600" b="0" i="0" baseline="-25000">
                <a:solidFill>
                  <a:srgbClr val="4A4A4A"/>
                </a:solidFill>
                <a:latin typeface="Arial"/>
              </a:rPr>
              <a:t>1</a:t>
            </a:r>
            <a:r>
              <a:rPr sz="1600" b="0" i="0">
                <a:solidFill>
                  <a:srgbClr val="4A4A4A"/>
                </a:solidFill>
                <a:latin typeface="Arial"/>
              </a:rPr>
              <a:t>: L2 reconstruction + L1 để f sparse</a:t>
            </a:r>
          </a:p>
        </p:txBody>
      </p:sp>
      <p:cxnSp>
        <p:nvCxnSpPr>
          <p:cNvPr id="40" name="Connector 39"/>
          <p:cNvCxnSpPr/>
          <p:nvPr/>
        </p:nvCxnSpPr>
        <p:spPr>
          <a:xfrm>
            <a:off x="609905" y="5861304"/>
            <a:ext cx="10929823"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09905" y="5861304"/>
            <a:ext cx="1371600" cy="429768"/>
          </a:xfrm>
          <a:prstGeom prst="rect">
            <a:avLst/>
          </a:prstGeom>
          <a:noFill/>
        </p:spPr>
        <p:txBody>
          <a:bodyPr wrap="square" lIns="0" rIns="0" tIns="0" bIns="0" anchor="ctr">
            <a:noAutofit/>
          </a:bodyPr>
          <a:lstStyle/>
          <a:p>
            <a:pPr algn="l">
              <a:spcAft>
                <a:spcPts val="400"/>
              </a:spcAft>
            </a:pPr>
            <a:r>
              <a:rPr sz="1700" b="1" i="0">
                <a:solidFill>
                  <a:srgbClr val="1C6E7E"/>
                </a:solidFill>
                <a:latin typeface="Arial"/>
              </a:rPr>
              <a:t>Tên</a:t>
            </a:r>
          </a:p>
        </p:txBody>
      </p:sp>
      <p:sp>
        <p:nvSpPr>
          <p:cNvPr id="42" name="TextBox 41"/>
          <p:cNvSpPr txBox="1"/>
          <p:nvPr/>
        </p:nvSpPr>
        <p:spPr>
          <a:xfrm>
            <a:off x="2011680" y="5861304"/>
            <a:ext cx="9509760" cy="429768"/>
          </a:xfrm>
          <a:prstGeom prst="rect">
            <a:avLst/>
          </a:prstGeom>
          <a:noFill/>
        </p:spPr>
        <p:txBody>
          <a:bodyPr wrap="square" lIns="0" rIns="0" tIns="0" bIns="0" anchor="ctr">
            <a:noAutofit/>
          </a:bodyPr>
          <a:lstStyle/>
          <a:p>
            <a:pPr algn="l">
              <a:spcAft>
                <a:spcPts val="400"/>
              </a:spcAft>
            </a:pPr>
            <a:r>
              <a:rPr sz="1600" b="0" i="0">
                <a:solidFill>
                  <a:srgbClr val="4A4A4A"/>
                </a:solidFill>
                <a:latin typeface="Arial"/>
              </a:rPr>
              <a:t>đặt sau khi train, dựa vào text làm f</a:t>
            </a:r>
            <a:r>
              <a:rPr sz="1600" b="0" i="0" baseline="-25000">
                <a:solidFill>
                  <a:srgbClr val="4A4A4A"/>
                </a:solidFill>
                <a:latin typeface="Arial"/>
              </a:rPr>
              <a:t>i</a:t>
            </a:r>
            <a:r>
              <a:rPr sz="1600" b="0" i="0">
                <a:solidFill>
                  <a:srgbClr val="4A4A4A"/>
                </a:solidFill>
                <a:latin typeface="Arial"/>
              </a:rPr>
              <a:t> lớn nhất (Neuronpedia)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2. Phương pháp</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Setup: SAE gắn vào model</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07</a:t>
            </a:r>
          </a:p>
        </p:txBody>
      </p:sp>
      <p:pic>
        <p:nvPicPr>
          <p:cNvPr id="7" name="Picture 6" descr="_crop_5362094258929657806.png"/>
          <p:cNvPicPr>
            <a:picLocks noChangeAspect="1"/>
          </p:cNvPicPr>
          <p:nvPr/>
        </p:nvPicPr>
        <p:blipFill>
          <a:blip r:embed="rId2"/>
          <a:stretch>
            <a:fillRect/>
          </a:stretch>
        </p:blipFill>
        <p:spPr>
          <a:xfrm>
            <a:off x="609905" y="1737360"/>
            <a:ext cx="6949440" cy="1327739"/>
          </a:xfrm>
          <a:prstGeom prst="rect">
            <a:avLst/>
          </a:prstGeom>
        </p:spPr>
      </p:pic>
      <p:sp>
        <p:nvSpPr>
          <p:cNvPr id="8" name="TextBox 7"/>
          <p:cNvSpPr txBox="1"/>
          <p:nvPr/>
        </p:nvSpPr>
        <p:spPr>
          <a:xfrm>
            <a:off x="609905" y="3246120"/>
            <a:ext cx="1280160" cy="548640"/>
          </a:xfrm>
          <a:prstGeom prst="rect">
            <a:avLst/>
          </a:prstGeom>
          <a:noFill/>
        </p:spPr>
        <p:txBody>
          <a:bodyPr wrap="square" lIns="0" rIns="0" tIns="0" bIns="0" anchor="b">
            <a:noAutofit/>
          </a:bodyPr>
          <a:lstStyle/>
          <a:p>
            <a:pPr algn="l">
              <a:spcAft>
                <a:spcPts val="400"/>
              </a:spcAft>
            </a:pPr>
          </a:p>
        </p:txBody>
      </p:sp>
      <p:sp>
        <p:nvSpPr>
          <p:cNvPr id="9" name="TextBox 8"/>
          <p:cNvSpPr txBox="1"/>
          <p:nvPr/>
        </p:nvSpPr>
        <p:spPr>
          <a:xfrm>
            <a:off x="1981505" y="3246120"/>
            <a:ext cx="2423160" cy="548640"/>
          </a:xfrm>
          <a:prstGeom prst="rect">
            <a:avLst/>
          </a:prstGeom>
          <a:noFill/>
        </p:spPr>
        <p:txBody>
          <a:bodyPr wrap="square" lIns="0" rIns="0" tIns="0" bIns="0" anchor="b">
            <a:noAutofit/>
          </a:bodyPr>
          <a:lstStyle/>
          <a:p>
            <a:pPr algn="l">
              <a:spcAft>
                <a:spcPts val="400"/>
              </a:spcAft>
            </a:pPr>
            <a:r>
              <a:rPr sz="1400" b="0" i="0">
                <a:solidFill>
                  <a:srgbClr val="6E757E"/>
                </a:solidFill>
                <a:latin typeface="Arial"/>
              </a:rPr>
              <a:t>Pythia-70M</a:t>
            </a:r>
          </a:p>
        </p:txBody>
      </p:sp>
      <p:sp>
        <p:nvSpPr>
          <p:cNvPr id="10" name="TextBox 9"/>
          <p:cNvSpPr txBox="1"/>
          <p:nvPr/>
        </p:nvSpPr>
        <p:spPr>
          <a:xfrm>
            <a:off x="4496105" y="3246120"/>
            <a:ext cx="3200400" cy="548640"/>
          </a:xfrm>
          <a:prstGeom prst="rect">
            <a:avLst/>
          </a:prstGeom>
          <a:noFill/>
        </p:spPr>
        <p:txBody>
          <a:bodyPr wrap="square" lIns="0" rIns="0" tIns="0" bIns="0" anchor="b">
            <a:noAutofit/>
          </a:bodyPr>
          <a:lstStyle/>
          <a:p>
            <a:pPr algn="l">
              <a:spcAft>
                <a:spcPts val="400"/>
              </a:spcAft>
            </a:pPr>
            <a:r>
              <a:rPr sz="1400" b="0" i="0">
                <a:solidFill>
                  <a:srgbClr val="6E757E"/>
                </a:solidFill>
                <a:latin typeface="Arial"/>
              </a:rPr>
              <a:t>Gemma-2-2B</a:t>
            </a:r>
          </a:p>
        </p:txBody>
      </p:sp>
      <p:cxnSp>
        <p:nvCxnSpPr>
          <p:cNvPr id="11" name="Connector 10"/>
          <p:cNvCxnSpPr/>
          <p:nvPr/>
        </p:nvCxnSpPr>
        <p:spPr>
          <a:xfrm>
            <a:off x="609905" y="3840480"/>
            <a:ext cx="7178040" cy="0"/>
          </a:xfrm>
          <a:prstGeom prst="line">
            <a:avLst/>
          </a:prstGeom>
          <a:ln w="19050">
            <a:solidFill>
              <a:srgbClr val="1C6E7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905" y="3886200"/>
            <a:ext cx="128016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Layer</a:t>
            </a:r>
          </a:p>
        </p:txBody>
      </p:sp>
      <p:sp>
        <p:nvSpPr>
          <p:cNvPr id="13" name="TextBox 12"/>
          <p:cNvSpPr txBox="1"/>
          <p:nvPr/>
        </p:nvSpPr>
        <p:spPr>
          <a:xfrm>
            <a:off x="1981505" y="3886200"/>
            <a:ext cx="242316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layer 0–5</a:t>
            </a:r>
          </a:p>
        </p:txBody>
      </p:sp>
      <p:sp>
        <p:nvSpPr>
          <p:cNvPr id="14" name="TextBox 13"/>
          <p:cNvSpPr txBox="1"/>
          <p:nvPr/>
        </p:nvSpPr>
        <p:spPr>
          <a:xfrm>
            <a:off x="4496105" y="3886200"/>
            <a:ext cx="320040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26 layer</a:t>
            </a:r>
          </a:p>
        </p:txBody>
      </p:sp>
      <p:cxnSp>
        <p:nvCxnSpPr>
          <p:cNvPr id="15" name="Connector 14"/>
          <p:cNvCxnSpPr/>
          <p:nvPr/>
        </p:nvCxnSpPr>
        <p:spPr>
          <a:xfrm>
            <a:off x="609905" y="4434840"/>
            <a:ext cx="717804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905" y="4434840"/>
            <a:ext cx="128016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SAE</a:t>
            </a:r>
          </a:p>
        </p:txBody>
      </p:sp>
      <p:sp>
        <p:nvSpPr>
          <p:cNvPr id="17" name="TextBox 16"/>
          <p:cNvSpPr txBox="1"/>
          <p:nvPr/>
        </p:nvSpPr>
        <p:spPr>
          <a:xfrm>
            <a:off x="1981505" y="4434840"/>
            <a:ext cx="242316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tự train, có SAE embedding</a:t>
            </a:r>
          </a:p>
        </p:txBody>
      </p:sp>
      <p:sp>
        <p:nvSpPr>
          <p:cNvPr id="18" name="TextBox 17"/>
          <p:cNvSpPr txBox="1"/>
          <p:nvPr/>
        </p:nvSpPr>
        <p:spPr>
          <a:xfrm>
            <a:off x="4496105" y="4434840"/>
            <a:ext cx="320040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Gemma Scope, không có embedding</a:t>
            </a:r>
          </a:p>
        </p:txBody>
      </p:sp>
      <p:cxnSp>
        <p:nvCxnSpPr>
          <p:cNvPr id="19" name="Connector 18"/>
          <p:cNvCxnSpPr/>
          <p:nvPr/>
        </p:nvCxnSpPr>
        <p:spPr>
          <a:xfrm>
            <a:off x="609905" y="4983480"/>
            <a:ext cx="717804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905" y="4983480"/>
            <a:ext cx="128016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d</a:t>
            </a:r>
            <a:r>
              <a:rPr sz="1500" b="0" i="0" baseline="-25000">
                <a:solidFill>
                  <a:srgbClr val="4A4A4A"/>
                </a:solidFill>
                <a:latin typeface="Arial"/>
              </a:rPr>
              <a:t>SAE</a:t>
            </a:r>
          </a:p>
        </p:txBody>
      </p:sp>
      <p:sp>
        <p:nvSpPr>
          <p:cNvPr id="21" name="TextBox 20"/>
          <p:cNvSpPr txBox="1"/>
          <p:nvPr/>
        </p:nvSpPr>
        <p:spPr>
          <a:xfrm>
            <a:off x="1981505" y="4983480"/>
            <a:ext cx="242316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64 × d</a:t>
            </a:r>
          </a:p>
        </p:txBody>
      </p:sp>
      <p:sp>
        <p:nvSpPr>
          <p:cNvPr id="22" name="TextBox 21"/>
          <p:cNvSpPr txBox="1"/>
          <p:nvPr/>
        </p:nvSpPr>
        <p:spPr>
          <a:xfrm>
            <a:off x="4496105" y="4983480"/>
            <a:ext cx="320040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8 × d (width 16 384)</a:t>
            </a:r>
          </a:p>
        </p:txBody>
      </p:sp>
      <p:cxnSp>
        <p:nvCxnSpPr>
          <p:cNvPr id="23" name="Connector 22"/>
          <p:cNvCxnSpPr/>
          <p:nvPr/>
        </p:nvCxnSpPr>
        <p:spPr>
          <a:xfrm>
            <a:off x="609905" y="5532120"/>
            <a:ext cx="717804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09905" y="5532120"/>
            <a:ext cx="128016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Encoder</a:t>
            </a:r>
          </a:p>
        </p:txBody>
      </p:sp>
      <p:sp>
        <p:nvSpPr>
          <p:cNvPr id="25" name="TextBox 24"/>
          <p:cNvSpPr txBox="1"/>
          <p:nvPr/>
        </p:nvSpPr>
        <p:spPr>
          <a:xfrm>
            <a:off x="1981505" y="5532120"/>
            <a:ext cx="242316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ReLU</a:t>
            </a:r>
          </a:p>
        </p:txBody>
      </p:sp>
      <p:sp>
        <p:nvSpPr>
          <p:cNvPr id="26" name="TextBox 25"/>
          <p:cNvSpPr txBox="1"/>
          <p:nvPr/>
        </p:nvSpPr>
        <p:spPr>
          <a:xfrm>
            <a:off x="4496105" y="5532120"/>
            <a:ext cx="3200400" cy="54864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JumpReLU</a:t>
            </a:r>
          </a:p>
        </p:txBody>
      </p:sp>
      <p:cxnSp>
        <p:nvCxnSpPr>
          <p:cNvPr id="27" name="Connector 26"/>
          <p:cNvCxnSpPr/>
          <p:nvPr/>
        </p:nvCxnSpPr>
        <p:spPr>
          <a:xfrm>
            <a:off x="609905" y="6080760"/>
            <a:ext cx="717804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001000" y="1783080"/>
            <a:ext cx="3538728" cy="1234440"/>
          </a:xfrm>
          <a:prstGeom prst="roundRect">
            <a:avLst>
              <a:gd name="adj" fmla="val 12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9" name="TextBox 28"/>
          <p:cNvSpPr txBox="1"/>
          <p:nvPr/>
        </p:nvSpPr>
        <p:spPr>
          <a:xfrm>
            <a:off x="8001000" y="1783080"/>
            <a:ext cx="3538728" cy="1234440"/>
          </a:xfrm>
          <a:prstGeom prst="rect">
            <a:avLst/>
          </a:prstGeom>
          <a:noFill/>
        </p:spPr>
        <p:txBody>
          <a:bodyPr wrap="square" lIns="0" rIns="0" tIns="0" bIns="0" anchor="ctr">
            <a:noAutofit/>
          </a:bodyPr>
          <a:lstStyle/>
          <a:p>
            <a:pPr algn="ctr">
              <a:spcAft>
                <a:spcPts val="400"/>
              </a:spcAft>
            </a:pPr>
            <a:r>
              <a:rPr sz="3600" b="1" i="0">
                <a:solidFill>
                  <a:srgbClr val="1B2430"/>
                </a:solidFill>
                <a:latin typeface="Arial"/>
              </a:rPr>
              <a:t>x̂ + ε = x</a:t>
            </a:r>
          </a:p>
        </p:txBody>
      </p:sp>
      <p:sp>
        <p:nvSpPr>
          <p:cNvPr id="30" name="Rounded Rectangle 29"/>
          <p:cNvSpPr/>
          <p:nvPr/>
        </p:nvSpPr>
        <p:spPr>
          <a:xfrm>
            <a:off x="8001000" y="3246120"/>
            <a:ext cx="3538728" cy="868680"/>
          </a:xfrm>
          <a:prstGeom prst="roundRect">
            <a:avLst>
              <a:gd name="adj" fmla="val 12000"/>
            </a:avLst>
          </a:prstGeom>
          <a:solidFill>
            <a:srgbClr val="FFFFFF"/>
          </a:solidFill>
          <a:ln w="952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1" name="TextBox 30"/>
          <p:cNvSpPr txBox="1"/>
          <p:nvPr/>
        </p:nvSpPr>
        <p:spPr>
          <a:xfrm>
            <a:off x="8183880" y="3246120"/>
            <a:ext cx="3200400" cy="868680"/>
          </a:xfrm>
          <a:prstGeom prst="rect">
            <a:avLst/>
          </a:prstGeom>
          <a:noFill/>
        </p:spPr>
        <p:txBody>
          <a:bodyPr wrap="square" lIns="0" rIns="0" tIns="0" bIns="0" anchor="ctr">
            <a:noAutofit/>
          </a:bodyPr>
          <a:lstStyle/>
          <a:p>
            <a:pPr algn="l">
              <a:spcAft>
                <a:spcPts val="400"/>
              </a:spcAft>
            </a:pPr>
            <a:r>
              <a:rPr sz="1500" b="1" i="0">
                <a:solidFill>
                  <a:srgbClr val="4A4A4A"/>
                </a:solidFill>
                <a:latin typeface="Arial"/>
              </a:rPr>
              <a:t>Node</a:t>
            </a:r>
            <a:r>
              <a:rPr sz="1500" b="0" i="0">
                <a:solidFill>
                  <a:srgbClr val="4A4A4A"/>
                </a:solidFill>
                <a:latin typeface="Arial"/>
              </a:rPr>
              <a:t> = một f</a:t>
            </a:r>
            <a:r>
              <a:rPr sz="1500" b="0" i="0" baseline="-25000">
                <a:solidFill>
                  <a:srgbClr val="4A4A4A"/>
                </a:solidFill>
                <a:latin typeface="Arial"/>
              </a:rPr>
              <a:t>i</a:t>
            </a:r>
            <a:r>
              <a:rPr sz="1500" b="0" i="0">
                <a:solidFill>
                  <a:srgbClr val="4A4A4A"/>
                </a:solidFill>
                <a:latin typeface="Arial"/>
              </a:rPr>
              <a:t> hoặc một ε, tại một vị trí token</a:t>
            </a:r>
          </a:p>
        </p:txBody>
      </p:sp>
      <p:sp>
        <p:nvSpPr>
          <p:cNvPr id="32" name="Rounded Rectangle 31"/>
          <p:cNvSpPr/>
          <p:nvPr/>
        </p:nvSpPr>
        <p:spPr>
          <a:xfrm>
            <a:off x="8001000" y="4224528"/>
            <a:ext cx="3538728" cy="868680"/>
          </a:xfrm>
          <a:prstGeom prst="roundRect">
            <a:avLst>
              <a:gd name="adj" fmla="val 12000"/>
            </a:avLst>
          </a:prstGeom>
          <a:solidFill>
            <a:srgbClr val="FFFFFF"/>
          </a:solidFill>
          <a:ln w="952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3" name="TextBox 32"/>
          <p:cNvSpPr txBox="1"/>
          <p:nvPr/>
        </p:nvSpPr>
        <p:spPr>
          <a:xfrm>
            <a:off x="8183880" y="4224528"/>
            <a:ext cx="3200400" cy="86868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Giữ ε nên output của LM không đổi khi gắn SAE</a:t>
            </a:r>
          </a:p>
        </p:txBody>
      </p:sp>
      <p:sp>
        <p:nvSpPr>
          <p:cNvPr id="34" name="Rounded Rectangle 33"/>
          <p:cNvSpPr/>
          <p:nvPr/>
        </p:nvSpPr>
        <p:spPr>
          <a:xfrm>
            <a:off x="8001000" y="5202936"/>
            <a:ext cx="3538728" cy="868680"/>
          </a:xfrm>
          <a:prstGeom prst="roundRect">
            <a:avLst>
              <a:gd name="adj" fmla="val 12000"/>
            </a:avLst>
          </a:prstGeom>
          <a:solidFill>
            <a:srgbClr val="FFFFFF"/>
          </a:solidFill>
          <a:ln w="952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5" name="TextBox 34"/>
          <p:cNvSpPr txBox="1"/>
          <p:nvPr/>
        </p:nvSpPr>
        <p:spPr>
          <a:xfrm>
            <a:off x="8183880" y="5202936"/>
            <a:ext cx="3200400" cy="868680"/>
          </a:xfrm>
          <a:prstGeom prst="rect">
            <a:avLst/>
          </a:prstGeom>
          <a:noFill/>
        </p:spPr>
        <p:txBody>
          <a:bodyPr wrap="square" lIns="0" rIns="0" tIns="0" bIns="0" anchor="ctr">
            <a:noAutofit/>
          </a:bodyPr>
          <a:lstStyle/>
          <a:p>
            <a:pPr algn="l">
              <a:spcAft>
                <a:spcPts val="400"/>
              </a:spcAft>
            </a:pPr>
            <a:r>
              <a:rPr sz="1500" b="0" i="0">
                <a:solidFill>
                  <a:srgbClr val="8B5A5F"/>
                </a:solidFill>
                <a:latin typeface="Arial"/>
              </a:rPr>
              <a:t>Bỏ ε thì layer sau nhận x̂ ≠ x, tức là đang giải thích một model khác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2. Phương pháp</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Indirect effect (IE)</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08</a:t>
            </a:r>
          </a:p>
        </p:txBody>
      </p:sp>
      <p:sp>
        <p:nvSpPr>
          <p:cNvPr id="7" name="TextBox 6"/>
          <p:cNvSpPr txBox="1"/>
          <p:nvPr/>
        </p:nvSpPr>
        <p:spPr>
          <a:xfrm>
            <a:off x="609905" y="1691640"/>
            <a:ext cx="10972800" cy="411480"/>
          </a:xfrm>
          <a:prstGeom prst="rect">
            <a:avLst/>
          </a:prstGeom>
          <a:noFill/>
        </p:spPr>
        <p:txBody>
          <a:bodyPr wrap="square" lIns="0" rIns="0" tIns="0" bIns="0" anchor="t">
            <a:noAutofit/>
          </a:bodyPr>
          <a:lstStyle/>
          <a:p>
            <a:pPr algn="l">
              <a:spcAft>
                <a:spcPts val="400"/>
              </a:spcAft>
            </a:pPr>
            <a:r>
              <a:rPr sz="1800" b="0" i="0">
                <a:solidFill>
                  <a:srgbClr val="4A4A4A"/>
                </a:solidFill>
                <a:latin typeface="Arial"/>
              </a:rPr>
              <a:t>Metric:  m = log P(have) − log P(has)</a:t>
            </a:r>
          </a:p>
        </p:txBody>
      </p:sp>
      <p:sp>
        <p:nvSpPr>
          <p:cNvPr id="8" name="TextBox 7"/>
          <p:cNvSpPr txBox="1"/>
          <p:nvPr/>
        </p:nvSpPr>
        <p:spPr>
          <a:xfrm>
            <a:off x="609905" y="2203704"/>
            <a:ext cx="1280160" cy="274320"/>
          </a:xfrm>
          <a:prstGeom prst="rect">
            <a:avLst/>
          </a:prstGeom>
          <a:noFill/>
        </p:spPr>
        <p:txBody>
          <a:bodyPr wrap="square" lIns="0" rIns="0" tIns="0" bIns="0" anchor="t">
            <a:noAutofit/>
          </a:bodyPr>
          <a:lstStyle/>
          <a:p>
            <a:pPr algn="l">
              <a:spcAft>
                <a:spcPts val="400"/>
              </a:spcAft>
            </a:pPr>
            <a:r>
              <a:rPr sz="1400" b="0" i="0">
                <a:solidFill>
                  <a:srgbClr val="6E757E"/>
                </a:solidFill>
                <a:latin typeface="Arial"/>
              </a:rPr>
              <a:t>x</a:t>
            </a:r>
            <a:r>
              <a:rPr sz="1400" b="0" i="0" baseline="-25000">
                <a:solidFill>
                  <a:srgbClr val="6E757E"/>
                </a:solidFill>
                <a:latin typeface="Arial"/>
              </a:rPr>
              <a:t>patch</a:t>
            </a:r>
          </a:p>
        </p:txBody>
      </p:sp>
      <p:sp>
        <p:nvSpPr>
          <p:cNvPr id="9" name="Rounded Rectangle 8"/>
          <p:cNvSpPr/>
          <p:nvPr/>
        </p:nvSpPr>
        <p:spPr>
          <a:xfrm>
            <a:off x="609905" y="2514600"/>
            <a:ext cx="2103120" cy="548640"/>
          </a:xfrm>
          <a:prstGeom prst="roundRect">
            <a:avLst>
              <a:gd name="adj" fmla="val 20000"/>
            </a:avLst>
          </a:prstGeom>
          <a:solidFill>
            <a:srgbClr val="FFFFFF"/>
          </a:solidFill>
          <a:ln w="17780">
            <a:solidFill>
              <a:srgbClr val="8B5A5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600" b="0" i="0">
                <a:solidFill>
                  <a:srgbClr val="4A4A4A"/>
                </a:solidFill>
                <a:latin typeface="Arial"/>
              </a:rPr>
              <a:t>The teachers</a:t>
            </a:r>
          </a:p>
        </p:txBody>
      </p:sp>
      <p:cxnSp>
        <p:nvCxnSpPr>
          <p:cNvPr id="10" name="Connector 9"/>
          <p:cNvCxnSpPr/>
          <p:nvPr/>
        </p:nvCxnSpPr>
        <p:spPr>
          <a:xfrm>
            <a:off x="2715768" y="2788920"/>
            <a:ext cx="393192" cy="0"/>
          </a:xfrm>
          <a:prstGeom prst="line">
            <a:avLst/>
          </a:prstGeom>
          <a:ln w="15240">
            <a:solidFill>
              <a:srgbClr val="6E75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154680" y="2514600"/>
            <a:ext cx="1097280" cy="548640"/>
          </a:xfrm>
          <a:prstGeom prst="roundRect">
            <a:avLst>
              <a:gd name="adj" fmla="val 15000"/>
            </a:avLst>
          </a:prstGeom>
          <a:solidFill>
            <a:srgbClr val="E6EAED"/>
          </a:solidFill>
          <a:ln w="10160">
            <a:solidFill>
              <a:srgbClr val="6E75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cxnSp>
        <p:nvCxnSpPr>
          <p:cNvPr id="12" name="Connector 11"/>
          <p:cNvCxnSpPr/>
          <p:nvPr/>
        </p:nvCxnSpPr>
        <p:spPr>
          <a:xfrm>
            <a:off x="4251960" y="2788920"/>
            <a:ext cx="365760" cy="0"/>
          </a:xfrm>
          <a:prstGeom prst="line">
            <a:avLst/>
          </a:prstGeom>
          <a:ln w="15240">
            <a:solidFill>
              <a:srgbClr val="6E75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17720" y="2514600"/>
            <a:ext cx="1097280" cy="548640"/>
          </a:xfrm>
          <a:prstGeom prst="roundRect">
            <a:avLst>
              <a:gd name="adj" fmla="val 15000"/>
            </a:avLst>
          </a:prstGeom>
          <a:solidFill>
            <a:srgbClr val="E6EAED"/>
          </a:solidFill>
          <a:ln w="10160">
            <a:solidFill>
              <a:srgbClr val="6E75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cxnSp>
        <p:nvCxnSpPr>
          <p:cNvPr id="14" name="Connector 13"/>
          <p:cNvCxnSpPr/>
          <p:nvPr/>
        </p:nvCxnSpPr>
        <p:spPr>
          <a:xfrm>
            <a:off x="5715000" y="2788920"/>
            <a:ext cx="365760" cy="0"/>
          </a:xfrm>
          <a:prstGeom prst="line">
            <a:avLst/>
          </a:prstGeom>
          <a:ln w="15240">
            <a:solidFill>
              <a:srgbClr val="6E75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080760" y="2514600"/>
            <a:ext cx="1097280" cy="548640"/>
          </a:xfrm>
          <a:prstGeom prst="roundRect">
            <a:avLst>
              <a:gd name="adj" fmla="val 15000"/>
            </a:avLst>
          </a:prstGeom>
          <a:solidFill>
            <a:srgbClr val="E6EAED"/>
          </a:solidFill>
          <a:ln w="10160">
            <a:solidFill>
              <a:srgbClr val="6E75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6" name="Oval 15"/>
          <p:cNvSpPr/>
          <p:nvPr/>
        </p:nvSpPr>
        <p:spPr>
          <a:xfrm>
            <a:off x="4956048" y="2578608"/>
            <a:ext cx="420624" cy="420624"/>
          </a:xfrm>
          <a:prstGeom prst="ellipse">
            <a:avLst/>
          </a:prstGeom>
          <a:solidFill>
            <a:srgbClr val="8B5A5F"/>
          </a:solidFill>
          <a:ln w="1524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0" rIns="0" tIns="36576" bIns="36576" wrap="square">
            <a:noAutofit/>
          </a:bodyPr>
          <a:lstStyle/>
          <a:p>
            <a:pPr algn="ctr"/>
            <a:r>
              <a:rPr sz="1300" b="1" i="0">
                <a:solidFill>
                  <a:srgbClr val="FFFFFF"/>
                </a:solidFill>
                <a:latin typeface="Arial"/>
              </a:rPr>
              <a:t>a</a:t>
            </a:r>
          </a:p>
        </p:txBody>
      </p:sp>
      <p:cxnSp>
        <p:nvCxnSpPr>
          <p:cNvPr id="17" name="Connector 16"/>
          <p:cNvCxnSpPr/>
          <p:nvPr/>
        </p:nvCxnSpPr>
        <p:spPr>
          <a:xfrm>
            <a:off x="7178040" y="2788920"/>
            <a:ext cx="457200" cy="0"/>
          </a:xfrm>
          <a:prstGeom prst="line">
            <a:avLst/>
          </a:prstGeom>
          <a:ln w="15240">
            <a:solidFill>
              <a:srgbClr val="6E75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671816" y="2487168"/>
            <a:ext cx="603504" cy="603504"/>
          </a:xfrm>
          <a:prstGeom prst="ellipse">
            <a:avLst/>
          </a:prstGeom>
          <a:solidFill>
            <a:srgbClr val="FFFFFF"/>
          </a:solidFill>
          <a:ln w="1524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0" rIns="0" tIns="36576" bIns="36576" wrap="square">
            <a:noAutofit/>
          </a:bodyPr>
          <a:lstStyle/>
          <a:p>
            <a:pPr algn="ctr"/>
            <a:r>
              <a:rPr sz="1700" b="1" i="0">
                <a:solidFill>
                  <a:srgbClr val="4A4A4A"/>
                </a:solidFill>
                <a:latin typeface="Arial"/>
              </a:rPr>
              <a:t>m</a:t>
            </a:r>
          </a:p>
        </p:txBody>
      </p:sp>
      <p:sp>
        <p:nvSpPr>
          <p:cNvPr id="19" name="TextBox 18"/>
          <p:cNvSpPr txBox="1"/>
          <p:nvPr/>
        </p:nvSpPr>
        <p:spPr>
          <a:xfrm>
            <a:off x="609905" y="3575304"/>
            <a:ext cx="1280160" cy="274320"/>
          </a:xfrm>
          <a:prstGeom prst="rect">
            <a:avLst/>
          </a:prstGeom>
          <a:noFill/>
        </p:spPr>
        <p:txBody>
          <a:bodyPr wrap="square" lIns="0" rIns="0" tIns="0" bIns="0" anchor="t">
            <a:noAutofit/>
          </a:bodyPr>
          <a:lstStyle/>
          <a:p>
            <a:pPr algn="l">
              <a:spcAft>
                <a:spcPts val="400"/>
              </a:spcAft>
            </a:pPr>
            <a:r>
              <a:rPr sz="1400" b="0" i="0">
                <a:solidFill>
                  <a:srgbClr val="6E757E"/>
                </a:solidFill>
                <a:latin typeface="Arial"/>
              </a:rPr>
              <a:t>x</a:t>
            </a:r>
            <a:r>
              <a:rPr sz="1400" b="0" i="0" baseline="-25000">
                <a:solidFill>
                  <a:srgbClr val="6E757E"/>
                </a:solidFill>
                <a:latin typeface="Arial"/>
              </a:rPr>
              <a:t>clean</a:t>
            </a:r>
          </a:p>
        </p:txBody>
      </p:sp>
      <p:sp>
        <p:nvSpPr>
          <p:cNvPr id="20" name="Rounded Rectangle 19"/>
          <p:cNvSpPr/>
          <p:nvPr/>
        </p:nvSpPr>
        <p:spPr>
          <a:xfrm>
            <a:off x="609905" y="3886200"/>
            <a:ext cx="2103120" cy="548640"/>
          </a:xfrm>
          <a:prstGeom prst="roundRect">
            <a:avLst>
              <a:gd name="adj" fmla="val 20000"/>
            </a:avLst>
          </a:prstGeom>
          <a:solidFill>
            <a:srgbClr val="FFFFFF"/>
          </a:solidFill>
          <a:ln w="17780">
            <a:solidFill>
              <a:srgbClr val="1C6E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600" b="0" i="0">
                <a:solidFill>
                  <a:srgbClr val="4A4A4A"/>
                </a:solidFill>
                <a:latin typeface="Arial"/>
              </a:rPr>
              <a:t>The teacher</a:t>
            </a:r>
          </a:p>
        </p:txBody>
      </p:sp>
      <p:cxnSp>
        <p:nvCxnSpPr>
          <p:cNvPr id="21" name="Connector 20"/>
          <p:cNvCxnSpPr/>
          <p:nvPr/>
        </p:nvCxnSpPr>
        <p:spPr>
          <a:xfrm>
            <a:off x="2715768" y="4160520"/>
            <a:ext cx="393192" cy="0"/>
          </a:xfrm>
          <a:prstGeom prst="line">
            <a:avLst/>
          </a:prstGeom>
          <a:ln w="15240">
            <a:solidFill>
              <a:srgbClr val="6E75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154680" y="3886200"/>
            <a:ext cx="1097280" cy="548640"/>
          </a:xfrm>
          <a:prstGeom prst="roundRect">
            <a:avLst>
              <a:gd name="adj" fmla="val 15000"/>
            </a:avLst>
          </a:prstGeom>
          <a:solidFill>
            <a:srgbClr val="E6EAED"/>
          </a:solidFill>
          <a:ln w="10160">
            <a:solidFill>
              <a:srgbClr val="6E75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cxnSp>
        <p:nvCxnSpPr>
          <p:cNvPr id="23" name="Connector 22"/>
          <p:cNvCxnSpPr/>
          <p:nvPr/>
        </p:nvCxnSpPr>
        <p:spPr>
          <a:xfrm>
            <a:off x="4251960" y="4160520"/>
            <a:ext cx="365760" cy="0"/>
          </a:xfrm>
          <a:prstGeom prst="line">
            <a:avLst/>
          </a:prstGeom>
          <a:ln w="15240">
            <a:solidFill>
              <a:srgbClr val="6E75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617720" y="3886200"/>
            <a:ext cx="1097280" cy="548640"/>
          </a:xfrm>
          <a:prstGeom prst="roundRect">
            <a:avLst>
              <a:gd name="adj" fmla="val 15000"/>
            </a:avLst>
          </a:prstGeom>
          <a:solidFill>
            <a:srgbClr val="E6EAED"/>
          </a:solidFill>
          <a:ln w="10160">
            <a:solidFill>
              <a:srgbClr val="6E75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cxnSp>
        <p:nvCxnSpPr>
          <p:cNvPr id="25" name="Connector 24"/>
          <p:cNvCxnSpPr/>
          <p:nvPr/>
        </p:nvCxnSpPr>
        <p:spPr>
          <a:xfrm>
            <a:off x="5715000" y="4160520"/>
            <a:ext cx="365760" cy="0"/>
          </a:xfrm>
          <a:prstGeom prst="line">
            <a:avLst/>
          </a:prstGeom>
          <a:ln w="15240">
            <a:solidFill>
              <a:srgbClr val="6E75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080760" y="3886200"/>
            <a:ext cx="1097280" cy="548640"/>
          </a:xfrm>
          <a:prstGeom prst="roundRect">
            <a:avLst>
              <a:gd name="adj" fmla="val 15000"/>
            </a:avLst>
          </a:prstGeom>
          <a:solidFill>
            <a:srgbClr val="E6EAED"/>
          </a:solidFill>
          <a:ln w="10160">
            <a:solidFill>
              <a:srgbClr val="6E757E"/>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7" name="Oval 26"/>
          <p:cNvSpPr/>
          <p:nvPr/>
        </p:nvSpPr>
        <p:spPr>
          <a:xfrm>
            <a:off x="4956048" y="3950208"/>
            <a:ext cx="420624" cy="420624"/>
          </a:xfrm>
          <a:prstGeom prst="ellipse">
            <a:avLst/>
          </a:prstGeom>
          <a:solidFill>
            <a:srgbClr val="1C6E7E"/>
          </a:solidFill>
          <a:ln w="1524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0" rIns="0" tIns="36576" bIns="36576" wrap="square">
            <a:noAutofit/>
          </a:bodyPr>
          <a:lstStyle/>
          <a:p>
            <a:pPr algn="ctr"/>
            <a:r>
              <a:rPr sz="1300" b="1" i="0">
                <a:solidFill>
                  <a:srgbClr val="FFFFFF"/>
                </a:solidFill>
                <a:latin typeface="Arial"/>
              </a:rPr>
              <a:t>a</a:t>
            </a:r>
          </a:p>
        </p:txBody>
      </p:sp>
      <p:cxnSp>
        <p:nvCxnSpPr>
          <p:cNvPr id="28" name="Connector 27"/>
          <p:cNvCxnSpPr/>
          <p:nvPr/>
        </p:nvCxnSpPr>
        <p:spPr>
          <a:xfrm>
            <a:off x="7178040" y="4160520"/>
            <a:ext cx="457200" cy="0"/>
          </a:xfrm>
          <a:prstGeom prst="line">
            <a:avLst/>
          </a:prstGeom>
          <a:ln w="15240">
            <a:solidFill>
              <a:srgbClr val="6E75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7671816" y="3858768"/>
            <a:ext cx="603504" cy="603504"/>
          </a:xfrm>
          <a:prstGeom prst="ellipse">
            <a:avLst/>
          </a:prstGeom>
          <a:solidFill>
            <a:srgbClr val="FFFFFF"/>
          </a:solidFill>
          <a:ln w="1524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0" rIns="0" tIns="36576" bIns="36576" wrap="square">
            <a:noAutofit/>
          </a:bodyPr>
          <a:lstStyle/>
          <a:p>
            <a:pPr algn="ctr"/>
            <a:r>
              <a:rPr sz="1700" b="1" i="0">
                <a:solidFill>
                  <a:srgbClr val="4A4A4A"/>
                </a:solidFill>
                <a:latin typeface="Arial"/>
              </a:rPr>
              <a:t>m</a:t>
            </a:r>
          </a:p>
        </p:txBody>
      </p:sp>
      <p:cxnSp>
        <p:nvCxnSpPr>
          <p:cNvPr id="30" name="Connector 29"/>
          <p:cNvCxnSpPr/>
          <p:nvPr/>
        </p:nvCxnSpPr>
        <p:spPr>
          <a:xfrm>
            <a:off x="5166360" y="3017520"/>
            <a:ext cx="0" cy="896112"/>
          </a:xfrm>
          <a:prstGeom prst="line">
            <a:avLst/>
          </a:prstGeom>
          <a:ln w="28575">
            <a:solidFill>
              <a:srgbClr val="8B5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349240" y="3246120"/>
            <a:ext cx="2194560" cy="320040"/>
          </a:xfrm>
          <a:prstGeom prst="rect">
            <a:avLst/>
          </a:prstGeom>
          <a:noFill/>
        </p:spPr>
        <p:txBody>
          <a:bodyPr wrap="square" lIns="0" rIns="0" tIns="0" bIns="0" anchor="t">
            <a:noAutofit/>
          </a:bodyPr>
          <a:lstStyle/>
          <a:p>
            <a:pPr algn="l">
              <a:spcAft>
                <a:spcPts val="400"/>
              </a:spcAft>
            </a:pPr>
            <a:r>
              <a:rPr sz="1500" b="1" i="0">
                <a:solidFill>
                  <a:srgbClr val="8B5A5F"/>
                </a:solidFill>
                <a:latin typeface="Arial"/>
              </a:rPr>
              <a:t>do(a = a</a:t>
            </a:r>
            <a:r>
              <a:rPr sz="1500" b="1" i="0" baseline="-25000">
                <a:solidFill>
                  <a:srgbClr val="8B5A5F"/>
                </a:solidFill>
                <a:latin typeface="Arial"/>
              </a:rPr>
              <a:t>patch</a:t>
            </a:r>
            <a:r>
              <a:rPr sz="1500" b="1" i="0">
                <a:solidFill>
                  <a:srgbClr val="8B5A5F"/>
                </a:solidFill>
                <a:latin typeface="Arial"/>
              </a:rPr>
              <a:t>)</a:t>
            </a:r>
          </a:p>
        </p:txBody>
      </p:sp>
      <p:sp>
        <p:nvSpPr>
          <p:cNvPr id="32" name="Rounded Rectangle 31"/>
          <p:cNvSpPr/>
          <p:nvPr/>
        </p:nvSpPr>
        <p:spPr>
          <a:xfrm>
            <a:off x="8641080" y="2331720"/>
            <a:ext cx="2898648" cy="914400"/>
          </a:xfrm>
          <a:prstGeom prst="roundRect">
            <a:avLst>
              <a:gd name="adj" fmla="val 15000"/>
            </a:avLst>
          </a:prstGeom>
          <a:solidFill>
            <a:srgbClr val="FFFFFF"/>
          </a:solidFill>
          <a:ln w="952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3" name="TextBox 32"/>
          <p:cNvSpPr txBox="1"/>
          <p:nvPr/>
        </p:nvSpPr>
        <p:spPr>
          <a:xfrm>
            <a:off x="8823960" y="2331720"/>
            <a:ext cx="2606040" cy="914400"/>
          </a:xfrm>
          <a:prstGeom prst="rect">
            <a:avLst/>
          </a:prstGeom>
          <a:noFill/>
        </p:spPr>
        <p:txBody>
          <a:bodyPr wrap="square" lIns="0" rIns="0" tIns="0" bIns="0" anchor="ctr">
            <a:noAutofit/>
          </a:bodyPr>
          <a:lstStyle/>
          <a:p>
            <a:pPr algn="l">
              <a:spcAft>
                <a:spcPts val="400"/>
              </a:spcAft>
            </a:pPr>
            <a:r>
              <a:rPr sz="1600" b="1" i="0">
                <a:solidFill>
                  <a:srgbClr val="4A4A4A"/>
                </a:solidFill>
                <a:latin typeface="Arial"/>
              </a:rPr>
              <a:t>|IE| lớn</a:t>
            </a:r>
            <a:r>
              <a:rPr sz="1600" b="0" i="0">
                <a:solidFill>
                  <a:srgbClr val="4A4A4A"/>
                </a:solidFill>
                <a:latin typeface="Arial"/>
              </a:rPr>
              <a:t> → node quan trọng</a:t>
            </a:r>
          </a:p>
        </p:txBody>
      </p:sp>
      <p:sp>
        <p:nvSpPr>
          <p:cNvPr id="34" name="Rounded Rectangle 33"/>
          <p:cNvSpPr/>
          <p:nvPr/>
        </p:nvSpPr>
        <p:spPr>
          <a:xfrm>
            <a:off x="8641080" y="3429000"/>
            <a:ext cx="2898648" cy="914400"/>
          </a:xfrm>
          <a:prstGeom prst="roundRect">
            <a:avLst>
              <a:gd name="adj" fmla="val 15000"/>
            </a:avLst>
          </a:prstGeom>
          <a:solidFill>
            <a:srgbClr val="FFFFFF"/>
          </a:solidFill>
          <a:ln w="9525">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5" name="TextBox 34"/>
          <p:cNvSpPr txBox="1"/>
          <p:nvPr/>
        </p:nvSpPr>
        <p:spPr>
          <a:xfrm>
            <a:off x="8823960" y="3429000"/>
            <a:ext cx="2606040" cy="914400"/>
          </a:xfrm>
          <a:prstGeom prst="rect">
            <a:avLst/>
          </a:prstGeom>
          <a:noFill/>
        </p:spPr>
        <p:txBody>
          <a:bodyPr wrap="square" lIns="0" rIns="0" tIns="0" bIns="0" anchor="ctr">
            <a:noAutofit/>
          </a:bodyPr>
          <a:lstStyle/>
          <a:p>
            <a:pPr algn="l">
              <a:spcAft>
                <a:spcPts val="400"/>
              </a:spcAft>
            </a:pPr>
            <a:r>
              <a:rPr sz="1600" b="1" i="0">
                <a:solidFill>
                  <a:srgbClr val="4A4A4A"/>
                </a:solidFill>
                <a:latin typeface="Arial"/>
              </a:rPr>
              <a:t>Dấu</a:t>
            </a:r>
            <a:r>
              <a:rPr sz="1600" b="0" i="0">
                <a:solidFill>
                  <a:srgbClr val="4A4A4A"/>
                </a:solidFill>
                <a:latin typeface="Arial"/>
              </a:rPr>
              <a:t> → node làm m tăng hay giảm</a:t>
            </a:r>
          </a:p>
        </p:txBody>
      </p:sp>
      <p:sp>
        <p:nvSpPr>
          <p:cNvPr id="36" name="Rounded Rectangle 35"/>
          <p:cNvSpPr/>
          <p:nvPr/>
        </p:nvSpPr>
        <p:spPr>
          <a:xfrm>
            <a:off x="609905" y="4754880"/>
            <a:ext cx="10927080" cy="731520"/>
          </a:xfrm>
          <a:prstGeom prst="roundRect">
            <a:avLst>
              <a:gd name="adj" fmla="val 15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7" name="TextBox 36"/>
          <p:cNvSpPr txBox="1"/>
          <p:nvPr/>
        </p:nvSpPr>
        <p:spPr>
          <a:xfrm>
            <a:off x="609905" y="4754880"/>
            <a:ext cx="10927080" cy="731520"/>
          </a:xfrm>
          <a:prstGeom prst="rect">
            <a:avLst/>
          </a:prstGeom>
          <a:noFill/>
        </p:spPr>
        <p:txBody>
          <a:bodyPr wrap="square" lIns="0" rIns="0" tIns="0" bIns="0" anchor="ctr">
            <a:noAutofit/>
          </a:bodyPr>
          <a:lstStyle/>
          <a:p>
            <a:pPr algn="ctr">
              <a:spcAft>
                <a:spcPts val="400"/>
              </a:spcAft>
            </a:pPr>
            <a:r>
              <a:rPr sz="2400" b="0" i="0">
                <a:solidFill>
                  <a:srgbClr val="1B2430"/>
                </a:solidFill>
                <a:latin typeface="Arial"/>
              </a:rPr>
              <a:t>IE(m; a) = m(x</a:t>
            </a:r>
            <a:r>
              <a:rPr sz="2400" b="0" i="0" baseline="-25000">
                <a:solidFill>
                  <a:srgbClr val="1B2430"/>
                </a:solidFill>
                <a:latin typeface="Arial"/>
              </a:rPr>
              <a:t>clean</a:t>
            </a:r>
            <a:r>
              <a:rPr sz="2400" b="0" i="0">
                <a:solidFill>
                  <a:srgbClr val="1B2430"/>
                </a:solidFill>
                <a:latin typeface="Arial"/>
              </a:rPr>
              <a:t> | do(a = a</a:t>
            </a:r>
            <a:r>
              <a:rPr sz="2400" b="0" i="0" baseline="-25000">
                <a:solidFill>
                  <a:srgbClr val="1B2430"/>
                </a:solidFill>
                <a:latin typeface="Arial"/>
              </a:rPr>
              <a:t>patch</a:t>
            </a:r>
            <a:r>
              <a:rPr sz="2400" b="0" i="0">
                <a:solidFill>
                  <a:srgbClr val="1B2430"/>
                </a:solidFill>
                <a:latin typeface="Arial"/>
              </a:rPr>
              <a:t>)) − m(x</a:t>
            </a:r>
            <a:r>
              <a:rPr sz="2400" b="0" i="0" baseline="-25000">
                <a:solidFill>
                  <a:srgbClr val="1B2430"/>
                </a:solidFill>
                <a:latin typeface="Arial"/>
              </a:rPr>
              <a:t>clean</a:t>
            </a:r>
            <a:r>
              <a:rPr sz="2400" b="0" i="0">
                <a:solidFill>
                  <a:srgbClr val="1B2430"/>
                </a:solidFill>
                <a:latin typeface="Arial"/>
              </a:rPr>
              <a:t>)</a:t>
            </a:r>
          </a:p>
        </p:txBody>
      </p:sp>
      <p:sp>
        <p:nvSpPr>
          <p:cNvPr id="38" name="Rounded Rectangle 37"/>
          <p:cNvSpPr/>
          <p:nvPr/>
        </p:nvSpPr>
        <p:spPr>
          <a:xfrm>
            <a:off x="609905" y="5623560"/>
            <a:ext cx="5349240" cy="658368"/>
          </a:xfrm>
          <a:prstGeom prst="roundRect">
            <a:avLst>
              <a:gd name="adj" fmla="val 20000"/>
            </a:avLst>
          </a:prstGeom>
          <a:solidFill>
            <a:srgbClr val="DC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9" name="TextBox 38"/>
          <p:cNvSpPr txBox="1"/>
          <p:nvPr/>
        </p:nvSpPr>
        <p:spPr>
          <a:xfrm>
            <a:off x="838505" y="5623560"/>
            <a:ext cx="4937760" cy="658368"/>
          </a:xfrm>
          <a:prstGeom prst="rect">
            <a:avLst/>
          </a:prstGeom>
          <a:noFill/>
        </p:spPr>
        <p:txBody>
          <a:bodyPr wrap="square" lIns="0" rIns="0" tIns="0" bIns="0" anchor="ctr">
            <a:noAutofit/>
          </a:bodyPr>
          <a:lstStyle/>
          <a:p>
            <a:pPr algn="ctr">
              <a:spcAft>
                <a:spcPts val="400"/>
              </a:spcAft>
            </a:pPr>
            <a:r>
              <a:rPr sz="1800" b="1" i="0">
                <a:solidFill>
                  <a:srgbClr val="1C6E7E"/>
                </a:solidFill>
                <a:latin typeface="Arial"/>
              </a:rPr>
              <a:t>Patching:  a := a</a:t>
            </a:r>
            <a:r>
              <a:rPr sz="1800" b="1" i="0" baseline="-25000">
                <a:solidFill>
                  <a:srgbClr val="1C6E7E"/>
                </a:solidFill>
                <a:latin typeface="Arial"/>
              </a:rPr>
              <a:t>patch</a:t>
            </a:r>
          </a:p>
        </p:txBody>
      </p:sp>
      <p:sp>
        <p:nvSpPr>
          <p:cNvPr id="40" name="Rounded Rectangle 39"/>
          <p:cNvSpPr/>
          <p:nvPr/>
        </p:nvSpPr>
        <p:spPr>
          <a:xfrm>
            <a:off x="6187745" y="5623560"/>
            <a:ext cx="5349240" cy="658368"/>
          </a:xfrm>
          <a:prstGeom prst="roundRect">
            <a:avLst>
              <a:gd name="adj" fmla="val 20000"/>
            </a:avLst>
          </a:prstGeom>
          <a:solidFill>
            <a:srgbClr val="F3E8E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1" name="TextBox 40"/>
          <p:cNvSpPr txBox="1"/>
          <p:nvPr/>
        </p:nvSpPr>
        <p:spPr>
          <a:xfrm>
            <a:off x="6416345" y="5623560"/>
            <a:ext cx="4937760" cy="658368"/>
          </a:xfrm>
          <a:prstGeom prst="rect">
            <a:avLst/>
          </a:prstGeom>
          <a:noFill/>
        </p:spPr>
        <p:txBody>
          <a:bodyPr wrap="square" lIns="0" rIns="0" tIns="0" bIns="0" anchor="ctr">
            <a:noAutofit/>
          </a:bodyPr>
          <a:lstStyle/>
          <a:p>
            <a:pPr algn="ctr">
              <a:spcAft>
                <a:spcPts val="400"/>
              </a:spcAft>
            </a:pPr>
            <a:r>
              <a:rPr sz="1800" b="1" i="0">
                <a:solidFill>
                  <a:srgbClr val="8B5A5F"/>
                </a:solidFill>
                <a:latin typeface="Arial"/>
              </a:rPr>
              <a:t>Zero-ablation:  a := 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2. Phương pháp</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Xấp xỉ IE: AtP và IG</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09</a:t>
            </a:r>
          </a:p>
        </p:txBody>
      </p:sp>
      <p:sp>
        <p:nvSpPr>
          <p:cNvPr id="7" name="Rounded Rectangle 6"/>
          <p:cNvSpPr/>
          <p:nvPr/>
        </p:nvSpPr>
        <p:spPr>
          <a:xfrm>
            <a:off x="609905" y="1737360"/>
            <a:ext cx="5349240" cy="502920"/>
          </a:xfrm>
          <a:prstGeom prst="roundRect">
            <a:avLst>
              <a:gd name="adj" fmla="val 50000"/>
            </a:avLst>
          </a:prstGeom>
          <a:solidFill>
            <a:srgbClr val="DC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700" b="1" i="0">
                <a:solidFill>
                  <a:srgbClr val="1C6E7E"/>
                </a:solidFill>
                <a:latin typeface="Arial"/>
              </a:rPr>
              <a:t>Attribution patching (Eq. 3)</a:t>
            </a:r>
          </a:p>
        </p:txBody>
      </p:sp>
      <p:sp>
        <p:nvSpPr>
          <p:cNvPr id="8" name="TextBox 7"/>
          <p:cNvSpPr txBox="1"/>
          <p:nvPr/>
        </p:nvSpPr>
        <p:spPr>
          <a:xfrm>
            <a:off x="609905" y="2331720"/>
            <a:ext cx="5349240" cy="548640"/>
          </a:xfrm>
          <a:prstGeom prst="rect">
            <a:avLst/>
          </a:prstGeom>
          <a:noFill/>
        </p:spPr>
        <p:txBody>
          <a:bodyPr wrap="square" lIns="0" rIns="0" tIns="0" bIns="0" anchor="ctr">
            <a:noAutofit/>
          </a:bodyPr>
          <a:lstStyle/>
          <a:p>
            <a:pPr algn="ctr">
              <a:spcAft>
                <a:spcPts val="400"/>
              </a:spcAft>
            </a:pPr>
            <a:r>
              <a:rPr sz="1500" b="0" i="0">
                <a:solidFill>
                  <a:srgbClr val="1B2430"/>
                </a:solidFill>
                <a:latin typeface="Arial"/>
              </a:rPr>
              <a:t>IÊ</a:t>
            </a:r>
            <a:r>
              <a:rPr sz="1500" b="0" i="0" baseline="-25000">
                <a:solidFill>
                  <a:srgbClr val="1B2430"/>
                </a:solidFill>
                <a:latin typeface="Arial"/>
              </a:rPr>
              <a:t>atp</a:t>
            </a:r>
            <a:r>
              <a:rPr sz="1500" b="0" i="0">
                <a:solidFill>
                  <a:srgbClr val="1B2430"/>
                </a:solidFill>
                <a:latin typeface="Arial"/>
              </a:rPr>
              <a:t> = ∇</a:t>
            </a:r>
            <a:r>
              <a:rPr sz="1500" b="0" i="0" baseline="-25000">
                <a:solidFill>
                  <a:srgbClr val="1B2430"/>
                </a:solidFill>
                <a:latin typeface="Arial"/>
              </a:rPr>
              <a:t>a</a:t>
            </a:r>
            <a:r>
              <a:rPr sz="1500" b="0" i="0">
                <a:solidFill>
                  <a:srgbClr val="1B2430"/>
                </a:solidFill>
                <a:latin typeface="Arial"/>
              </a:rPr>
              <a:t>m · (a</a:t>
            </a:r>
            <a:r>
              <a:rPr sz="1500" b="0" i="0" baseline="-25000">
                <a:solidFill>
                  <a:srgbClr val="1B2430"/>
                </a:solidFill>
                <a:latin typeface="Arial"/>
              </a:rPr>
              <a:t>patch</a:t>
            </a:r>
            <a:r>
              <a:rPr sz="1500" b="0" i="0">
                <a:solidFill>
                  <a:srgbClr val="1B2430"/>
                </a:solidFill>
                <a:latin typeface="Arial"/>
              </a:rPr>
              <a:t> − a</a:t>
            </a:r>
            <a:r>
              <a:rPr sz="1500" b="0" i="0" baseline="-25000">
                <a:solidFill>
                  <a:srgbClr val="1B2430"/>
                </a:solidFill>
                <a:latin typeface="Arial"/>
              </a:rPr>
              <a:t>clean</a:t>
            </a:r>
            <a:r>
              <a:rPr sz="1500" b="0" i="0">
                <a:solidFill>
                  <a:srgbClr val="1B2430"/>
                </a:solidFill>
                <a:latin typeface="Arial"/>
              </a:rPr>
              <a:t>)</a:t>
            </a:r>
          </a:p>
        </p:txBody>
      </p:sp>
      <p:sp>
        <p:nvSpPr>
          <p:cNvPr id="9" name="TextBox 8"/>
          <p:cNvSpPr txBox="1"/>
          <p:nvPr/>
        </p:nvSpPr>
        <p:spPr>
          <a:xfrm>
            <a:off x="609905" y="2880360"/>
            <a:ext cx="5349240" cy="320040"/>
          </a:xfrm>
          <a:prstGeom prst="rect">
            <a:avLst/>
          </a:prstGeom>
          <a:noFill/>
        </p:spPr>
        <p:txBody>
          <a:bodyPr wrap="square" lIns="0" rIns="0" tIns="0" bIns="0" anchor="t">
            <a:noAutofit/>
          </a:bodyPr>
          <a:lstStyle/>
          <a:p>
            <a:pPr algn="ctr">
              <a:spcAft>
                <a:spcPts val="400"/>
              </a:spcAft>
            </a:pPr>
            <a:r>
              <a:rPr sz="1400" b="0" i="0">
                <a:solidFill>
                  <a:srgbClr val="4A4A4A"/>
                </a:solidFill>
                <a:latin typeface="Arial"/>
              </a:rPr>
              <a:t>2 forward + 1 backward, nhưng ước lượng thấp ở layer đầu</a:t>
            </a:r>
          </a:p>
        </p:txBody>
      </p:sp>
      <p:pic>
        <p:nvPicPr>
          <p:cNvPr id="10" name="Picture 9" descr="image_51bd0c66b1da18d5.png"/>
          <p:cNvPicPr>
            <a:picLocks noChangeAspect="1"/>
          </p:cNvPicPr>
          <p:nvPr/>
        </p:nvPicPr>
        <p:blipFill>
          <a:blip r:embed="rId2"/>
          <a:stretch>
            <a:fillRect/>
          </a:stretch>
        </p:blipFill>
        <p:spPr>
          <a:xfrm>
            <a:off x="949706" y="3291840"/>
            <a:ext cx="4669638" cy="2514600"/>
          </a:xfrm>
          <a:prstGeom prst="rect">
            <a:avLst/>
          </a:prstGeom>
        </p:spPr>
      </p:pic>
      <p:sp>
        <p:nvSpPr>
          <p:cNvPr id="11" name="Rounded Rectangle 10"/>
          <p:cNvSpPr/>
          <p:nvPr/>
        </p:nvSpPr>
        <p:spPr>
          <a:xfrm>
            <a:off x="6187745" y="1737360"/>
            <a:ext cx="5349240" cy="502920"/>
          </a:xfrm>
          <a:prstGeom prst="roundRect">
            <a:avLst>
              <a:gd name="adj" fmla="val 50000"/>
            </a:avLst>
          </a:prstGeom>
          <a:solidFill>
            <a:srgbClr val="E2F2F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700" b="1" i="0">
                <a:solidFill>
                  <a:srgbClr val="3E93A3"/>
                </a:solidFill>
                <a:latin typeface="Arial"/>
              </a:rPr>
              <a:t>Integrated gradients (Eq. 4)</a:t>
            </a:r>
          </a:p>
        </p:txBody>
      </p:sp>
      <p:sp>
        <p:nvSpPr>
          <p:cNvPr id="12" name="TextBox 11"/>
          <p:cNvSpPr txBox="1"/>
          <p:nvPr/>
        </p:nvSpPr>
        <p:spPr>
          <a:xfrm>
            <a:off x="6187745" y="2331720"/>
            <a:ext cx="5349240" cy="548640"/>
          </a:xfrm>
          <a:prstGeom prst="rect">
            <a:avLst/>
          </a:prstGeom>
          <a:noFill/>
        </p:spPr>
        <p:txBody>
          <a:bodyPr wrap="square" lIns="0" rIns="0" tIns="0" bIns="0" anchor="ctr">
            <a:noAutofit/>
          </a:bodyPr>
          <a:lstStyle/>
          <a:p>
            <a:pPr algn="ctr">
              <a:spcAft>
                <a:spcPts val="400"/>
              </a:spcAft>
            </a:pPr>
            <a:r>
              <a:rPr sz="1500" b="0" i="0">
                <a:solidFill>
                  <a:srgbClr val="1B2430"/>
                </a:solidFill>
                <a:latin typeface="Arial"/>
              </a:rPr>
              <a:t>IÊ</a:t>
            </a:r>
            <a:r>
              <a:rPr sz="1500" b="0" i="0" baseline="-25000">
                <a:solidFill>
                  <a:srgbClr val="1B2430"/>
                </a:solidFill>
                <a:latin typeface="Arial"/>
              </a:rPr>
              <a:t>ig</a:t>
            </a:r>
            <a:r>
              <a:rPr sz="1500" b="0" i="0">
                <a:solidFill>
                  <a:srgbClr val="1B2430"/>
                </a:solidFill>
                <a:latin typeface="Arial"/>
              </a:rPr>
              <a:t> = trung bình ∇</a:t>
            </a:r>
            <a:r>
              <a:rPr sz="1500" b="0" i="0" baseline="-25000">
                <a:solidFill>
                  <a:srgbClr val="1B2430"/>
                </a:solidFill>
                <a:latin typeface="Arial"/>
              </a:rPr>
              <a:t>a</a:t>
            </a:r>
            <a:r>
              <a:rPr sz="1500" b="0" i="0">
                <a:solidFill>
                  <a:srgbClr val="1B2430"/>
                </a:solidFill>
                <a:latin typeface="Arial"/>
              </a:rPr>
              <a:t>m tại N = 10 điểm giữa a</a:t>
            </a:r>
            <a:r>
              <a:rPr sz="1500" b="0" i="0" baseline="-25000">
                <a:solidFill>
                  <a:srgbClr val="1B2430"/>
                </a:solidFill>
                <a:latin typeface="Arial"/>
              </a:rPr>
              <a:t>clean</a:t>
            </a:r>
            <a:r>
              <a:rPr sz="1500" b="0" i="0">
                <a:solidFill>
                  <a:srgbClr val="1B2430"/>
                </a:solidFill>
                <a:latin typeface="Arial"/>
              </a:rPr>
              <a:t> và a</a:t>
            </a:r>
            <a:r>
              <a:rPr sz="1500" b="0" i="0" baseline="-25000">
                <a:solidFill>
                  <a:srgbClr val="1B2430"/>
                </a:solidFill>
                <a:latin typeface="Arial"/>
              </a:rPr>
              <a:t>patch</a:t>
            </a:r>
          </a:p>
        </p:txBody>
      </p:sp>
      <p:sp>
        <p:nvSpPr>
          <p:cNvPr id="13" name="TextBox 12"/>
          <p:cNvSpPr txBox="1"/>
          <p:nvPr/>
        </p:nvSpPr>
        <p:spPr>
          <a:xfrm>
            <a:off x="6187745" y="2880360"/>
            <a:ext cx="5349240" cy="320040"/>
          </a:xfrm>
          <a:prstGeom prst="rect">
            <a:avLst/>
          </a:prstGeom>
          <a:noFill/>
        </p:spPr>
        <p:txBody>
          <a:bodyPr wrap="square" lIns="0" rIns="0" tIns="0" bIns="0" anchor="t">
            <a:noAutofit/>
          </a:bodyPr>
          <a:lstStyle/>
          <a:p>
            <a:pPr algn="ctr">
              <a:spcAft>
                <a:spcPts val="400"/>
              </a:spcAft>
            </a:pPr>
            <a:r>
              <a:rPr sz="1400" b="0" i="0">
                <a:solidFill>
                  <a:srgbClr val="4A4A4A"/>
                </a:solidFill>
                <a:latin typeface="Arial"/>
              </a:rPr>
              <a:t>sát IE thật hơn, chi phí khoảng N lần AtP</a:t>
            </a:r>
          </a:p>
        </p:txBody>
      </p:sp>
      <p:pic>
        <p:nvPicPr>
          <p:cNvPr id="14" name="Picture 13" descr="image_1148bd581721ce8a.png"/>
          <p:cNvPicPr>
            <a:picLocks noChangeAspect="1"/>
          </p:cNvPicPr>
          <p:nvPr/>
        </p:nvPicPr>
        <p:blipFill>
          <a:blip r:embed="rId3"/>
          <a:stretch>
            <a:fillRect/>
          </a:stretch>
        </p:blipFill>
        <p:spPr>
          <a:xfrm>
            <a:off x="6301754" y="3291840"/>
            <a:ext cx="5121222" cy="2514600"/>
          </a:xfrm>
          <a:prstGeom prst="rect">
            <a:avLst/>
          </a:prstGeom>
        </p:spPr>
      </p:pic>
      <p:sp>
        <p:nvSpPr>
          <p:cNvPr id="15" name="Rounded Rectangle 14"/>
          <p:cNvSpPr/>
          <p:nvPr/>
        </p:nvSpPr>
        <p:spPr>
          <a:xfrm>
            <a:off x="7925105" y="5897880"/>
            <a:ext cx="1874520" cy="384048"/>
          </a:xfrm>
          <a:prstGeom prst="roundRect">
            <a:avLst>
              <a:gd name="adj" fmla="val 50000"/>
            </a:avLst>
          </a:prstGeom>
          <a:solidFill>
            <a:srgbClr val="E2F2F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300" b="1" i="0">
                <a:solidFill>
                  <a:srgbClr val="3E93A3"/>
                </a:solidFill>
                <a:latin typeface="Arial"/>
              </a:rPr>
              <a:t>Paper dùng cho node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2. Phương pháp</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Tìm circuit: 4 bước</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10</a:t>
            </a:r>
          </a:p>
        </p:txBody>
      </p:sp>
      <p:pic>
        <p:nvPicPr>
          <p:cNvPr id="7" name="Picture 6" descr="image_0b6b3ccf53f0a53e.png"/>
          <p:cNvPicPr>
            <a:picLocks noChangeAspect="1"/>
          </p:cNvPicPr>
          <p:nvPr/>
        </p:nvPicPr>
        <p:blipFill>
          <a:blip r:embed="rId2"/>
          <a:stretch>
            <a:fillRect/>
          </a:stretch>
        </p:blipFill>
        <p:spPr>
          <a:xfrm>
            <a:off x="609905" y="2240280"/>
            <a:ext cx="7406640" cy="3406615"/>
          </a:xfrm>
          <a:prstGeom prst="rect">
            <a:avLst/>
          </a:prstGeom>
        </p:spPr>
      </p:pic>
      <p:sp>
        <p:nvSpPr>
          <p:cNvPr id="8" name="Rounded Rectangle 7"/>
          <p:cNvSpPr/>
          <p:nvPr/>
        </p:nvSpPr>
        <p:spPr>
          <a:xfrm>
            <a:off x="8229600" y="1783080"/>
            <a:ext cx="3310128" cy="100584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9" name="Oval 8"/>
          <p:cNvSpPr/>
          <p:nvPr/>
        </p:nvSpPr>
        <p:spPr>
          <a:xfrm>
            <a:off x="8366760" y="2057400"/>
            <a:ext cx="457200" cy="457200"/>
          </a:xfrm>
          <a:prstGeom prst="ellipse">
            <a:avLst/>
          </a:prstGeom>
          <a:solidFill>
            <a:srgbClr val="1C6E7E"/>
          </a:solidFill>
          <a:ln w="1524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0" rIns="0" tIns="36576" bIns="36576" wrap="square">
            <a:noAutofit/>
          </a:bodyPr>
          <a:lstStyle/>
          <a:p>
            <a:pPr algn="ctr"/>
            <a:r>
              <a:rPr sz="1500" b="1" i="0">
                <a:solidFill>
                  <a:srgbClr val="FFFFFF"/>
                </a:solidFill>
                <a:latin typeface="Arial"/>
              </a:rPr>
              <a:t>1</a:t>
            </a:r>
          </a:p>
        </p:txBody>
      </p:sp>
      <p:sp>
        <p:nvSpPr>
          <p:cNvPr id="10" name="TextBox 9"/>
          <p:cNvSpPr txBox="1"/>
          <p:nvPr/>
        </p:nvSpPr>
        <p:spPr>
          <a:xfrm>
            <a:off x="8961120" y="1783080"/>
            <a:ext cx="2468880" cy="1005840"/>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Cache activation và metric (forward x</a:t>
            </a:r>
            <a:r>
              <a:rPr sz="1400" b="0" i="0" baseline="-25000">
                <a:solidFill>
                  <a:srgbClr val="4A4A4A"/>
                </a:solidFill>
                <a:latin typeface="Arial"/>
              </a:rPr>
              <a:t>clean</a:t>
            </a:r>
            <a:r>
              <a:rPr sz="1400" b="0" i="0">
                <a:solidFill>
                  <a:srgbClr val="4A4A4A"/>
                </a:solidFill>
                <a:latin typeface="Arial"/>
              </a:rPr>
              <a:t>, x</a:t>
            </a:r>
            <a:r>
              <a:rPr sz="1400" b="0" i="0" baseline="-25000">
                <a:solidFill>
                  <a:srgbClr val="4A4A4A"/>
                </a:solidFill>
                <a:latin typeface="Arial"/>
              </a:rPr>
              <a:t>patch</a:t>
            </a:r>
            <a:r>
              <a:rPr sz="1400" b="0" i="0">
                <a:solidFill>
                  <a:srgbClr val="4A4A4A"/>
                </a:solidFill>
                <a:latin typeface="Arial"/>
              </a:rPr>
              <a:t>)</a:t>
            </a:r>
          </a:p>
        </p:txBody>
      </p:sp>
      <p:sp>
        <p:nvSpPr>
          <p:cNvPr id="11" name="Rounded Rectangle 10"/>
          <p:cNvSpPr/>
          <p:nvPr/>
        </p:nvSpPr>
        <p:spPr>
          <a:xfrm>
            <a:off x="8229600" y="2898648"/>
            <a:ext cx="3310128" cy="100584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2" name="Oval 11"/>
          <p:cNvSpPr/>
          <p:nvPr/>
        </p:nvSpPr>
        <p:spPr>
          <a:xfrm>
            <a:off x="8366760" y="3172968"/>
            <a:ext cx="457200" cy="457200"/>
          </a:xfrm>
          <a:prstGeom prst="ellipse">
            <a:avLst/>
          </a:prstGeom>
          <a:solidFill>
            <a:srgbClr val="3E93A3"/>
          </a:solidFill>
          <a:ln w="1524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0" rIns="0" tIns="36576" bIns="36576" wrap="square">
            <a:noAutofit/>
          </a:bodyPr>
          <a:lstStyle/>
          <a:p>
            <a:pPr algn="ctr"/>
            <a:r>
              <a:rPr sz="1500" b="1" i="0">
                <a:solidFill>
                  <a:srgbClr val="FFFFFF"/>
                </a:solidFill>
                <a:latin typeface="Arial"/>
              </a:rPr>
              <a:t>2</a:t>
            </a:r>
          </a:p>
        </p:txBody>
      </p:sp>
      <p:sp>
        <p:nvSpPr>
          <p:cNvPr id="13" name="TextBox 12"/>
          <p:cNvSpPr txBox="1"/>
          <p:nvPr/>
        </p:nvSpPr>
        <p:spPr>
          <a:xfrm>
            <a:off x="8961120" y="2898648"/>
            <a:ext cx="2468880" cy="1005840"/>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Backward, lưu gradient ∇m của mỗi node</a:t>
            </a:r>
          </a:p>
        </p:txBody>
      </p:sp>
      <p:sp>
        <p:nvSpPr>
          <p:cNvPr id="14" name="Rounded Rectangle 13"/>
          <p:cNvSpPr/>
          <p:nvPr/>
        </p:nvSpPr>
        <p:spPr>
          <a:xfrm>
            <a:off x="8229600" y="4014216"/>
            <a:ext cx="3310128" cy="100584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5" name="Oval 14"/>
          <p:cNvSpPr/>
          <p:nvPr/>
        </p:nvSpPr>
        <p:spPr>
          <a:xfrm>
            <a:off x="8366760" y="4288536"/>
            <a:ext cx="457200" cy="457200"/>
          </a:xfrm>
          <a:prstGeom prst="ellipse">
            <a:avLst/>
          </a:prstGeom>
          <a:solidFill>
            <a:srgbClr val="1C6E7E"/>
          </a:solidFill>
          <a:ln w="1524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0" rIns="0" tIns="36576" bIns="36576" wrap="square">
            <a:noAutofit/>
          </a:bodyPr>
          <a:lstStyle/>
          <a:p>
            <a:pPr algn="ctr"/>
            <a:r>
              <a:rPr sz="1500" b="1" i="0">
                <a:solidFill>
                  <a:srgbClr val="FFFFFF"/>
                </a:solidFill>
                <a:latin typeface="Arial"/>
              </a:rPr>
              <a:t>3</a:t>
            </a:r>
          </a:p>
        </p:txBody>
      </p:sp>
      <p:sp>
        <p:nvSpPr>
          <p:cNvPr id="16" name="TextBox 15"/>
          <p:cNvSpPr txBox="1"/>
          <p:nvPr/>
        </p:nvSpPr>
        <p:spPr>
          <a:xfrm>
            <a:off x="8961120" y="4014216"/>
            <a:ext cx="2468880" cy="1005840"/>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Tính IÊ cho node, lấy trung bình trên dataset, giữ node có |IÊ| &gt; T</a:t>
            </a:r>
            <a:r>
              <a:rPr sz="1400" b="0" i="0" baseline="-25000">
                <a:solidFill>
                  <a:srgbClr val="4A4A4A"/>
                </a:solidFill>
                <a:latin typeface="Arial"/>
              </a:rPr>
              <a:t>N</a:t>
            </a:r>
          </a:p>
        </p:txBody>
      </p:sp>
      <p:sp>
        <p:nvSpPr>
          <p:cNvPr id="17" name="Rounded Rectangle 16"/>
          <p:cNvSpPr/>
          <p:nvPr/>
        </p:nvSpPr>
        <p:spPr>
          <a:xfrm>
            <a:off x="8229600" y="5129784"/>
            <a:ext cx="3310128" cy="100584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Oval 17"/>
          <p:cNvSpPr/>
          <p:nvPr/>
        </p:nvSpPr>
        <p:spPr>
          <a:xfrm>
            <a:off x="8366760" y="5404104"/>
            <a:ext cx="457200" cy="457200"/>
          </a:xfrm>
          <a:prstGeom prst="ellipse">
            <a:avLst/>
          </a:prstGeom>
          <a:solidFill>
            <a:srgbClr val="3E93A3"/>
          </a:solidFill>
          <a:ln w="1524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0" rIns="0" tIns="36576" bIns="36576" wrap="square">
            <a:noAutofit/>
          </a:bodyPr>
          <a:lstStyle/>
          <a:p>
            <a:pPr algn="ctr"/>
            <a:r>
              <a:rPr sz="1500" b="1" i="0">
                <a:solidFill>
                  <a:srgbClr val="FFFFFF"/>
                </a:solidFill>
                <a:latin typeface="Arial"/>
              </a:rPr>
              <a:t>4</a:t>
            </a:r>
          </a:p>
        </p:txBody>
      </p:sp>
      <p:sp>
        <p:nvSpPr>
          <p:cNvPr id="19" name="TextBox 18"/>
          <p:cNvSpPr txBox="1"/>
          <p:nvPr/>
        </p:nvSpPr>
        <p:spPr>
          <a:xfrm>
            <a:off x="8961120" y="5129784"/>
            <a:ext cx="2468880" cy="1005840"/>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Tính IÊ cho edge u → d, giữ edge có |IÊ| &gt; T</a:t>
            </a:r>
            <a:r>
              <a:rPr sz="1400" b="0" i="0" baseline="-25000">
                <a:solidFill>
                  <a:srgbClr val="4A4A4A"/>
                </a:solidFill>
                <a:latin typeface="Arial"/>
              </a:rPr>
              <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3. Subject-verb agreement</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Task và tiêu chí đánh giá</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11</a:t>
            </a:r>
          </a:p>
        </p:txBody>
      </p:sp>
      <p:sp>
        <p:nvSpPr>
          <p:cNvPr id="7" name="TextBox 6"/>
          <p:cNvSpPr txBox="1"/>
          <p:nvPr/>
        </p:nvSpPr>
        <p:spPr>
          <a:xfrm>
            <a:off x="609905" y="1645920"/>
            <a:ext cx="2011680" cy="566928"/>
          </a:xfrm>
          <a:prstGeom prst="rect">
            <a:avLst/>
          </a:prstGeom>
          <a:noFill/>
        </p:spPr>
        <p:txBody>
          <a:bodyPr wrap="square" lIns="0" rIns="0" tIns="0" bIns="0" anchor="b">
            <a:noAutofit/>
          </a:bodyPr>
          <a:lstStyle/>
          <a:p>
            <a:pPr algn="l">
              <a:spcAft>
                <a:spcPts val="400"/>
              </a:spcAft>
            </a:pPr>
            <a:r>
              <a:rPr sz="1400" b="0" i="0">
                <a:solidFill>
                  <a:srgbClr val="6E757E"/>
                </a:solidFill>
                <a:latin typeface="Arial"/>
              </a:rPr>
              <a:t>Task</a:t>
            </a:r>
          </a:p>
        </p:txBody>
      </p:sp>
      <p:sp>
        <p:nvSpPr>
          <p:cNvPr id="8" name="TextBox 7"/>
          <p:cNvSpPr txBox="1"/>
          <p:nvPr/>
        </p:nvSpPr>
        <p:spPr>
          <a:xfrm>
            <a:off x="2713025" y="1645920"/>
            <a:ext cx="4937760" cy="566928"/>
          </a:xfrm>
          <a:prstGeom prst="rect">
            <a:avLst/>
          </a:prstGeom>
          <a:noFill/>
        </p:spPr>
        <p:txBody>
          <a:bodyPr wrap="square" lIns="0" rIns="0" tIns="0" bIns="0" anchor="b">
            <a:noAutofit/>
          </a:bodyPr>
          <a:lstStyle/>
          <a:p>
            <a:pPr algn="l">
              <a:spcAft>
                <a:spcPts val="400"/>
              </a:spcAft>
            </a:pPr>
            <a:r>
              <a:rPr sz="1400" b="0" i="0">
                <a:solidFill>
                  <a:srgbClr val="6E757E"/>
                </a:solidFill>
                <a:latin typeface="Arial"/>
              </a:rPr>
              <a:t>Input clean</a:t>
            </a:r>
          </a:p>
        </p:txBody>
      </p:sp>
      <p:sp>
        <p:nvSpPr>
          <p:cNvPr id="9" name="TextBox 8"/>
          <p:cNvSpPr txBox="1"/>
          <p:nvPr/>
        </p:nvSpPr>
        <p:spPr>
          <a:xfrm>
            <a:off x="7742225" y="1645920"/>
            <a:ext cx="3703320" cy="566928"/>
          </a:xfrm>
          <a:prstGeom prst="rect">
            <a:avLst/>
          </a:prstGeom>
          <a:noFill/>
        </p:spPr>
        <p:txBody>
          <a:bodyPr wrap="square" lIns="0" rIns="0" tIns="0" bIns="0" anchor="b">
            <a:noAutofit/>
          </a:bodyPr>
          <a:lstStyle/>
          <a:p>
            <a:pPr algn="l">
              <a:spcAft>
                <a:spcPts val="400"/>
              </a:spcAft>
            </a:pPr>
            <a:r>
              <a:rPr sz="1400" b="0" i="0">
                <a:solidFill>
                  <a:srgbClr val="6E757E"/>
                </a:solidFill>
                <a:latin typeface="Arial"/>
              </a:rPr>
              <a:t>Metric m</a:t>
            </a:r>
          </a:p>
        </p:txBody>
      </p:sp>
      <p:cxnSp>
        <p:nvCxnSpPr>
          <p:cNvPr id="10" name="Connector 9"/>
          <p:cNvCxnSpPr/>
          <p:nvPr/>
        </p:nvCxnSpPr>
        <p:spPr>
          <a:xfrm>
            <a:off x="609905" y="2258568"/>
            <a:ext cx="10927080" cy="0"/>
          </a:xfrm>
          <a:prstGeom prst="line">
            <a:avLst/>
          </a:prstGeom>
          <a:ln w="19050">
            <a:solidFill>
              <a:srgbClr val="1C6E7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905" y="2304288"/>
            <a:ext cx="201168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Simple</a:t>
            </a:r>
          </a:p>
        </p:txBody>
      </p:sp>
      <p:sp>
        <p:nvSpPr>
          <p:cNvPr id="12" name="TextBox 11"/>
          <p:cNvSpPr txBox="1"/>
          <p:nvPr/>
        </p:nvSpPr>
        <p:spPr>
          <a:xfrm>
            <a:off x="2713025" y="2304288"/>
            <a:ext cx="493776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The </a:t>
            </a:r>
            <a:r>
              <a:rPr sz="1700" b="0" i="0">
                <a:solidFill>
                  <a:srgbClr val="1C6E7E"/>
                </a:solidFill>
                <a:latin typeface="Arial"/>
              </a:rPr>
              <a:t>parents</a:t>
            </a:r>
          </a:p>
        </p:txBody>
      </p:sp>
      <p:sp>
        <p:nvSpPr>
          <p:cNvPr id="13" name="TextBox 12"/>
          <p:cNvSpPr txBox="1"/>
          <p:nvPr/>
        </p:nvSpPr>
        <p:spPr>
          <a:xfrm>
            <a:off x="7742225" y="2304288"/>
            <a:ext cx="370332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p(is) − p(are)</a:t>
            </a:r>
          </a:p>
        </p:txBody>
      </p:sp>
      <p:cxnSp>
        <p:nvCxnSpPr>
          <p:cNvPr id="14" name="Connector 13"/>
          <p:cNvCxnSpPr/>
          <p:nvPr/>
        </p:nvCxnSpPr>
        <p:spPr>
          <a:xfrm>
            <a:off x="609905" y="2871216"/>
            <a:ext cx="1092708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9905" y="2871216"/>
            <a:ext cx="201168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Within RC</a:t>
            </a:r>
          </a:p>
        </p:txBody>
      </p:sp>
      <p:sp>
        <p:nvSpPr>
          <p:cNvPr id="16" name="TextBox 15"/>
          <p:cNvSpPr txBox="1"/>
          <p:nvPr/>
        </p:nvSpPr>
        <p:spPr>
          <a:xfrm>
            <a:off x="2713025" y="2871216"/>
            <a:ext cx="493776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The athlete that the </a:t>
            </a:r>
            <a:r>
              <a:rPr sz="1700" b="0" i="0">
                <a:solidFill>
                  <a:srgbClr val="1C6E7E"/>
                </a:solidFill>
                <a:latin typeface="Arial"/>
              </a:rPr>
              <a:t>managers</a:t>
            </a:r>
          </a:p>
        </p:txBody>
      </p:sp>
      <p:sp>
        <p:nvSpPr>
          <p:cNvPr id="17" name="TextBox 16"/>
          <p:cNvSpPr txBox="1"/>
          <p:nvPr/>
        </p:nvSpPr>
        <p:spPr>
          <a:xfrm>
            <a:off x="7742225" y="2871216"/>
            <a:ext cx="370332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p(likes) − p(like)</a:t>
            </a:r>
          </a:p>
        </p:txBody>
      </p:sp>
      <p:cxnSp>
        <p:nvCxnSpPr>
          <p:cNvPr id="18" name="Connector 17"/>
          <p:cNvCxnSpPr/>
          <p:nvPr/>
        </p:nvCxnSpPr>
        <p:spPr>
          <a:xfrm>
            <a:off x="609905" y="3438144"/>
            <a:ext cx="1092708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9905" y="3438144"/>
            <a:ext cx="201168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Across RC</a:t>
            </a:r>
          </a:p>
        </p:txBody>
      </p:sp>
      <p:sp>
        <p:nvSpPr>
          <p:cNvPr id="20" name="TextBox 19"/>
          <p:cNvSpPr txBox="1"/>
          <p:nvPr/>
        </p:nvSpPr>
        <p:spPr>
          <a:xfrm>
            <a:off x="2713025" y="3438144"/>
            <a:ext cx="493776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The </a:t>
            </a:r>
            <a:r>
              <a:rPr sz="1700" b="0" i="0">
                <a:solidFill>
                  <a:srgbClr val="1C6E7E"/>
                </a:solidFill>
                <a:latin typeface="Arial"/>
              </a:rPr>
              <a:t>athlete</a:t>
            </a:r>
            <a:r>
              <a:rPr sz="1700" b="0" i="0">
                <a:solidFill>
                  <a:srgbClr val="4A4A4A"/>
                </a:solidFill>
                <a:latin typeface="Arial"/>
              </a:rPr>
              <a:t> that the managers like</a:t>
            </a:r>
          </a:p>
        </p:txBody>
      </p:sp>
      <p:sp>
        <p:nvSpPr>
          <p:cNvPr id="21" name="TextBox 20"/>
          <p:cNvSpPr txBox="1"/>
          <p:nvPr/>
        </p:nvSpPr>
        <p:spPr>
          <a:xfrm>
            <a:off x="7742225" y="3438144"/>
            <a:ext cx="370332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p(do) − p(does)</a:t>
            </a:r>
          </a:p>
        </p:txBody>
      </p:sp>
      <p:cxnSp>
        <p:nvCxnSpPr>
          <p:cNvPr id="22" name="Connector 21"/>
          <p:cNvCxnSpPr/>
          <p:nvPr/>
        </p:nvCxnSpPr>
        <p:spPr>
          <a:xfrm>
            <a:off x="609905" y="4005072"/>
            <a:ext cx="1092708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9905" y="4005072"/>
            <a:ext cx="201168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Across PP</a:t>
            </a:r>
          </a:p>
        </p:txBody>
      </p:sp>
      <p:sp>
        <p:nvSpPr>
          <p:cNvPr id="24" name="TextBox 23"/>
          <p:cNvSpPr txBox="1"/>
          <p:nvPr/>
        </p:nvSpPr>
        <p:spPr>
          <a:xfrm>
            <a:off x="2713025" y="4005072"/>
            <a:ext cx="493776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The </a:t>
            </a:r>
            <a:r>
              <a:rPr sz="1700" b="0" i="0">
                <a:solidFill>
                  <a:srgbClr val="1C6E7E"/>
                </a:solidFill>
                <a:latin typeface="Arial"/>
              </a:rPr>
              <a:t>secretaries</a:t>
            </a:r>
            <a:r>
              <a:rPr sz="1700" b="0" i="0">
                <a:solidFill>
                  <a:srgbClr val="4A4A4A"/>
                </a:solidFill>
                <a:latin typeface="Arial"/>
              </a:rPr>
              <a:t> near the cars</a:t>
            </a:r>
          </a:p>
        </p:txBody>
      </p:sp>
      <p:sp>
        <p:nvSpPr>
          <p:cNvPr id="25" name="TextBox 24"/>
          <p:cNvSpPr txBox="1"/>
          <p:nvPr/>
        </p:nvSpPr>
        <p:spPr>
          <a:xfrm>
            <a:off x="7742225" y="4005072"/>
            <a:ext cx="3703320" cy="566928"/>
          </a:xfrm>
          <a:prstGeom prst="rect">
            <a:avLst/>
          </a:prstGeom>
          <a:noFill/>
        </p:spPr>
        <p:txBody>
          <a:bodyPr wrap="square" lIns="0" rIns="0" tIns="0" bIns="0" anchor="ctr">
            <a:noAutofit/>
          </a:bodyPr>
          <a:lstStyle/>
          <a:p>
            <a:pPr algn="l">
              <a:spcAft>
                <a:spcPts val="400"/>
              </a:spcAft>
            </a:pPr>
            <a:r>
              <a:rPr sz="1700" b="0" i="0">
                <a:solidFill>
                  <a:srgbClr val="4A4A4A"/>
                </a:solidFill>
                <a:latin typeface="Arial"/>
              </a:rPr>
              <a:t>p(has) − p(have)</a:t>
            </a:r>
          </a:p>
        </p:txBody>
      </p:sp>
      <p:cxnSp>
        <p:nvCxnSpPr>
          <p:cNvPr id="26" name="Connector 25"/>
          <p:cNvCxnSpPr/>
          <p:nvPr/>
        </p:nvCxnSpPr>
        <p:spPr>
          <a:xfrm>
            <a:off x="609905" y="4572000"/>
            <a:ext cx="1092708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09905" y="4846320"/>
            <a:ext cx="3520440" cy="1371600"/>
          </a:xfrm>
          <a:prstGeom prst="roundRect">
            <a:avLst>
              <a:gd name="adj" fmla="val 8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8" name="Rectangle 27"/>
          <p:cNvSpPr/>
          <p:nvPr/>
        </p:nvSpPr>
        <p:spPr>
          <a:xfrm>
            <a:off x="609905" y="4846320"/>
            <a:ext cx="3520440" cy="64008"/>
          </a:xfrm>
          <a:prstGeom prst="rect">
            <a:avLst/>
          </a:prstGeom>
          <a:solidFill>
            <a:srgbClr val="1C6E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9" name="TextBox 28"/>
          <p:cNvSpPr txBox="1"/>
          <p:nvPr/>
        </p:nvSpPr>
        <p:spPr>
          <a:xfrm>
            <a:off x="811073" y="4983480"/>
            <a:ext cx="3154680" cy="411480"/>
          </a:xfrm>
          <a:prstGeom prst="rect">
            <a:avLst/>
          </a:prstGeom>
          <a:noFill/>
        </p:spPr>
        <p:txBody>
          <a:bodyPr wrap="square" lIns="0" rIns="0" tIns="0" bIns="0" anchor="t">
            <a:noAutofit/>
          </a:bodyPr>
          <a:lstStyle/>
          <a:p>
            <a:pPr algn="ctr">
              <a:spcAft>
                <a:spcPts val="400"/>
              </a:spcAft>
            </a:pPr>
            <a:r>
              <a:rPr sz="1900" b="1" i="0">
                <a:solidFill>
                  <a:srgbClr val="1C6E7E"/>
                </a:solidFill>
                <a:latin typeface="Arial"/>
              </a:rPr>
              <a:t>Interpretability</a:t>
            </a:r>
          </a:p>
        </p:txBody>
      </p:sp>
      <p:sp>
        <p:nvSpPr>
          <p:cNvPr id="30" name="TextBox 29"/>
          <p:cNvSpPr txBox="1"/>
          <p:nvPr/>
        </p:nvSpPr>
        <p:spPr>
          <a:xfrm>
            <a:off x="747065" y="5440680"/>
            <a:ext cx="3246120" cy="640080"/>
          </a:xfrm>
          <a:prstGeom prst="rect">
            <a:avLst/>
          </a:prstGeom>
          <a:noFill/>
        </p:spPr>
        <p:txBody>
          <a:bodyPr wrap="square" lIns="0" rIns="0" tIns="0" bIns="0" anchor="ctr">
            <a:noAutofit/>
          </a:bodyPr>
          <a:lstStyle/>
          <a:p>
            <a:pPr algn="ctr">
              <a:spcAft>
                <a:spcPts val="400"/>
              </a:spcAft>
            </a:pPr>
            <a:r>
              <a:rPr sz="1600" b="0" i="0">
                <a:solidFill>
                  <a:srgbClr val="4A4A4A"/>
                </a:solidFill>
                <a:latin typeface="Arial"/>
              </a:rPr>
              <a:t>Crowdworker chấm 0–100</a:t>
            </a:r>
          </a:p>
        </p:txBody>
      </p:sp>
      <p:sp>
        <p:nvSpPr>
          <p:cNvPr id="31" name="Rounded Rectangle 30"/>
          <p:cNvSpPr/>
          <p:nvPr/>
        </p:nvSpPr>
        <p:spPr>
          <a:xfrm>
            <a:off x="4313225" y="4846320"/>
            <a:ext cx="3520440" cy="1371600"/>
          </a:xfrm>
          <a:prstGeom prst="roundRect">
            <a:avLst>
              <a:gd name="adj" fmla="val 8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2" name="Rectangle 31"/>
          <p:cNvSpPr/>
          <p:nvPr/>
        </p:nvSpPr>
        <p:spPr>
          <a:xfrm>
            <a:off x="4313225" y="4846320"/>
            <a:ext cx="3520440" cy="64008"/>
          </a:xfrm>
          <a:prstGeom prst="rect">
            <a:avLst/>
          </a:prstGeom>
          <a:solidFill>
            <a:srgbClr val="3E93A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3" name="TextBox 32"/>
          <p:cNvSpPr txBox="1"/>
          <p:nvPr/>
        </p:nvSpPr>
        <p:spPr>
          <a:xfrm>
            <a:off x="4514393" y="4983480"/>
            <a:ext cx="3154680" cy="411480"/>
          </a:xfrm>
          <a:prstGeom prst="rect">
            <a:avLst/>
          </a:prstGeom>
          <a:noFill/>
        </p:spPr>
        <p:txBody>
          <a:bodyPr wrap="square" lIns="0" rIns="0" tIns="0" bIns="0" anchor="t">
            <a:noAutofit/>
          </a:bodyPr>
          <a:lstStyle/>
          <a:p>
            <a:pPr algn="ctr">
              <a:spcAft>
                <a:spcPts val="400"/>
              </a:spcAft>
            </a:pPr>
            <a:r>
              <a:rPr sz="1900" b="1" i="0">
                <a:solidFill>
                  <a:srgbClr val="3E93A3"/>
                </a:solidFill>
                <a:latin typeface="Arial"/>
              </a:rPr>
              <a:t>Faithfulness</a:t>
            </a:r>
          </a:p>
        </p:txBody>
      </p:sp>
      <p:sp>
        <p:nvSpPr>
          <p:cNvPr id="34" name="TextBox 33"/>
          <p:cNvSpPr txBox="1"/>
          <p:nvPr/>
        </p:nvSpPr>
        <p:spPr>
          <a:xfrm>
            <a:off x="4450385" y="5440680"/>
            <a:ext cx="3246120" cy="640080"/>
          </a:xfrm>
          <a:prstGeom prst="rect">
            <a:avLst/>
          </a:prstGeom>
          <a:noFill/>
        </p:spPr>
        <p:txBody>
          <a:bodyPr wrap="square" lIns="0" rIns="0" tIns="0" bIns="0" anchor="ctr">
            <a:noAutofit/>
          </a:bodyPr>
          <a:lstStyle/>
          <a:p>
            <a:pPr algn="ctr">
              <a:spcAft>
                <a:spcPts val="400"/>
              </a:spcAft>
            </a:pPr>
            <a:r>
              <a:rPr sz="1600" b="0" i="0">
                <a:solidFill>
                  <a:srgbClr val="4A4A4A"/>
                </a:solidFill>
                <a:latin typeface="Arial"/>
              </a:rPr>
              <a:t>(m(C) − m(∅)) / (m(M) − m(∅))</a:t>
            </a:r>
          </a:p>
        </p:txBody>
      </p:sp>
      <p:sp>
        <p:nvSpPr>
          <p:cNvPr id="35" name="Rounded Rectangle 34"/>
          <p:cNvSpPr/>
          <p:nvPr/>
        </p:nvSpPr>
        <p:spPr>
          <a:xfrm>
            <a:off x="8016545" y="4846320"/>
            <a:ext cx="3520440" cy="1371600"/>
          </a:xfrm>
          <a:prstGeom prst="roundRect">
            <a:avLst>
              <a:gd name="adj" fmla="val 8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6" name="Rectangle 35"/>
          <p:cNvSpPr/>
          <p:nvPr/>
        </p:nvSpPr>
        <p:spPr>
          <a:xfrm>
            <a:off x="8016545" y="4846320"/>
            <a:ext cx="3520440" cy="64008"/>
          </a:xfrm>
          <a:prstGeom prst="rect">
            <a:avLst/>
          </a:prstGeom>
          <a:solidFill>
            <a:srgbClr val="8B5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7" name="TextBox 36"/>
          <p:cNvSpPr txBox="1"/>
          <p:nvPr/>
        </p:nvSpPr>
        <p:spPr>
          <a:xfrm>
            <a:off x="8217713" y="4983480"/>
            <a:ext cx="3154680" cy="411480"/>
          </a:xfrm>
          <a:prstGeom prst="rect">
            <a:avLst/>
          </a:prstGeom>
          <a:noFill/>
        </p:spPr>
        <p:txBody>
          <a:bodyPr wrap="square" lIns="0" rIns="0" tIns="0" bIns="0" anchor="t">
            <a:noAutofit/>
          </a:bodyPr>
          <a:lstStyle/>
          <a:p>
            <a:pPr algn="ctr">
              <a:spcAft>
                <a:spcPts val="400"/>
              </a:spcAft>
            </a:pPr>
            <a:r>
              <a:rPr sz="1900" b="1" i="0">
                <a:solidFill>
                  <a:srgbClr val="8B5A5F"/>
                </a:solidFill>
                <a:latin typeface="Arial"/>
              </a:rPr>
              <a:t>Completeness</a:t>
            </a:r>
          </a:p>
        </p:txBody>
      </p:sp>
      <p:sp>
        <p:nvSpPr>
          <p:cNvPr id="38" name="TextBox 37"/>
          <p:cNvSpPr txBox="1"/>
          <p:nvPr/>
        </p:nvSpPr>
        <p:spPr>
          <a:xfrm>
            <a:off x="8153705" y="5440680"/>
            <a:ext cx="3246120" cy="640080"/>
          </a:xfrm>
          <a:prstGeom prst="rect">
            <a:avLst/>
          </a:prstGeom>
          <a:noFill/>
        </p:spPr>
        <p:txBody>
          <a:bodyPr wrap="square" lIns="0" rIns="0" tIns="0" bIns="0" anchor="ctr">
            <a:noAutofit/>
          </a:bodyPr>
          <a:lstStyle/>
          <a:p>
            <a:pPr algn="ctr">
              <a:spcAft>
                <a:spcPts val="400"/>
              </a:spcAft>
            </a:pPr>
            <a:r>
              <a:rPr sz="1600" b="0" i="0">
                <a:solidFill>
                  <a:srgbClr val="4A4A4A"/>
                </a:solidFill>
                <a:latin typeface="Arial"/>
              </a:rPr>
              <a:t>Faithfulness của phần còn lại M \ 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3. Subject-verb agreement</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Kết quả trên agreement</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12</a:t>
            </a:r>
          </a:p>
        </p:txBody>
      </p:sp>
      <p:pic>
        <p:nvPicPr>
          <p:cNvPr id="7" name="Picture 6" descr="image_cb3fd820ca67c6a8.png"/>
          <p:cNvPicPr>
            <a:picLocks noChangeAspect="1"/>
          </p:cNvPicPr>
          <p:nvPr/>
        </p:nvPicPr>
        <p:blipFill>
          <a:blip r:embed="rId2"/>
          <a:stretch>
            <a:fillRect/>
          </a:stretch>
        </p:blipFill>
        <p:spPr>
          <a:xfrm>
            <a:off x="609905" y="1691640"/>
            <a:ext cx="6949440" cy="2852321"/>
          </a:xfrm>
          <a:prstGeom prst="rect">
            <a:avLst/>
          </a:prstGeom>
        </p:spPr>
      </p:pic>
      <p:sp>
        <p:nvSpPr>
          <p:cNvPr id="8" name="TextBox 7"/>
          <p:cNvSpPr txBox="1"/>
          <p:nvPr/>
        </p:nvSpPr>
        <p:spPr>
          <a:xfrm>
            <a:off x="609905" y="4709160"/>
            <a:ext cx="6949440" cy="274320"/>
          </a:xfrm>
          <a:prstGeom prst="rect">
            <a:avLst/>
          </a:prstGeom>
          <a:noFill/>
        </p:spPr>
        <p:txBody>
          <a:bodyPr wrap="square" lIns="0" rIns="0" tIns="0" bIns="0" anchor="t">
            <a:noAutofit/>
          </a:bodyPr>
          <a:lstStyle/>
          <a:p>
            <a:pPr algn="l">
              <a:spcAft>
                <a:spcPts val="400"/>
              </a:spcAft>
            </a:pPr>
            <a:r>
              <a:rPr sz="1400" b="1" i="0">
                <a:solidFill>
                  <a:srgbClr val="4A4A4A"/>
                </a:solidFill>
                <a:latin typeface="Arial"/>
              </a:rPr>
              <a:t>Interpretability</a:t>
            </a:r>
            <a:r>
              <a:rPr sz="1400" b="0" i="0">
                <a:solidFill>
                  <a:srgbClr val="4A4A4A"/>
                </a:solidFill>
                <a:latin typeface="Arial"/>
              </a:rPr>
              <a:t> (Table 7, crowdworker 0–100)</a:t>
            </a:r>
          </a:p>
        </p:txBody>
      </p:sp>
      <p:sp>
        <p:nvSpPr>
          <p:cNvPr id="9" name="TextBox 8"/>
          <p:cNvSpPr txBox="1"/>
          <p:nvPr/>
        </p:nvSpPr>
        <p:spPr>
          <a:xfrm>
            <a:off x="609905" y="5056632"/>
            <a:ext cx="1691640" cy="347472"/>
          </a:xfrm>
          <a:prstGeom prst="rect">
            <a:avLst/>
          </a:prstGeom>
          <a:noFill/>
        </p:spPr>
        <p:txBody>
          <a:bodyPr wrap="square" lIns="0" rIns="0" tIns="0" bIns="0" anchor="ctr">
            <a:noAutofit/>
          </a:bodyPr>
          <a:lstStyle/>
          <a:p>
            <a:pPr algn="r">
              <a:spcAft>
                <a:spcPts val="400"/>
              </a:spcAft>
            </a:pPr>
            <a:r>
              <a:rPr sz="1200" b="0" i="0">
                <a:solidFill>
                  <a:srgbClr val="6E757E"/>
                </a:solidFill>
                <a:latin typeface="Arial"/>
              </a:rPr>
              <a:t>Random</a:t>
            </a:r>
          </a:p>
        </p:txBody>
      </p:sp>
      <p:sp>
        <p:nvSpPr>
          <p:cNvPr id="10" name="Rectangle 9"/>
          <p:cNvSpPr/>
          <p:nvPr/>
        </p:nvSpPr>
        <p:spPr>
          <a:xfrm>
            <a:off x="2377440" y="5074920"/>
            <a:ext cx="1371234" cy="146304"/>
          </a:xfrm>
          <a:prstGeom prst="rect">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1" name="TextBox 10"/>
          <p:cNvSpPr txBox="1"/>
          <p:nvPr/>
        </p:nvSpPr>
        <p:spPr>
          <a:xfrm>
            <a:off x="3803538" y="5038344"/>
            <a:ext cx="548640" cy="201168"/>
          </a:xfrm>
          <a:prstGeom prst="rect">
            <a:avLst/>
          </a:prstGeom>
          <a:noFill/>
        </p:spPr>
        <p:txBody>
          <a:bodyPr wrap="square" lIns="0" rIns="0" tIns="0" bIns="0" anchor="t">
            <a:noAutofit/>
          </a:bodyPr>
          <a:lstStyle/>
          <a:p>
            <a:pPr algn="l">
              <a:spcAft>
                <a:spcPts val="400"/>
              </a:spcAft>
            </a:pPr>
            <a:r>
              <a:rPr sz="1000" b="0" i="0">
                <a:solidFill>
                  <a:srgbClr val="6E757E"/>
                </a:solidFill>
                <a:latin typeface="Arial"/>
              </a:rPr>
              <a:t>32.6</a:t>
            </a:r>
          </a:p>
        </p:txBody>
      </p:sp>
      <p:sp>
        <p:nvSpPr>
          <p:cNvPr id="12" name="Rectangle 11"/>
          <p:cNvSpPr/>
          <p:nvPr/>
        </p:nvSpPr>
        <p:spPr>
          <a:xfrm>
            <a:off x="2377440" y="5239512"/>
            <a:ext cx="2220895" cy="146304"/>
          </a:xfrm>
          <a:prstGeom prst="rect">
            <a:avLst/>
          </a:prstGeom>
          <a:solidFill>
            <a:srgbClr val="1C6E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TextBox 12"/>
          <p:cNvSpPr txBox="1"/>
          <p:nvPr/>
        </p:nvSpPr>
        <p:spPr>
          <a:xfrm>
            <a:off x="4653199" y="5202936"/>
            <a:ext cx="548640" cy="201168"/>
          </a:xfrm>
          <a:prstGeom prst="rect">
            <a:avLst/>
          </a:prstGeom>
          <a:noFill/>
        </p:spPr>
        <p:txBody>
          <a:bodyPr wrap="square" lIns="0" rIns="0" tIns="0" bIns="0" anchor="t">
            <a:noAutofit/>
          </a:bodyPr>
          <a:lstStyle/>
          <a:p>
            <a:pPr algn="l">
              <a:spcAft>
                <a:spcPts val="400"/>
              </a:spcAft>
            </a:pPr>
            <a:r>
              <a:rPr sz="1000" b="0" i="0">
                <a:solidFill>
                  <a:srgbClr val="6E757E"/>
                </a:solidFill>
                <a:latin typeface="Arial"/>
              </a:rPr>
              <a:t>52.8</a:t>
            </a:r>
          </a:p>
        </p:txBody>
      </p:sp>
      <p:sp>
        <p:nvSpPr>
          <p:cNvPr id="14" name="TextBox 13"/>
          <p:cNvSpPr txBox="1"/>
          <p:nvPr/>
        </p:nvSpPr>
        <p:spPr>
          <a:xfrm>
            <a:off x="609905" y="5458968"/>
            <a:ext cx="1691640" cy="347472"/>
          </a:xfrm>
          <a:prstGeom prst="rect">
            <a:avLst/>
          </a:prstGeom>
          <a:noFill/>
        </p:spPr>
        <p:txBody>
          <a:bodyPr wrap="square" lIns="0" rIns="0" tIns="0" bIns="0" anchor="ctr">
            <a:noAutofit/>
          </a:bodyPr>
          <a:lstStyle/>
          <a:p>
            <a:pPr algn="r">
              <a:spcAft>
                <a:spcPts val="400"/>
              </a:spcAft>
            </a:pPr>
            <a:r>
              <a:rPr sz="1200" b="0" i="0">
                <a:solidFill>
                  <a:srgbClr val="6E757E"/>
                </a:solidFill>
                <a:latin typeface="Arial"/>
              </a:rPr>
              <a:t>Agreement top 30</a:t>
            </a:r>
          </a:p>
        </p:txBody>
      </p:sp>
      <p:sp>
        <p:nvSpPr>
          <p:cNvPr id="15" name="Rectangle 14"/>
          <p:cNvSpPr/>
          <p:nvPr/>
        </p:nvSpPr>
        <p:spPr>
          <a:xfrm>
            <a:off x="2377440" y="5477256"/>
            <a:ext cx="1270284" cy="146304"/>
          </a:xfrm>
          <a:prstGeom prst="rect">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6" name="TextBox 15"/>
          <p:cNvSpPr txBox="1"/>
          <p:nvPr/>
        </p:nvSpPr>
        <p:spPr>
          <a:xfrm>
            <a:off x="3702588" y="5440680"/>
            <a:ext cx="548640" cy="201168"/>
          </a:xfrm>
          <a:prstGeom prst="rect">
            <a:avLst/>
          </a:prstGeom>
          <a:noFill/>
        </p:spPr>
        <p:txBody>
          <a:bodyPr wrap="square" lIns="0" rIns="0" tIns="0" bIns="0" anchor="t">
            <a:noAutofit/>
          </a:bodyPr>
          <a:lstStyle/>
          <a:p>
            <a:pPr algn="l">
              <a:spcAft>
                <a:spcPts val="400"/>
              </a:spcAft>
            </a:pPr>
            <a:r>
              <a:rPr sz="1000" b="0" i="0">
                <a:solidFill>
                  <a:srgbClr val="6E757E"/>
                </a:solidFill>
                <a:latin typeface="Arial"/>
              </a:rPr>
              <a:t>30.2</a:t>
            </a:r>
          </a:p>
        </p:txBody>
      </p:sp>
      <p:sp>
        <p:nvSpPr>
          <p:cNvPr id="17" name="Rectangle 16"/>
          <p:cNvSpPr/>
          <p:nvPr/>
        </p:nvSpPr>
        <p:spPr>
          <a:xfrm>
            <a:off x="2377440" y="5641848"/>
            <a:ext cx="2620488" cy="146304"/>
          </a:xfrm>
          <a:prstGeom prst="rect">
            <a:avLst/>
          </a:prstGeom>
          <a:solidFill>
            <a:srgbClr val="1C6E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TextBox 17"/>
          <p:cNvSpPr txBox="1"/>
          <p:nvPr/>
        </p:nvSpPr>
        <p:spPr>
          <a:xfrm>
            <a:off x="5052792" y="5605272"/>
            <a:ext cx="548640" cy="201168"/>
          </a:xfrm>
          <a:prstGeom prst="rect">
            <a:avLst/>
          </a:prstGeom>
          <a:noFill/>
        </p:spPr>
        <p:txBody>
          <a:bodyPr wrap="square" lIns="0" rIns="0" tIns="0" bIns="0" anchor="t">
            <a:noAutofit/>
          </a:bodyPr>
          <a:lstStyle/>
          <a:p>
            <a:pPr algn="l">
              <a:spcAft>
                <a:spcPts val="400"/>
              </a:spcAft>
            </a:pPr>
            <a:r>
              <a:rPr sz="1000" b="0" i="0">
                <a:solidFill>
                  <a:srgbClr val="6E757E"/>
                </a:solidFill>
                <a:latin typeface="Arial"/>
              </a:rPr>
              <a:t>62.3</a:t>
            </a:r>
          </a:p>
        </p:txBody>
      </p:sp>
      <p:sp>
        <p:nvSpPr>
          <p:cNvPr id="19" name="TextBox 18"/>
          <p:cNvSpPr txBox="1"/>
          <p:nvPr/>
        </p:nvSpPr>
        <p:spPr>
          <a:xfrm>
            <a:off x="609905" y="5861304"/>
            <a:ext cx="1691640" cy="347472"/>
          </a:xfrm>
          <a:prstGeom prst="rect">
            <a:avLst/>
          </a:prstGeom>
          <a:noFill/>
        </p:spPr>
        <p:txBody>
          <a:bodyPr wrap="square" lIns="0" rIns="0" tIns="0" bIns="0" anchor="ctr">
            <a:noAutofit/>
          </a:bodyPr>
          <a:lstStyle/>
          <a:p>
            <a:pPr algn="r">
              <a:spcAft>
                <a:spcPts val="400"/>
              </a:spcAft>
            </a:pPr>
            <a:r>
              <a:rPr sz="1200" b="0" i="0">
                <a:solidFill>
                  <a:srgbClr val="6E757E"/>
                </a:solidFill>
                <a:latin typeface="Arial"/>
              </a:rPr>
              <a:t>BiB top 30</a:t>
            </a:r>
          </a:p>
        </p:txBody>
      </p:sp>
      <p:sp>
        <p:nvSpPr>
          <p:cNvPr id="20" name="Rectangle 19"/>
          <p:cNvSpPr/>
          <p:nvPr/>
        </p:nvSpPr>
        <p:spPr>
          <a:xfrm>
            <a:off x="2377440" y="5879592"/>
            <a:ext cx="1514246" cy="146304"/>
          </a:xfrm>
          <a:prstGeom prst="rect">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1" name="TextBox 20"/>
          <p:cNvSpPr txBox="1"/>
          <p:nvPr/>
        </p:nvSpPr>
        <p:spPr>
          <a:xfrm>
            <a:off x="3946550" y="5843016"/>
            <a:ext cx="548640" cy="201168"/>
          </a:xfrm>
          <a:prstGeom prst="rect">
            <a:avLst/>
          </a:prstGeom>
          <a:noFill/>
        </p:spPr>
        <p:txBody>
          <a:bodyPr wrap="square" lIns="0" rIns="0" tIns="0" bIns="0" anchor="t">
            <a:noAutofit/>
          </a:bodyPr>
          <a:lstStyle/>
          <a:p>
            <a:pPr algn="l">
              <a:spcAft>
                <a:spcPts val="400"/>
              </a:spcAft>
            </a:pPr>
            <a:r>
              <a:rPr sz="1000" b="0" i="0">
                <a:solidFill>
                  <a:srgbClr val="6E757E"/>
                </a:solidFill>
                <a:latin typeface="Arial"/>
              </a:rPr>
              <a:t>36.0</a:t>
            </a:r>
          </a:p>
        </p:txBody>
      </p:sp>
      <p:sp>
        <p:nvSpPr>
          <p:cNvPr id="22" name="Rectangle 21"/>
          <p:cNvSpPr/>
          <p:nvPr/>
        </p:nvSpPr>
        <p:spPr>
          <a:xfrm>
            <a:off x="2377440" y="6044184"/>
            <a:ext cx="3428086" cy="146304"/>
          </a:xfrm>
          <a:prstGeom prst="rect">
            <a:avLst/>
          </a:prstGeom>
          <a:solidFill>
            <a:srgbClr val="1C6E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3" name="TextBox 22"/>
          <p:cNvSpPr txBox="1"/>
          <p:nvPr/>
        </p:nvSpPr>
        <p:spPr>
          <a:xfrm>
            <a:off x="5860390" y="6007608"/>
            <a:ext cx="548640" cy="201168"/>
          </a:xfrm>
          <a:prstGeom prst="rect">
            <a:avLst/>
          </a:prstGeom>
          <a:noFill/>
        </p:spPr>
        <p:txBody>
          <a:bodyPr wrap="square" lIns="0" rIns="0" tIns="0" bIns="0" anchor="t">
            <a:noAutofit/>
          </a:bodyPr>
          <a:lstStyle/>
          <a:p>
            <a:pPr algn="l">
              <a:spcAft>
                <a:spcPts val="400"/>
              </a:spcAft>
            </a:pPr>
            <a:r>
              <a:rPr sz="1000" b="0" i="0">
                <a:solidFill>
                  <a:srgbClr val="6E757E"/>
                </a:solidFill>
                <a:latin typeface="Arial"/>
              </a:rPr>
              <a:t>81.5</a:t>
            </a:r>
          </a:p>
        </p:txBody>
      </p:sp>
      <p:sp>
        <p:nvSpPr>
          <p:cNvPr id="24" name="Rectangle 23"/>
          <p:cNvSpPr/>
          <p:nvPr/>
        </p:nvSpPr>
        <p:spPr>
          <a:xfrm>
            <a:off x="6583680" y="4754880"/>
            <a:ext cx="137160" cy="137160"/>
          </a:xfrm>
          <a:prstGeom prst="rect">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5" name="TextBox 24"/>
          <p:cNvSpPr txBox="1"/>
          <p:nvPr/>
        </p:nvSpPr>
        <p:spPr>
          <a:xfrm>
            <a:off x="6766560" y="4718304"/>
            <a:ext cx="914400" cy="228600"/>
          </a:xfrm>
          <a:prstGeom prst="rect">
            <a:avLst/>
          </a:prstGeom>
          <a:noFill/>
        </p:spPr>
        <p:txBody>
          <a:bodyPr wrap="square" lIns="0" rIns="0" tIns="0" bIns="0" anchor="t">
            <a:noAutofit/>
          </a:bodyPr>
          <a:lstStyle/>
          <a:p>
            <a:pPr algn="l">
              <a:spcAft>
                <a:spcPts val="400"/>
              </a:spcAft>
            </a:pPr>
            <a:r>
              <a:rPr sz="1000" b="0" i="0">
                <a:solidFill>
                  <a:srgbClr val="6E757E"/>
                </a:solidFill>
                <a:latin typeface="Arial"/>
              </a:rPr>
              <a:t>neuron</a:t>
            </a:r>
          </a:p>
        </p:txBody>
      </p:sp>
      <p:sp>
        <p:nvSpPr>
          <p:cNvPr id="26" name="Rectangle 25"/>
          <p:cNvSpPr/>
          <p:nvPr/>
        </p:nvSpPr>
        <p:spPr>
          <a:xfrm>
            <a:off x="6583680" y="4983480"/>
            <a:ext cx="137160" cy="137160"/>
          </a:xfrm>
          <a:prstGeom prst="rect">
            <a:avLst/>
          </a:prstGeom>
          <a:solidFill>
            <a:srgbClr val="1C6E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7" name="TextBox 26"/>
          <p:cNvSpPr txBox="1"/>
          <p:nvPr/>
        </p:nvSpPr>
        <p:spPr>
          <a:xfrm>
            <a:off x="6766560" y="4946904"/>
            <a:ext cx="1097280" cy="228600"/>
          </a:xfrm>
          <a:prstGeom prst="rect">
            <a:avLst/>
          </a:prstGeom>
          <a:noFill/>
        </p:spPr>
        <p:txBody>
          <a:bodyPr wrap="square" lIns="0" rIns="0" tIns="0" bIns="0" anchor="t">
            <a:noAutofit/>
          </a:bodyPr>
          <a:lstStyle/>
          <a:p>
            <a:pPr algn="l">
              <a:spcAft>
                <a:spcPts val="400"/>
              </a:spcAft>
            </a:pPr>
            <a:r>
              <a:rPr sz="1000" b="0" i="0">
                <a:solidFill>
                  <a:srgbClr val="6E757E"/>
                </a:solidFill>
                <a:latin typeface="Arial"/>
              </a:rPr>
              <a:t>SAE feature</a:t>
            </a:r>
          </a:p>
        </p:txBody>
      </p:sp>
      <p:sp>
        <p:nvSpPr>
          <p:cNvPr id="28" name="TextBox 27"/>
          <p:cNvSpPr txBox="1"/>
          <p:nvPr/>
        </p:nvSpPr>
        <p:spPr>
          <a:xfrm>
            <a:off x="7909560" y="1691640"/>
            <a:ext cx="3630168" cy="548640"/>
          </a:xfrm>
          <a:prstGeom prst="rect">
            <a:avLst/>
          </a:prstGeom>
          <a:noFill/>
        </p:spPr>
        <p:txBody>
          <a:bodyPr wrap="square" lIns="0" rIns="0" tIns="0" bIns="0" anchor="t">
            <a:noAutofit/>
          </a:bodyPr>
          <a:lstStyle/>
          <a:p>
            <a:pPr algn="l">
              <a:spcAft>
                <a:spcPts val="400"/>
              </a:spcAft>
            </a:pPr>
            <a:r>
              <a:rPr sz="1400" b="1" i="0">
                <a:solidFill>
                  <a:srgbClr val="4A4A4A"/>
                </a:solidFill>
                <a:latin typeface="Arial"/>
              </a:rPr>
              <a:t>Faithfulness</a:t>
            </a:r>
            <a:r>
              <a:rPr sz="1400" b="0" i="0">
                <a:solidFill>
                  <a:srgbClr val="4A4A4A"/>
                </a:solidFill>
                <a:latin typeface="Arial"/>
              </a:rPr>
              <a:t>: số node để giải thích phần lớn hành vi</a:t>
            </a:r>
          </a:p>
        </p:txBody>
      </p:sp>
      <p:sp>
        <p:nvSpPr>
          <p:cNvPr id="29" name="TextBox 28"/>
          <p:cNvSpPr txBox="1"/>
          <p:nvPr/>
        </p:nvSpPr>
        <p:spPr>
          <a:xfrm>
            <a:off x="7909560" y="2240280"/>
            <a:ext cx="1325880" cy="603504"/>
          </a:xfrm>
          <a:prstGeom prst="rect">
            <a:avLst/>
          </a:prstGeom>
          <a:noFill/>
        </p:spPr>
        <p:txBody>
          <a:bodyPr wrap="square" lIns="0" rIns="0" tIns="0" bIns="0" anchor="b">
            <a:noAutofit/>
          </a:bodyPr>
          <a:lstStyle/>
          <a:p>
            <a:pPr algn="l">
              <a:spcAft>
                <a:spcPts val="400"/>
              </a:spcAft>
            </a:pPr>
          </a:p>
        </p:txBody>
      </p:sp>
      <p:sp>
        <p:nvSpPr>
          <p:cNvPr id="30" name="TextBox 29"/>
          <p:cNvSpPr txBox="1"/>
          <p:nvPr/>
        </p:nvSpPr>
        <p:spPr>
          <a:xfrm>
            <a:off x="9326880" y="2240280"/>
            <a:ext cx="868680" cy="603504"/>
          </a:xfrm>
          <a:prstGeom prst="rect">
            <a:avLst/>
          </a:prstGeom>
          <a:noFill/>
        </p:spPr>
        <p:txBody>
          <a:bodyPr wrap="square" lIns="0" rIns="0" tIns="0" bIns="0" anchor="b">
            <a:noAutofit/>
          </a:bodyPr>
          <a:lstStyle/>
          <a:p>
            <a:pPr algn="r">
              <a:spcAft>
                <a:spcPts val="400"/>
              </a:spcAft>
            </a:pPr>
            <a:r>
              <a:rPr sz="1300" b="0" i="0">
                <a:solidFill>
                  <a:srgbClr val="6E757E"/>
                </a:solidFill>
                <a:latin typeface="Arial"/>
              </a:rPr>
              <a:t>Feature</a:t>
            </a:r>
          </a:p>
        </p:txBody>
      </p:sp>
      <p:sp>
        <p:nvSpPr>
          <p:cNvPr id="31" name="TextBox 30"/>
          <p:cNvSpPr txBox="1"/>
          <p:nvPr/>
        </p:nvSpPr>
        <p:spPr>
          <a:xfrm>
            <a:off x="10287000" y="2240280"/>
            <a:ext cx="1161288" cy="603504"/>
          </a:xfrm>
          <a:prstGeom prst="rect">
            <a:avLst/>
          </a:prstGeom>
          <a:noFill/>
        </p:spPr>
        <p:txBody>
          <a:bodyPr wrap="square" lIns="0" rIns="0" tIns="0" bIns="0" anchor="b">
            <a:noAutofit/>
          </a:bodyPr>
          <a:lstStyle/>
          <a:p>
            <a:pPr algn="r">
              <a:spcAft>
                <a:spcPts val="400"/>
              </a:spcAft>
            </a:pPr>
            <a:r>
              <a:rPr sz="1300" b="0" i="0">
                <a:solidFill>
                  <a:srgbClr val="6E757E"/>
                </a:solidFill>
                <a:latin typeface="Arial"/>
              </a:rPr>
              <a:t>Neuron</a:t>
            </a:r>
          </a:p>
        </p:txBody>
      </p:sp>
      <p:cxnSp>
        <p:nvCxnSpPr>
          <p:cNvPr id="32" name="Connector 31"/>
          <p:cNvCxnSpPr/>
          <p:nvPr/>
        </p:nvCxnSpPr>
        <p:spPr>
          <a:xfrm>
            <a:off x="7909560" y="2889504"/>
            <a:ext cx="3630168" cy="0"/>
          </a:xfrm>
          <a:prstGeom prst="line">
            <a:avLst/>
          </a:prstGeom>
          <a:ln w="19050">
            <a:solidFill>
              <a:srgbClr val="1C6E7E"/>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909560" y="2935224"/>
            <a:ext cx="1325880" cy="603504"/>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Pythia-70M</a:t>
            </a:r>
          </a:p>
        </p:txBody>
      </p:sp>
      <p:sp>
        <p:nvSpPr>
          <p:cNvPr id="34" name="TextBox 33"/>
          <p:cNvSpPr txBox="1"/>
          <p:nvPr/>
        </p:nvSpPr>
        <p:spPr>
          <a:xfrm>
            <a:off x="9326880" y="2935224"/>
            <a:ext cx="868680" cy="603504"/>
          </a:xfrm>
          <a:prstGeom prst="rect">
            <a:avLst/>
          </a:prstGeom>
          <a:noFill/>
        </p:spPr>
        <p:txBody>
          <a:bodyPr wrap="square" lIns="0" rIns="0" tIns="0" bIns="0" anchor="ctr">
            <a:noAutofit/>
          </a:bodyPr>
          <a:lstStyle/>
          <a:p>
            <a:pPr algn="r">
              <a:spcAft>
                <a:spcPts val="400"/>
              </a:spcAft>
            </a:pPr>
            <a:r>
              <a:rPr sz="1800" b="1" i="0">
                <a:solidFill>
                  <a:srgbClr val="1C6E7E"/>
                </a:solidFill>
                <a:latin typeface="Arial"/>
              </a:rPr>
              <a:t>~100</a:t>
            </a:r>
          </a:p>
        </p:txBody>
      </p:sp>
      <p:sp>
        <p:nvSpPr>
          <p:cNvPr id="35" name="TextBox 34"/>
          <p:cNvSpPr txBox="1"/>
          <p:nvPr/>
        </p:nvSpPr>
        <p:spPr>
          <a:xfrm>
            <a:off x="10287000" y="2935224"/>
            <a:ext cx="1161288" cy="603504"/>
          </a:xfrm>
          <a:prstGeom prst="rect">
            <a:avLst/>
          </a:prstGeom>
          <a:noFill/>
        </p:spPr>
        <p:txBody>
          <a:bodyPr wrap="square" lIns="0" rIns="0" tIns="0" bIns="0" anchor="ctr">
            <a:noAutofit/>
          </a:bodyPr>
          <a:lstStyle/>
          <a:p>
            <a:pPr algn="r">
              <a:spcAft>
                <a:spcPts val="400"/>
              </a:spcAft>
            </a:pPr>
            <a:r>
              <a:rPr sz="1800" b="1" i="0">
                <a:solidFill>
                  <a:srgbClr val="4A4A4A"/>
                </a:solidFill>
                <a:latin typeface="Arial"/>
              </a:rPr>
              <a:t>~1 500</a:t>
            </a:r>
          </a:p>
        </p:txBody>
      </p:sp>
      <p:cxnSp>
        <p:nvCxnSpPr>
          <p:cNvPr id="36" name="Connector 35"/>
          <p:cNvCxnSpPr/>
          <p:nvPr/>
        </p:nvCxnSpPr>
        <p:spPr>
          <a:xfrm>
            <a:off x="7909560" y="3538728"/>
            <a:ext cx="3630168"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909560" y="3538728"/>
            <a:ext cx="1325880" cy="603504"/>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Gemma-2-2B</a:t>
            </a:r>
          </a:p>
        </p:txBody>
      </p:sp>
      <p:sp>
        <p:nvSpPr>
          <p:cNvPr id="38" name="TextBox 37"/>
          <p:cNvSpPr txBox="1"/>
          <p:nvPr/>
        </p:nvSpPr>
        <p:spPr>
          <a:xfrm>
            <a:off x="9326880" y="3538728"/>
            <a:ext cx="868680" cy="603504"/>
          </a:xfrm>
          <a:prstGeom prst="rect">
            <a:avLst/>
          </a:prstGeom>
          <a:noFill/>
        </p:spPr>
        <p:txBody>
          <a:bodyPr wrap="square" lIns="0" rIns="0" tIns="0" bIns="0" anchor="ctr">
            <a:noAutofit/>
          </a:bodyPr>
          <a:lstStyle/>
          <a:p>
            <a:pPr algn="r">
              <a:spcAft>
                <a:spcPts val="400"/>
              </a:spcAft>
            </a:pPr>
            <a:r>
              <a:rPr sz="1800" b="1" i="0">
                <a:solidFill>
                  <a:srgbClr val="1C6E7E"/>
                </a:solidFill>
                <a:latin typeface="Arial"/>
              </a:rPr>
              <a:t>~500</a:t>
            </a:r>
          </a:p>
        </p:txBody>
      </p:sp>
      <p:sp>
        <p:nvSpPr>
          <p:cNvPr id="39" name="TextBox 38"/>
          <p:cNvSpPr txBox="1"/>
          <p:nvPr/>
        </p:nvSpPr>
        <p:spPr>
          <a:xfrm>
            <a:off x="10287000" y="3538728"/>
            <a:ext cx="1161288" cy="603504"/>
          </a:xfrm>
          <a:prstGeom prst="rect">
            <a:avLst/>
          </a:prstGeom>
          <a:noFill/>
        </p:spPr>
        <p:txBody>
          <a:bodyPr wrap="square" lIns="0" rIns="0" tIns="0" bIns="0" anchor="ctr">
            <a:noAutofit/>
          </a:bodyPr>
          <a:lstStyle/>
          <a:p>
            <a:pPr algn="r">
              <a:spcAft>
                <a:spcPts val="400"/>
              </a:spcAft>
            </a:pPr>
            <a:r>
              <a:rPr sz="1800" b="1" i="0">
                <a:solidFill>
                  <a:srgbClr val="4A4A4A"/>
                </a:solidFill>
                <a:latin typeface="Arial"/>
              </a:rPr>
              <a:t>~50 000</a:t>
            </a:r>
          </a:p>
        </p:txBody>
      </p:sp>
      <p:cxnSp>
        <p:nvCxnSpPr>
          <p:cNvPr id="40" name="Connector 39"/>
          <p:cNvCxnSpPr/>
          <p:nvPr/>
        </p:nvCxnSpPr>
        <p:spPr>
          <a:xfrm>
            <a:off x="7909560" y="4142232"/>
            <a:ext cx="3630168"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909560" y="4297680"/>
            <a:ext cx="3630168" cy="548640"/>
          </a:xfrm>
          <a:prstGeom prst="rect">
            <a:avLst/>
          </a:prstGeom>
          <a:noFill/>
        </p:spPr>
        <p:txBody>
          <a:bodyPr wrap="square" lIns="0" rIns="0" tIns="0" bIns="0" anchor="t">
            <a:noAutofit/>
          </a:bodyPr>
          <a:lstStyle/>
          <a:p>
            <a:pPr algn="l">
              <a:spcAft>
                <a:spcPts val="400"/>
              </a:spcAft>
            </a:pPr>
            <a:r>
              <a:rPr sz="1400" b="1" i="0">
                <a:solidFill>
                  <a:srgbClr val="4A4A4A"/>
                </a:solidFill>
                <a:latin typeface="Arial"/>
              </a:rPr>
              <a:t>Completeness</a:t>
            </a:r>
            <a:r>
              <a:rPr sz="1400" b="0" i="0">
                <a:solidFill>
                  <a:srgbClr val="4A4A4A"/>
                </a:solidFill>
                <a:latin typeface="Arial"/>
              </a:rPr>
              <a:t>: số node ablate để hành vi biến mất</a:t>
            </a:r>
          </a:p>
        </p:txBody>
      </p:sp>
      <p:sp>
        <p:nvSpPr>
          <p:cNvPr id="42" name="TextBox 41"/>
          <p:cNvSpPr txBox="1"/>
          <p:nvPr/>
        </p:nvSpPr>
        <p:spPr>
          <a:xfrm>
            <a:off x="7909560" y="4846320"/>
            <a:ext cx="1325880" cy="438912"/>
          </a:xfrm>
          <a:prstGeom prst="rect">
            <a:avLst/>
          </a:prstGeom>
          <a:noFill/>
        </p:spPr>
        <p:txBody>
          <a:bodyPr wrap="square" lIns="0" rIns="0" tIns="0" bIns="0" anchor="b">
            <a:noAutofit/>
          </a:bodyPr>
          <a:lstStyle/>
          <a:p>
            <a:pPr algn="l">
              <a:spcAft>
                <a:spcPts val="400"/>
              </a:spcAft>
            </a:pPr>
          </a:p>
        </p:txBody>
      </p:sp>
      <p:sp>
        <p:nvSpPr>
          <p:cNvPr id="43" name="TextBox 42"/>
          <p:cNvSpPr txBox="1"/>
          <p:nvPr/>
        </p:nvSpPr>
        <p:spPr>
          <a:xfrm>
            <a:off x="9326880" y="4846320"/>
            <a:ext cx="868680" cy="438912"/>
          </a:xfrm>
          <a:prstGeom prst="rect">
            <a:avLst/>
          </a:prstGeom>
          <a:noFill/>
        </p:spPr>
        <p:txBody>
          <a:bodyPr wrap="square" lIns="0" rIns="0" tIns="0" bIns="0" anchor="b">
            <a:noAutofit/>
          </a:bodyPr>
          <a:lstStyle/>
          <a:p>
            <a:pPr algn="r">
              <a:spcAft>
                <a:spcPts val="400"/>
              </a:spcAft>
            </a:pPr>
            <a:r>
              <a:rPr sz="1300" b="0" i="0">
                <a:solidFill>
                  <a:srgbClr val="6E757E"/>
                </a:solidFill>
                <a:latin typeface="Arial"/>
              </a:rPr>
              <a:t>Feature</a:t>
            </a:r>
          </a:p>
        </p:txBody>
      </p:sp>
      <p:sp>
        <p:nvSpPr>
          <p:cNvPr id="44" name="TextBox 43"/>
          <p:cNvSpPr txBox="1"/>
          <p:nvPr/>
        </p:nvSpPr>
        <p:spPr>
          <a:xfrm>
            <a:off x="10287000" y="4846320"/>
            <a:ext cx="1161288" cy="438912"/>
          </a:xfrm>
          <a:prstGeom prst="rect">
            <a:avLst/>
          </a:prstGeom>
          <a:noFill/>
        </p:spPr>
        <p:txBody>
          <a:bodyPr wrap="square" lIns="0" rIns="0" tIns="0" bIns="0" anchor="b">
            <a:noAutofit/>
          </a:bodyPr>
          <a:lstStyle/>
          <a:p>
            <a:pPr algn="r">
              <a:spcAft>
                <a:spcPts val="400"/>
              </a:spcAft>
            </a:pPr>
            <a:r>
              <a:rPr sz="1300" b="0" i="0">
                <a:solidFill>
                  <a:srgbClr val="6E757E"/>
                </a:solidFill>
                <a:latin typeface="Arial"/>
              </a:rPr>
              <a:t>Neuron</a:t>
            </a:r>
          </a:p>
        </p:txBody>
      </p:sp>
      <p:cxnSp>
        <p:nvCxnSpPr>
          <p:cNvPr id="45" name="Connector 44"/>
          <p:cNvCxnSpPr/>
          <p:nvPr/>
        </p:nvCxnSpPr>
        <p:spPr>
          <a:xfrm>
            <a:off x="7909560" y="5330952"/>
            <a:ext cx="3630168" cy="0"/>
          </a:xfrm>
          <a:prstGeom prst="line">
            <a:avLst/>
          </a:prstGeom>
          <a:ln w="19050">
            <a:solidFill>
              <a:srgbClr val="1C6E7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909560" y="5376672"/>
            <a:ext cx="1325880" cy="438912"/>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Pythia-70M</a:t>
            </a:r>
          </a:p>
        </p:txBody>
      </p:sp>
      <p:sp>
        <p:nvSpPr>
          <p:cNvPr id="47" name="TextBox 46"/>
          <p:cNvSpPr txBox="1"/>
          <p:nvPr/>
        </p:nvSpPr>
        <p:spPr>
          <a:xfrm>
            <a:off x="9326880" y="5376672"/>
            <a:ext cx="868680" cy="438912"/>
          </a:xfrm>
          <a:prstGeom prst="rect">
            <a:avLst/>
          </a:prstGeom>
          <a:noFill/>
        </p:spPr>
        <p:txBody>
          <a:bodyPr wrap="square" lIns="0" rIns="0" tIns="0" bIns="0" anchor="ctr">
            <a:noAutofit/>
          </a:bodyPr>
          <a:lstStyle/>
          <a:p>
            <a:pPr algn="r">
              <a:spcAft>
                <a:spcPts val="400"/>
              </a:spcAft>
            </a:pPr>
            <a:r>
              <a:rPr sz="1400" b="1" i="0">
                <a:solidFill>
                  <a:srgbClr val="1C6E7E"/>
                </a:solidFill>
                <a:latin typeface="Arial"/>
              </a:rPr>
              <a:t>vài node</a:t>
            </a:r>
          </a:p>
        </p:txBody>
      </p:sp>
      <p:sp>
        <p:nvSpPr>
          <p:cNvPr id="48" name="TextBox 47"/>
          <p:cNvSpPr txBox="1"/>
          <p:nvPr/>
        </p:nvSpPr>
        <p:spPr>
          <a:xfrm>
            <a:off x="10287000" y="5376672"/>
            <a:ext cx="1161288" cy="438912"/>
          </a:xfrm>
          <a:prstGeom prst="rect">
            <a:avLst/>
          </a:prstGeom>
          <a:noFill/>
        </p:spPr>
        <p:txBody>
          <a:bodyPr wrap="square" lIns="0" rIns="0" tIns="0" bIns="0" anchor="ctr">
            <a:noAutofit/>
          </a:bodyPr>
          <a:lstStyle/>
          <a:p>
            <a:pPr algn="r">
              <a:spcAft>
                <a:spcPts val="400"/>
              </a:spcAft>
            </a:pPr>
            <a:r>
              <a:rPr sz="1400" b="1" i="0">
                <a:solidFill>
                  <a:srgbClr val="4A4A4A"/>
                </a:solidFill>
                <a:latin typeface="Arial"/>
              </a:rPr>
              <a:t>hàng trăm</a:t>
            </a:r>
          </a:p>
        </p:txBody>
      </p:sp>
      <p:cxnSp>
        <p:nvCxnSpPr>
          <p:cNvPr id="49" name="Connector 48"/>
          <p:cNvCxnSpPr/>
          <p:nvPr/>
        </p:nvCxnSpPr>
        <p:spPr>
          <a:xfrm>
            <a:off x="7909560" y="5815584"/>
            <a:ext cx="3630168"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909560" y="5815584"/>
            <a:ext cx="1325880" cy="438912"/>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Gemma-2-2B</a:t>
            </a:r>
          </a:p>
        </p:txBody>
      </p:sp>
      <p:sp>
        <p:nvSpPr>
          <p:cNvPr id="51" name="TextBox 50"/>
          <p:cNvSpPr txBox="1"/>
          <p:nvPr/>
        </p:nvSpPr>
        <p:spPr>
          <a:xfrm>
            <a:off x="9326880" y="5815584"/>
            <a:ext cx="868680" cy="438912"/>
          </a:xfrm>
          <a:prstGeom prst="rect">
            <a:avLst/>
          </a:prstGeom>
          <a:noFill/>
        </p:spPr>
        <p:txBody>
          <a:bodyPr wrap="square" lIns="0" rIns="0" tIns="0" bIns="0" anchor="ctr">
            <a:noAutofit/>
          </a:bodyPr>
          <a:lstStyle/>
          <a:p>
            <a:pPr algn="r">
              <a:spcAft>
                <a:spcPts val="400"/>
              </a:spcAft>
            </a:pPr>
            <a:r>
              <a:rPr sz="1400" b="1" i="0">
                <a:solidFill>
                  <a:srgbClr val="1C6E7E"/>
                </a:solidFill>
                <a:latin typeface="Arial"/>
              </a:rPr>
              <a:t>vài node</a:t>
            </a:r>
          </a:p>
        </p:txBody>
      </p:sp>
      <p:sp>
        <p:nvSpPr>
          <p:cNvPr id="52" name="TextBox 51"/>
          <p:cNvSpPr txBox="1"/>
          <p:nvPr/>
        </p:nvSpPr>
        <p:spPr>
          <a:xfrm>
            <a:off x="10287000" y="5815584"/>
            <a:ext cx="1161288" cy="438912"/>
          </a:xfrm>
          <a:prstGeom prst="rect">
            <a:avLst/>
          </a:prstGeom>
          <a:noFill/>
        </p:spPr>
        <p:txBody>
          <a:bodyPr wrap="square" lIns="0" rIns="0" tIns="0" bIns="0" anchor="ctr">
            <a:noAutofit/>
          </a:bodyPr>
          <a:lstStyle/>
          <a:p>
            <a:pPr algn="r">
              <a:spcAft>
                <a:spcPts val="400"/>
              </a:spcAft>
            </a:pPr>
            <a:r>
              <a:rPr sz="1400" b="1" i="0">
                <a:solidFill>
                  <a:srgbClr val="4A4A4A"/>
                </a:solidFill>
                <a:latin typeface="Arial"/>
              </a:rPr>
              <a:t>hàng nghìn</a:t>
            </a:r>
          </a:p>
        </p:txBody>
      </p:sp>
      <p:cxnSp>
        <p:nvCxnSpPr>
          <p:cNvPr id="53" name="Connector 52"/>
          <p:cNvCxnSpPr/>
          <p:nvPr/>
        </p:nvCxnSpPr>
        <p:spPr>
          <a:xfrm>
            <a:off x="7909560" y="6254496"/>
            <a:ext cx="3630168"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3. Subject-verb agreement</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Case study: agreement across RC</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13</a:t>
            </a:r>
          </a:p>
        </p:txBody>
      </p:sp>
      <p:sp>
        <p:nvSpPr>
          <p:cNvPr id="7" name="TextBox 6"/>
          <p:cNvSpPr txBox="1"/>
          <p:nvPr/>
        </p:nvSpPr>
        <p:spPr>
          <a:xfrm>
            <a:off x="609905" y="1645920"/>
            <a:ext cx="4572000" cy="274320"/>
          </a:xfrm>
          <a:prstGeom prst="rect">
            <a:avLst/>
          </a:prstGeom>
          <a:noFill/>
        </p:spPr>
        <p:txBody>
          <a:bodyPr wrap="square" lIns="0" rIns="0" tIns="0" bIns="0" anchor="t">
            <a:noAutofit/>
          </a:bodyPr>
          <a:lstStyle/>
          <a:p>
            <a:pPr algn="l">
              <a:spcAft>
                <a:spcPts val="400"/>
              </a:spcAft>
            </a:pPr>
            <a:r>
              <a:rPr sz="1400" b="1" i="0">
                <a:solidFill>
                  <a:srgbClr val="6E757E"/>
                </a:solidFill>
                <a:latin typeface="Arial"/>
              </a:rPr>
              <a:t>Pythia-70M</a:t>
            </a:r>
            <a:r>
              <a:rPr sz="1400" b="0" i="0">
                <a:solidFill>
                  <a:srgbClr val="6E757E"/>
                </a:solidFill>
                <a:latin typeface="Arial"/>
              </a:rPr>
              <a:t>: 86 node, faithfulness 0.21</a:t>
            </a:r>
          </a:p>
        </p:txBody>
      </p:sp>
      <p:pic>
        <p:nvPicPr>
          <p:cNvPr id="8" name="Picture 7" descr="_crop_3055894723476001644.png"/>
          <p:cNvPicPr>
            <a:picLocks noChangeAspect="1"/>
          </p:cNvPicPr>
          <p:nvPr/>
        </p:nvPicPr>
        <p:blipFill>
          <a:blip r:embed="rId2"/>
          <a:stretch>
            <a:fillRect/>
          </a:stretch>
        </p:blipFill>
        <p:spPr>
          <a:xfrm>
            <a:off x="609905" y="2057400"/>
            <a:ext cx="4572000" cy="1975037"/>
          </a:xfrm>
          <a:prstGeom prst="rect">
            <a:avLst/>
          </a:prstGeom>
        </p:spPr>
      </p:pic>
      <p:sp>
        <p:nvSpPr>
          <p:cNvPr id="9" name="TextBox 8"/>
          <p:cNvSpPr txBox="1"/>
          <p:nvPr/>
        </p:nvSpPr>
        <p:spPr>
          <a:xfrm>
            <a:off x="5440680" y="1645920"/>
            <a:ext cx="6099048" cy="274320"/>
          </a:xfrm>
          <a:prstGeom prst="rect">
            <a:avLst/>
          </a:prstGeom>
          <a:noFill/>
        </p:spPr>
        <p:txBody>
          <a:bodyPr wrap="square" lIns="0" rIns="0" tIns="0" bIns="0" anchor="t">
            <a:noAutofit/>
          </a:bodyPr>
          <a:lstStyle/>
          <a:p>
            <a:pPr algn="l">
              <a:spcAft>
                <a:spcPts val="400"/>
              </a:spcAft>
            </a:pPr>
            <a:r>
              <a:rPr sz="1400" b="1" i="0">
                <a:solidFill>
                  <a:srgbClr val="6E757E"/>
                </a:solidFill>
                <a:latin typeface="Arial"/>
              </a:rPr>
              <a:t>Gemma-2-2B</a:t>
            </a:r>
            <a:r>
              <a:rPr sz="1400" b="0" i="0">
                <a:solidFill>
                  <a:srgbClr val="6E757E"/>
                </a:solidFill>
                <a:latin typeface="Arial"/>
              </a:rPr>
              <a:t>: 223 node, faithfulness 0.21</a:t>
            </a:r>
          </a:p>
        </p:txBody>
      </p:sp>
      <p:pic>
        <p:nvPicPr>
          <p:cNvPr id="10" name="Picture 9" descr="_crop_572203605513647667.png"/>
          <p:cNvPicPr>
            <a:picLocks noChangeAspect="1"/>
          </p:cNvPicPr>
          <p:nvPr/>
        </p:nvPicPr>
        <p:blipFill>
          <a:blip r:embed="rId3"/>
          <a:stretch>
            <a:fillRect/>
          </a:stretch>
        </p:blipFill>
        <p:spPr>
          <a:xfrm>
            <a:off x="5440680" y="2057400"/>
            <a:ext cx="6099048" cy="2095093"/>
          </a:xfrm>
          <a:prstGeom prst="rect">
            <a:avLst/>
          </a:prstGeom>
        </p:spPr>
      </p:pic>
      <p:sp>
        <p:nvSpPr>
          <p:cNvPr id="11" name="Rounded Rectangle 10"/>
          <p:cNvSpPr/>
          <p:nvPr/>
        </p:nvSpPr>
        <p:spPr>
          <a:xfrm>
            <a:off x="609905" y="4434840"/>
            <a:ext cx="3520440" cy="1783080"/>
          </a:xfrm>
          <a:prstGeom prst="roundRect">
            <a:avLst>
              <a:gd name="adj" fmla="val 8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2" name="Rounded Rectangle 11"/>
          <p:cNvSpPr/>
          <p:nvPr/>
        </p:nvSpPr>
        <p:spPr>
          <a:xfrm>
            <a:off x="843077" y="4649724"/>
            <a:ext cx="457200" cy="457200"/>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Rounded Rectangle 12"/>
          <p:cNvSpPr/>
          <p:nvPr/>
        </p:nvSpPr>
        <p:spPr>
          <a:xfrm>
            <a:off x="811073" y="4617720"/>
            <a:ext cx="457200" cy="457200"/>
          </a:xfrm>
          <a:prstGeom prst="roundRect">
            <a:avLst>
              <a:gd name="adj" fmla="val 17000"/>
            </a:avLst>
          </a:prstGeom>
          <a:solidFill>
            <a:srgbClr val="1C6E7E"/>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500" b="1" i="0">
                <a:solidFill>
                  <a:srgbClr val="FFFFFF"/>
                </a:solidFill>
                <a:latin typeface="Arial"/>
              </a:rPr>
              <a:t>01</a:t>
            </a:r>
          </a:p>
        </p:txBody>
      </p:sp>
      <p:sp>
        <p:nvSpPr>
          <p:cNvPr id="14" name="TextBox 13"/>
          <p:cNvSpPr txBox="1"/>
          <p:nvPr/>
        </p:nvSpPr>
        <p:spPr>
          <a:xfrm>
            <a:off x="1432865" y="4617720"/>
            <a:ext cx="2606040" cy="457200"/>
          </a:xfrm>
          <a:prstGeom prst="rect">
            <a:avLst/>
          </a:prstGeom>
          <a:noFill/>
        </p:spPr>
        <p:txBody>
          <a:bodyPr wrap="square" lIns="0" rIns="0" tIns="0" bIns="0" anchor="ctr">
            <a:noAutofit/>
          </a:bodyPr>
          <a:lstStyle/>
          <a:p>
            <a:pPr algn="l">
              <a:spcAft>
                <a:spcPts val="400"/>
              </a:spcAft>
            </a:pPr>
            <a:r>
              <a:rPr sz="1600" b="1" i="0">
                <a:solidFill>
                  <a:srgbClr val="1C6E7E"/>
                </a:solidFill>
                <a:latin typeface="Arial"/>
              </a:rPr>
              <a:t>Noun number detector</a:t>
            </a:r>
          </a:p>
        </p:txBody>
      </p:sp>
      <p:sp>
        <p:nvSpPr>
          <p:cNvPr id="15" name="TextBox 14"/>
          <p:cNvSpPr txBox="1"/>
          <p:nvPr/>
        </p:nvSpPr>
        <p:spPr>
          <a:xfrm>
            <a:off x="811073" y="5212080"/>
            <a:ext cx="3154680" cy="914400"/>
          </a:xfrm>
          <a:prstGeom prst="rect">
            <a:avLst/>
          </a:prstGeom>
          <a:noFill/>
        </p:spPr>
        <p:txBody>
          <a:bodyPr wrap="square" lIns="0" rIns="0" tIns="0" bIns="0" anchor="t">
            <a:noAutofit/>
          </a:bodyPr>
          <a:lstStyle/>
          <a:p>
            <a:pPr algn="l">
              <a:spcAft>
                <a:spcPts val="400"/>
              </a:spcAft>
            </a:pPr>
            <a:r>
              <a:rPr sz="1500" b="0" i="0">
                <a:solidFill>
                  <a:srgbClr val="4A4A4A"/>
                </a:solidFill>
                <a:latin typeface="Arial"/>
              </a:rPr>
              <a:t>Phát hiện chủ ngữ số ít hay số nhiều, rồi tăng xác suất dạng động từ khớp</a:t>
            </a:r>
          </a:p>
        </p:txBody>
      </p:sp>
      <p:sp>
        <p:nvSpPr>
          <p:cNvPr id="16" name="Rounded Rectangle 15"/>
          <p:cNvSpPr/>
          <p:nvPr/>
        </p:nvSpPr>
        <p:spPr>
          <a:xfrm>
            <a:off x="4313225" y="4434840"/>
            <a:ext cx="3520440" cy="1783080"/>
          </a:xfrm>
          <a:prstGeom prst="roundRect">
            <a:avLst>
              <a:gd name="adj" fmla="val 8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7" name="Rounded Rectangle 16"/>
          <p:cNvSpPr/>
          <p:nvPr/>
        </p:nvSpPr>
        <p:spPr>
          <a:xfrm>
            <a:off x="4546397" y="4649724"/>
            <a:ext cx="457200" cy="457200"/>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Rounded Rectangle 17"/>
          <p:cNvSpPr/>
          <p:nvPr/>
        </p:nvSpPr>
        <p:spPr>
          <a:xfrm>
            <a:off x="4514393" y="4617720"/>
            <a:ext cx="457200" cy="457200"/>
          </a:xfrm>
          <a:prstGeom prst="roundRect">
            <a:avLst>
              <a:gd name="adj" fmla="val 17000"/>
            </a:avLst>
          </a:prstGeom>
          <a:solidFill>
            <a:srgbClr val="3E93A3"/>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500" b="1" i="0">
                <a:solidFill>
                  <a:srgbClr val="FFFFFF"/>
                </a:solidFill>
                <a:latin typeface="Arial"/>
              </a:rPr>
              <a:t>02</a:t>
            </a:r>
          </a:p>
        </p:txBody>
      </p:sp>
      <p:sp>
        <p:nvSpPr>
          <p:cNvPr id="19" name="TextBox 18"/>
          <p:cNvSpPr txBox="1"/>
          <p:nvPr/>
        </p:nvSpPr>
        <p:spPr>
          <a:xfrm>
            <a:off x="5136185" y="4617720"/>
            <a:ext cx="2606040" cy="457200"/>
          </a:xfrm>
          <a:prstGeom prst="rect">
            <a:avLst/>
          </a:prstGeom>
          <a:noFill/>
        </p:spPr>
        <p:txBody>
          <a:bodyPr wrap="square" lIns="0" rIns="0" tIns="0" bIns="0" anchor="ctr">
            <a:noAutofit/>
          </a:bodyPr>
          <a:lstStyle/>
          <a:p>
            <a:pPr algn="l">
              <a:spcAft>
                <a:spcPts val="400"/>
              </a:spcAft>
            </a:pPr>
            <a:r>
              <a:rPr sz="1600" b="1" i="0">
                <a:solidFill>
                  <a:srgbClr val="3E93A3"/>
                </a:solidFill>
                <a:latin typeface="Arial"/>
              </a:rPr>
              <a:t>PP/RC boundary detector</a:t>
            </a:r>
          </a:p>
        </p:txBody>
      </p:sp>
      <p:sp>
        <p:nvSpPr>
          <p:cNvPr id="20" name="TextBox 19"/>
          <p:cNvSpPr txBox="1"/>
          <p:nvPr/>
        </p:nvSpPr>
        <p:spPr>
          <a:xfrm>
            <a:off x="4514393" y="5212080"/>
            <a:ext cx="3154680" cy="914400"/>
          </a:xfrm>
          <a:prstGeom prst="rect">
            <a:avLst/>
          </a:prstGeom>
          <a:noFill/>
        </p:spPr>
        <p:txBody>
          <a:bodyPr wrap="square" lIns="0" rIns="0" tIns="0" bIns="0" anchor="t">
            <a:noAutofit/>
          </a:bodyPr>
          <a:lstStyle/>
          <a:p>
            <a:pPr algn="l">
              <a:spcAft>
                <a:spcPts val="400"/>
              </a:spcAft>
            </a:pPr>
            <a:r>
              <a:rPr sz="1500" b="0" i="0">
                <a:solidFill>
                  <a:srgbClr val="4A4A4A"/>
                </a:solidFill>
                <a:latin typeface="Arial"/>
              </a:rPr>
              <a:t>Phát hiện chỗ bắt đầu PP/RC, chuyển thông tin số qua mệnh đề phụ</a:t>
            </a:r>
          </a:p>
        </p:txBody>
      </p:sp>
      <p:sp>
        <p:nvSpPr>
          <p:cNvPr id="21" name="Rounded Rectangle 20"/>
          <p:cNvSpPr/>
          <p:nvPr/>
        </p:nvSpPr>
        <p:spPr>
          <a:xfrm>
            <a:off x="8016545" y="4434840"/>
            <a:ext cx="3520440" cy="1783080"/>
          </a:xfrm>
          <a:prstGeom prst="roundRect">
            <a:avLst>
              <a:gd name="adj" fmla="val 8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2" name="Rounded Rectangle 21"/>
          <p:cNvSpPr/>
          <p:nvPr/>
        </p:nvSpPr>
        <p:spPr>
          <a:xfrm>
            <a:off x="8249717" y="4649724"/>
            <a:ext cx="457200" cy="457200"/>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3" name="Rounded Rectangle 22"/>
          <p:cNvSpPr/>
          <p:nvPr/>
        </p:nvSpPr>
        <p:spPr>
          <a:xfrm>
            <a:off x="8217713" y="4617720"/>
            <a:ext cx="457200" cy="457200"/>
          </a:xfrm>
          <a:prstGeom prst="roundRect">
            <a:avLst>
              <a:gd name="adj" fmla="val 17000"/>
            </a:avLst>
          </a:prstGeom>
          <a:solidFill>
            <a:srgbClr val="8B5A5F"/>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500" b="1" i="0">
                <a:solidFill>
                  <a:srgbClr val="FFFFFF"/>
                </a:solidFill>
                <a:latin typeface="Arial"/>
              </a:rPr>
              <a:t>03</a:t>
            </a:r>
          </a:p>
        </p:txBody>
      </p:sp>
      <p:sp>
        <p:nvSpPr>
          <p:cNvPr id="24" name="TextBox 23"/>
          <p:cNvSpPr txBox="1"/>
          <p:nvPr/>
        </p:nvSpPr>
        <p:spPr>
          <a:xfrm>
            <a:off x="8839505" y="4617720"/>
            <a:ext cx="2606040" cy="457200"/>
          </a:xfrm>
          <a:prstGeom prst="rect">
            <a:avLst/>
          </a:prstGeom>
          <a:noFill/>
        </p:spPr>
        <p:txBody>
          <a:bodyPr wrap="square" lIns="0" rIns="0" tIns="0" bIns="0" anchor="ctr">
            <a:noAutofit/>
          </a:bodyPr>
          <a:lstStyle/>
          <a:p>
            <a:pPr algn="l">
              <a:spcAft>
                <a:spcPts val="400"/>
              </a:spcAft>
            </a:pPr>
            <a:r>
              <a:rPr sz="1600" b="1" i="0">
                <a:solidFill>
                  <a:srgbClr val="8B5A5F"/>
                </a:solidFill>
                <a:latin typeface="Arial"/>
              </a:rPr>
              <a:t>NP number tracker</a:t>
            </a:r>
          </a:p>
        </p:txBody>
      </p:sp>
      <p:sp>
        <p:nvSpPr>
          <p:cNvPr id="25" name="TextBox 24"/>
          <p:cNvSpPr txBox="1"/>
          <p:nvPr/>
        </p:nvSpPr>
        <p:spPr>
          <a:xfrm>
            <a:off x="8217713" y="5212080"/>
            <a:ext cx="3154680" cy="914400"/>
          </a:xfrm>
          <a:prstGeom prst="rect">
            <a:avLst/>
          </a:prstGeom>
          <a:noFill/>
        </p:spPr>
        <p:txBody>
          <a:bodyPr wrap="square" lIns="0" rIns="0" tIns="0" bIns="0" anchor="t">
            <a:noAutofit/>
          </a:bodyPr>
          <a:lstStyle/>
          <a:p>
            <a:pPr algn="l">
              <a:spcAft>
                <a:spcPts val="400"/>
              </a:spcAft>
            </a:pPr>
            <a:r>
              <a:rPr sz="1500" b="0" i="0">
                <a:solidFill>
                  <a:srgbClr val="4A4A4A"/>
                </a:solidFill>
                <a:latin typeface="Arial"/>
              </a:rPr>
              <a:t>Chỉ có ở Gemma: giữ thông tin số của danh từ chính tới hết noun phrase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4. Ứng dụng</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SHIFT: phương pháp và dữ liệu</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14</a:t>
            </a:r>
          </a:p>
        </p:txBody>
      </p:sp>
      <p:sp>
        <p:nvSpPr>
          <p:cNvPr id="7" name="Rounded Rectangle 6"/>
          <p:cNvSpPr/>
          <p:nvPr/>
        </p:nvSpPr>
        <p:spPr>
          <a:xfrm>
            <a:off x="609905" y="1783080"/>
            <a:ext cx="2514600" cy="109728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8" name="Rounded Rectangle 7"/>
          <p:cNvSpPr/>
          <p:nvPr/>
        </p:nvSpPr>
        <p:spPr>
          <a:xfrm>
            <a:off x="777789" y="2142988"/>
            <a:ext cx="438912" cy="438912"/>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9" name="Rounded Rectangle 8"/>
          <p:cNvSpPr/>
          <p:nvPr/>
        </p:nvSpPr>
        <p:spPr>
          <a:xfrm>
            <a:off x="747065" y="2112264"/>
            <a:ext cx="438912" cy="438912"/>
          </a:xfrm>
          <a:prstGeom prst="roundRect">
            <a:avLst>
              <a:gd name="adj" fmla="val 17000"/>
            </a:avLst>
          </a:prstGeom>
          <a:solidFill>
            <a:srgbClr val="1C6E7E"/>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400" b="1" i="0">
                <a:solidFill>
                  <a:srgbClr val="FFFFFF"/>
                </a:solidFill>
                <a:latin typeface="Arial"/>
              </a:rPr>
              <a:t>01</a:t>
            </a:r>
          </a:p>
        </p:txBody>
      </p:sp>
      <p:sp>
        <p:nvSpPr>
          <p:cNvPr id="10" name="TextBox 9"/>
          <p:cNvSpPr txBox="1"/>
          <p:nvPr/>
        </p:nvSpPr>
        <p:spPr>
          <a:xfrm>
            <a:off x="1323137" y="1783080"/>
            <a:ext cx="1737360" cy="1097280"/>
          </a:xfrm>
          <a:prstGeom prst="rect">
            <a:avLst/>
          </a:prstGeom>
          <a:noFill/>
        </p:spPr>
        <p:txBody>
          <a:bodyPr wrap="square" lIns="0" rIns="0" tIns="0" bIns="0" anchor="ctr">
            <a:noAutofit/>
          </a:bodyPr>
          <a:lstStyle/>
          <a:p>
            <a:pPr algn="l">
              <a:spcAft>
                <a:spcPts val="400"/>
              </a:spcAft>
            </a:pPr>
            <a:r>
              <a:rPr sz="1500" b="1" i="0">
                <a:solidFill>
                  <a:srgbClr val="4A4A4A"/>
                </a:solidFill>
                <a:latin typeface="Arial"/>
              </a:rPr>
              <a:t>Tìm feature circuit của classifier</a:t>
            </a:r>
          </a:p>
        </p:txBody>
      </p:sp>
      <p:cxnSp>
        <p:nvCxnSpPr>
          <p:cNvPr id="11" name="Connector 10"/>
          <p:cNvCxnSpPr/>
          <p:nvPr/>
        </p:nvCxnSpPr>
        <p:spPr>
          <a:xfrm>
            <a:off x="3151937" y="2331720"/>
            <a:ext cx="219456"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98825" y="1783080"/>
            <a:ext cx="2514600" cy="109728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Rounded Rectangle 12"/>
          <p:cNvSpPr/>
          <p:nvPr/>
        </p:nvSpPr>
        <p:spPr>
          <a:xfrm>
            <a:off x="3566709" y="2142988"/>
            <a:ext cx="438912" cy="438912"/>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4" name="Rounded Rectangle 13"/>
          <p:cNvSpPr/>
          <p:nvPr/>
        </p:nvSpPr>
        <p:spPr>
          <a:xfrm>
            <a:off x="3535985" y="2112264"/>
            <a:ext cx="438912" cy="438912"/>
          </a:xfrm>
          <a:prstGeom prst="roundRect">
            <a:avLst>
              <a:gd name="adj" fmla="val 17000"/>
            </a:avLst>
          </a:prstGeom>
          <a:solidFill>
            <a:srgbClr val="3E93A3"/>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400" b="1" i="0">
                <a:solidFill>
                  <a:srgbClr val="FFFFFF"/>
                </a:solidFill>
                <a:latin typeface="Arial"/>
              </a:rPr>
              <a:t>02</a:t>
            </a:r>
          </a:p>
        </p:txBody>
      </p:sp>
      <p:sp>
        <p:nvSpPr>
          <p:cNvPr id="15" name="TextBox 14"/>
          <p:cNvSpPr txBox="1"/>
          <p:nvPr/>
        </p:nvSpPr>
        <p:spPr>
          <a:xfrm>
            <a:off x="4112057" y="1783080"/>
            <a:ext cx="1737360" cy="1097280"/>
          </a:xfrm>
          <a:prstGeom prst="rect">
            <a:avLst/>
          </a:prstGeom>
          <a:noFill/>
        </p:spPr>
        <p:txBody>
          <a:bodyPr wrap="square" lIns="0" rIns="0" tIns="0" bIns="0" anchor="ctr">
            <a:noAutofit/>
          </a:bodyPr>
          <a:lstStyle/>
          <a:p>
            <a:pPr algn="l">
              <a:spcAft>
                <a:spcPts val="400"/>
              </a:spcAft>
            </a:pPr>
            <a:r>
              <a:rPr sz="1500" b="1" i="0">
                <a:solidFill>
                  <a:srgbClr val="4A4A4A"/>
                </a:solidFill>
                <a:latin typeface="Arial"/>
              </a:rPr>
              <a:t>Người đọc từng feature</a:t>
            </a:r>
          </a:p>
        </p:txBody>
      </p:sp>
      <p:cxnSp>
        <p:nvCxnSpPr>
          <p:cNvPr id="16" name="Connector 15"/>
          <p:cNvCxnSpPr/>
          <p:nvPr/>
        </p:nvCxnSpPr>
        <p:spPr>
          <a:xfrm>
            <a:off x="5940857" y="2331720"/>
            <a:ext cx="219456"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87745" y="1783080"/>
            <a:ext cx="2514600" cy="109728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Rounded Rectangle 17"/>
          <p:cNvSpPr/>
          <p:nvPr/>
        </p:nvSpPr>
        <p:spPr>
          <a:xfrm>
            <a:off x="6355629" y="2142988"/>
            <a:ext cx="438912" cy="438912"/>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9" name="Rounded Rectangle 18"/>
          <p:cNvSpPr/>
          <p:nvPr/>
        </p:nvSpPr>
        <p:spPr>
          <a:xfrm>
            <a:off x="6324905" y="2112264"/>
            <a:ext cx="438912" cy="438912"/>
          </a:xfrm>
          <a:prstGeom prst="roundRect">
            <a:avLst>
              <a:gd name="adj" fmla="val 17000"/>
            </a:avLst>
          </a:prstGeom>
          <a:solidFill>
            <a:srgbClr val="1C6E7E"/>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400" b="1" i="0">
                <a:solidFill>
                  <a:srgbClr val="FFFFFF"/>
                </a:solidFill>
                <a:latin typeface="Arial"/>
              </a:rPr>
              <a:t>03</a:t>
            </a:r>
          </a:p>
        </p:txBody>
      </p:sp>
      <p:sp>
        <p:nvSpPr>
          <p:cNvPr id="20" name="TextBox 19"/>
          <p:cNvSpPr txBox="1"/>
          <p:nvPr/>
        </p:nvSpPr>
        <p:spPr>
          <a:xfrm>
            <a:off x="6900977" y="1783080"/>
            <a:ext cx="1737360" cy="1097280"/>
          </a:xfrm>
          <a:prstGeom prst="rect">
            <a:avLst/>
          </a:prstGeom>
          <a:noFill/>
        </p:spPr>
        <p:txBody>
          <a:bodyPr wrap="square" lIns="0" rIns="0" tIns="0" bIns="0" anchor="ctr">
            <a:noAutofit/>
          </a:bodyPr>
          <a:lstStyle/>
          <a:p>
            <a:pPr algn="l">
              <a:spcAft>
                <a:spcPts val="400"/>
              </a:spcAft>
            </a:pPr>
            <a:r>
              <a:rPr sz="1500" b="1" i="0">
                <a:solidFill>
                  <a:srgbClr val="4A4A4A"/>
                </a:solidFill>
                <a:latin typeface="Arial"/>
              </a:rPr>
              <a:t>Zero-ablate feature không liên quan</a:t>
            </a:r>
          </a:p>
        </p:txBody>
      </p:sp>
      <p:cxnSp>
        <p:nvCxnSpPr>
          <p:cNvPr id="21" name="Connector 20"/>
          <p:cNvCxnSpPr/>
          <p:nvPr/>
        </p:nvCxnSpPr>
        <p:spPr>
          <a:xfrm>
            <a:off x="8729777" y="2331720"/>
            <a:ext cx="219456"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76665" y="1783080"/>
            <a:ext cx="2514600" cy="109728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3" name="Rounded Rectangle 22"/>
          <p:cNvSpPr/>
          <p:nvPr/>
        </p:nvSpPr>
        <p:spPr>
          <a:xfrm>
            <a:off x="9144549" y="2142988"/>
            <a:ext cx="438912" cy="438912"/>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4" name="Rounded Rectangle 23"/>
          <p:cNvSpPr/>
          <p:nvPr/>
        </p:nvSpPr>
        <p:spPr>
          <a:xfrm>
            <a:off x="9113825" y="2112264"/>
            <a:ext cx="438912" cy="438912"/>
          </a:xfrm>
          <a:prstGeom prst="roundRect">
            <a:avLst>
              <a:gd name="adj" fmla="val 17000"/>
            </a:avLst>
          </a:prstGeom>
          <a:solidFill>
            <a:srgbClr val="6E757E"/>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400" b="1" i="0">
                <a:solidFill>
                  <a:srgbClr val="FFFFFF"/>
                </a:solidFill>
                <a:latin typeface="Arial"/>
              </a:rPr>
              <a:t>04</a:t>
            </a:r>
          </a:p>
        </p:txBody>
      </p:sp>
      <p:sp>
        <p:nvSpPr>
          <p:cNvPr id="25" name="TextBox 24"/>
          <p:cNvSpPr txBox="1"/>
          <p:nvPr/>
        </p:nvSpPr>
        <p:spPr>
          <a:xfrm>
            <a:off x="9689897" y="1783080"/>
            <a:ext cx="1737360" cy="1097280"/>
          </a:xfrm>
          <a:prstGeom prst="rect">
            <a:avLst/>
          </a:prstGeom>
          <a:noFill/>
        </p:spPr>
        <p:txBody>
          <a:bodyPr wrap="square" lIns="0" rIns="0" tIns="0" bIns="0" anchor="ctr">
            <a:noAutofit/>
          </a:bodyPr>
          <a:lstStyle/>
          <a:p>
            <a:pPr algn="l">
              <a:spcAft>
                <a:spcPts val="400"/>
              </a:spcAft>
            </a:pPr>
            <a:r>
              <a:rPr sz="1500" b="1" i="0">
                <a:solidFill>
                  <a:srgbClr val="4A4A4A"/>
                </a:solidFill>
                <a:latin typeface="Arial"/>
              </a:rPr>
              <a:t>(Tùy chọn) train lại linear head</a:t>
            </a:r>
          </a:p>
        </p:txBody>
      </p:sp>
      <p:sp>
        <p:nvSpPr>
          <p:cNvPr id="26" name="TextBox 25"/>
          <p:cNvSpPr txBox="1"/>
          <p:nvPr/>
        </p:nvSpPr>
        <p:spPr>
          <a:xfrm>
            <a:off x="609905" y="3154680"/>
            <a:ext cx="6858000" cy="365760"/>
          </a:xfrm>
          <a:prstGeom prst="rect">
            <a:avLst/>
          </a:prstGeom>
          <a:noFill/>
        </p:spPr>
        <p:txBody>
          <a:bodyPr wrap="square" lIns="0" rIns="0" tIns="0" bIns="0" anchor="t">
            <a:noAutofit/>
          </a:bodyPr>
          <a:lstStyle/>
          <a:p>
            <a:pPr algn="l">
              <a:spcAft>
                <a:spcPts val="400"/>
              </a:spcAft>
            </a:pPr>
            <a:r>
              <a:rPr sz="1700" b="1" i="0">
                <a:solidFill>
                  <a:srgbClr val="4A4A4A"/>
                </a:solidFill>
                <a:latin typeface="Arial"/>
              </a:rPr>
              <a:t>Bias in Bios</a:t>
            </a:r>
            <a:r>
              <a:rPr sz="1700" b="0" i="0">
                <a:solidFill>
                  <a:srgbClr val="4A4A4A"/>
                </a:solidFill>
                <a:latin typeface="Arial"/>
              </a:rPr>
              <a:t>: đoán nghề từ tiểu sử</a:t>
            </a:r>
          </a:p>
        </p:txBody>
      </p:sp>
      <p:sp>
        <p:nvSpPr>
          <p:cNvPr id="27" name="TextBox 26"/>
          <p:cNvSpPr txBox="1"/>
          <p:nvPr/>
        </p:nvSpPr>
        <p:spPr>
          <a:xfrm>
            <a:off x="609905" y="3611880"/>
            <a:ext cx="3383280" cy="320040"/>
          </a:xfrm>
          <a:prstGeom prst="rect">
            <a:avLst/>
          </a:prstGeom>
          <a:noFill/>
        </p:spPr>
        <p:txBody>
          <a:bodyPr wrap="square" lIns="0" rIns="0" tIns="0" bIns="0" anchor="t">
            <a:noAutofit/>
          </a:bodyPr>
          <a:lstStyle/>
          <a:p>
            <a:pPr algn="l">
              <a:spcAft>
                <a:spcPts val="400"/>
              </a:spcAft>
            </a:pPr>
            <a:r>
              <a:rPr sz="1600" b="1" i="0">
                <a:solidFill>
                  <a:srgbClr val="1C6E7E"/>
                </a:solidFill>
                <a:latin typeface="Arial"/>
              </a:rPr>
              <a:t>Ambiguous set (train)</a:t>
            </a:r>
          </a:p>
        </p:txBody>
      </p:sp>
      <p:sp>
        <p:nvSpPr>
          <p:cNvPr id="28" name="TextBox 27"/>
          <p:cNvSpPr txBox="1"/>
          <p:nvPr/>
        </p:nvSpPr>
        <p:spPr>
          <a:xfrm>
            <a:off x="1478585" y="4023360"/>
            <a:ext cx="1188720" cy="256032"/>
          </a:xfrm>
          <a:prstGeom prst="rect">
            <a:avLst/>
          </a:prstGeom>
          <a:noFill/>
        </p:spPr>
        <p:txBody>
          <a:bodyPr wrap="square" lIns="0" rIns="0" tIns="0" bIns="0" anchor="t">
            <a:noAutofit/>
          </a:bodyPr>
          <a:lstStyle/>
          <a:p>
            <a:pPr algn="ctr">
              <a:spcAft>
                <a:spcPts val="400"/>
              </a:spcAft>
            </a:pPr>
            <a:r>
              <a:rPr sz="1300" b="0" i="0">
                <a:solidFill>
                  <a:srgbClr val="6E757E"/>
                </a:solidFill>
                <a:latin typeface="Arial"/>
              </a:rPr>
              <a:t>giáo sư</a:t>
            </a:r>
          </a:p>
        </p:txBody>
      </p:sp>
      <p:sp>
        <p:nvSpPr>
          <p:cNvPr id="29" name="TextBox 28"/>
          <p:cNvSpPr txBox="1"/>
          <p:nvPr/>
        </p:nvSpPr>
        <p:spPr>
          <a:xfrm>
            <a:off x="2740457" y="4023360"/>
            <a:ext cx="1188720" cy="256032"/>
          </a:xfrm>
          <a:prstGeom prst="rect">
            <a:avLst/>
          </a:prstGeom>
          <a:noFill/>
        </p:spPr>
        <p:txBody>
          <a:bodyPr wrap="square" lIns="0" rIns="0" tIns="0" bIns="0" anchor="t">
            <a:noAutofit/>
          </a:bodyPr>
          <a:lstStyle/>
          <a:p>
            <a:pPr algn="ctr">
              <a:spcAft>
                <a:spcPts val="400"/>
              </a:spcAft>
            </a:pPr>
            <a:r>
              <a:rPr sz="1300" b="0" i="0">
                <a:solidFill>
                  <a:srgbClr val="6E757E"/>
                </a:solidFill>
                <a:latin typeface="Arial"/>
              </a:rPr>
              <a:t>y tá</a:t>
            </a:r>
          </a:p>
        </p:txBody>
      </p:sp>
      <p:sp>
        <p:nvSpPr>
          <p:cNvPr id="30" name="TextBox 29"/>
          <p:cNvSpPr txBox="1"/>
          <p:nvPr/>
        </p:nvSpPr>
        <p:spPr>
          <a:xfrm>
            <a:off x="609905" y="4343400"/>
            <a:ext cx="777240" cy="841248"/>
          </a:xfrm>
          <a:prstGeom prst="rect">
            <a:avLst/>
          </a:prstGeom>
          <a:noFill/>
        </p:spPr>
        <p:txBody>
          <a:bodyPr wrap="square" lIns="0" rIns="0" tIns="0" bIns="0" anchor="ctr">
            <a:noAutofit/>
          </a:bodyPr>
          <a:lstStyle/>
          <a:p>
            <a:pPr algn="r">
              <a:spcAft>
                <a:spcPts val="400"/>
              </a:spcAft>
            </a:pPr>
            <a:r>
              <a:rPr sz="1400" b="0" i="0">
                <a:solidFill>
                  <a:srgbClr val="6E757E"/>
                </a:solidFill>
                <a:latin typeface="Arial"/>
              </a:rPr>
              <a:t>nam</a:t>
            </a:r>
          </a:p>
        </p:txBody>
      </p:sp>
      <p:sp>
        <p:nvSpPr>
          <p:cNvPr id="31" name="Rounded Rectangle 30"/>
          <p:cNvSpPr/>
          <p:nvPr/>
        </p:nvSpPr>
        <p:spPr>
          <a:xfrm>
            <a:off x="1478585" y="4343400"/>
            <a:ext cx="1188720" cy="841248"/>
          </a:xfrm>
          <a:prstGeom prst="roundRect">
            <a:avLst>
              <a:gd name="adj" fmla="val 10000"/>
            </a:avLst>
          </a:prstGeom>
          <a:solidFill>
            <a:srgbClr val="3E93A3"/>
          </a:solidFill>
          <a:ln w="1270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2" name="Rounded Rectangle 31"/>
          <p:cNvSpPr/>
          <p:nvPr/>
        </p:nvSpPr>
        <p:spPr>
          <a:xfrm>
            <a:off x="2740457" y="4343400"/>
            <a:ext cx="1188720" cy="841248"/>
          </a:xfrm>
          <a:prstGeom prst="roundRect">
            <a:avLst>
              <a:gd name="adj" fmla="val 10000"/>
            </a:avLst>
          </a:prstGeom>
          <a:solidFill>
            <a:srgbClr val="FFFFFF"/>
          </a:solidFill>
          <a:ln w="1270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3" name="TextBox 32"/>
          <p:cNvSpPr txBox="1"/>
          <p:nvPr/>
        </p:nvSpPr>
        <p:spPr>
          <a:xfrm>
            <a:off x="609905" y="5257800"/>
            <a:ext cx="777240" cy="841248"/>
          </a:xfrm>
          <a:prstGeom prst="rect">
            <a:avLst/>
          </a:prstGeom>
          <a:noFill/>
        </p:spPr>
        <p:txBody>
          <a:bodyPr wrap="square" lIns="0" rIns="0" tIns="0" bIns="0" anchor="ctr">
            <a:noAutofit/>
          </a:bodyPr>
          <a:lstStyle/>
          <a:p>
            <a:pPr algn="r">
              <a:spcAft>
                <a:spcPts val="400"/>
              </a:spcAft>
            </a:pPr>
            <a:r>
              <a:rPr sz="1400" b="0" i="0">
                <a:solidFill>
                  <a:srgbClr val="6E757E"/>
                </a:solidFill>
                <a:latin typeface="Arial"/>
              </a:rPr>
              <a:t>nữ</a:t>
            </a:r>
          </a:p>
        </p:txBody>
      </p:sp>
      <p:sp>
        <p:nvSpPr>
          <p:cNvPr id="34" name="Rounded Rectangle 33"/>
          <p:cNvSpPr/>
          <p:nvPr/>
        </p:nvSpPr>
        <p:spPr>
          <a:xfrm>
            <a:off x="1478585" y="5257800"/>
            <a:ext cx="1188720" cy="841248"/>
          </a:xfrm>
          <a:prstGeom prst="roundRect">
            <a:avLst>
              <a:gd name="adj" fmla="val 10000"/>
            </a:avLst>
          </a:prstGeom>
          <a:solidFill>
            <a:srgbClr val="FFFFFF"/>
          </a:solidFill>
          <a:ln w="1270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5" name="Rounded Rectangle 34"/>
          <p:cNvSpPr/>
          <p:nvPr/>
        </p:nvSpPr>
        <p:spPr>
          <a:xfrm>
            <a:off x="2740457" y="5257800"/>
            <a:ext cx="1188720" cy="841248"/>
          </a:xfrm>
          <a:prstGeom prst="roundRect">
            <a:avLst>
              <a:gd name="adj" fmla="val 10000"/>
            </a:avLst>
          </a:prstGeom>
          <a:solidFill>
            <a:srgbClr val="3E93A3"/>
          </a:solidFill>
          <a:ln w="1270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6" name="TextBox 35"/>
          <p:cNvSpPr txBox="1"/>
          <p:nvPr/>
        </p:nvSpPr>
        <p:spPr>
          <a:xfrm>
            <a:off x="4114800" y="3611880"/>
            <a:ext cx="3383280" cy="320040"/>
          </a:xfrm>
          <a:prstGeom prst="rect">
            <a:avLst/>
          </a:prstGeom>
          <a:noFill/>
        </p:spPr>
        <p:txBody>
          <a:bodyPr wrap="square" lIns="0" rIns="0" tIns="0" bIns="0" anchor="t">
            <a:noAutofit/>
          </a:bodyPr>
          <a:lstStyle/>
          <a:p>
            <a:pPr algn="l">
              <a:spcAft>
                <a:spcPts val="400"/>
              </a:spcAft>
            </a:pPr>
            <a:r>
              <a:rPr sz="1600" b="1" i="0">
                <a:solidFill>
                  <a:srgbClr val="1C6E7E"/>
                </a:solidFill>
                <a:latin typeface="Arial"/>
              </a:rPr>
              <a:t>Balanced set (test)</a:t>
            </a:r>
          </a:p>
        </p:txBody>
      </p:sp>
      <p:sp>
        <p:nvSpPr>
          <p:cNvPr id="37" name="TextBox 36"/>
          <p:cNvSpPr txBox="1"/>
          <p:nvPr/>
        </p:nvSpPr>
        <p:spPr>
          <a:xfrm>
            <a:off x="4983480" y="4023360"/>
            <a:ext cx="1188720" cy="256032"/>
          </a:xfrm>
          <a:prstGeom prst="rect">
            <a:avLst/>
          </a:prstGeom>
          <a:noFill/>
        </p:spPr>
        <p:txBody>
          <a:bodyPr wrap="square" lIns="0" rIns="0" tIns="0" bIns="0" anchor="t">
            <a:noAutofit/>
          </a:bodyPr>
          <a:lstStyle/>
          <a:p>
            <a:pPr algn="ctr">
              <a:spcAft>
                <a:spcPts val="400"/>
              </a:spcAft>
            </a:pPr>
            <a:r>
              <a:rPr sz="1300" b="0" i="0">
                <a:solidFill>
                  <a:srgbClr val="6E757E"/>
                </a:solidFill>
                <a:latin typeface="Arial"/>
              </a:rPr>
              <a:t>giáo sư</a:t>
            </a:r>
          </a:p>
        </p:txBody>
      </p:sp>
      <p:sp>
        <p:nvSpPr>
          <p:cNvPr id="38" name="TextBox 37"/>
          <p:cNvSpPr txBox="1"/>
          <p:nvPr/>
        </p:nvSpPr>
        <p:spPr>
          <a:xfrm>
            <a:off x="6245352" y="4023360"/>
            <a:ext cx="1188720" cy="256032"/>
          </a:xfrm>
          <a:prstGeom prst="rect">
            <a:avLst/>
          </a:prstGeom>
          <a:noFill/>
        </p:spPr>
        <p:txBody>
          <a:bodyPr wrap="square" lIns="0" rIns="0" tIns="0" bIns="0" anchor="t">
            <a:noAutofit/>
          </a:bodyPr>
          <a:lstStyle/>
          <a:p>
            <a:pPr algn="ctr">
              <a:spcAft>
                <a:spcPts val="400"/>
              </a:spcAft>
            </a:pPr>
            <a:r>
              <a:rPr sz="1300" b="0" i="0">
                <a:solidFill>
                  <a:srgbClr val="6E757E"/>
                </a:solidFill>
                <a:latin typeface="Arial"/>
              </a:rPr>
              <a:t>y tá</a:t>
            </a:r>
          </a:p>
        </p:txBody>
      </p:sp>
      <p:sp>
        <p:nvSpPr>
          <p:cNvPr id="39" name="TextBox 38"/>
          <p:cNvSpPr txBox="1"/>
          <p:nvPr/>
        </p:nvSpPr>
        <p:spPr>
          <a:xfrm>
            <a:off x="4114800" y="4343400"/>
            <a:ext cx="777240" cy="841248"/>
          </a:xfrm>
          <a:prstGeom prst="rect">
            <a:avLst/>
          </a:prstGeom>
          <a:noFill/>
        </p:spPr>
        <p:txBody>
          <a:bodyPr wrap="square" lIns="0" rIns="0" tIns="0" bIns="0" anchor="ctr">
            <a:noAutofit/>
          </a:bodyPr>
          <a:lstStyle/>
          <a:p>
            <a:pPr algn="r">
              <a:spcAft>
                <a:spcPts val="400"/>
              </a:spcAft>
            </a:pPr>
            <a:r>
              <a:rPr sz="1400" b="0" i="0">
                <a:solidFill>
                  <a:srgbClr val="6E757E"/>
                </a:solidFill>
                <a:latin typeface="Arial"/>
              </a:rPr>
              <a:t>nam</a:t>
            </a:r>
          </a:p>
        </p:txBody>
      </p:sp>
      <p:sp>
        <p:nvSpPr>
          <p:cNvPr id="40" name="Rounded Rectangle 39"/>
          <p:cNvSpPr/>
          <p:nvPr/>
        </p:nvSpPr>
        <p:spPr>
          <a:xfrm>
            <a:off x="4983480" y="4343400"/>
            <a:ext cx="1188720" cy="841248"/>
          </a:xfrm>
          <a:prstGeom prst="roundRect">
            <a:avLst>
              <a:gd name="adj" fmla="val 10000"/>
            </a:avLst>
          </a:prstGeom>
          <a:solidFill>
            <a:srgbClr val="3E93A3"/>
          </a:solidFill>
          <a:ln w="1270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1" name="Rounded Rectangle 40"/>
          <p:cNvSpPr/>
          <p:nvPr/>
        </p:nvSpPr>
        <p:spPr>
          <a:xfrm>
            <a:off x="6245352" y="4343400"/>
            <a:ext cx="1188720" cy="841248"/>
          </a:xfrm>
          <a:prstGeom prst="roundRect">
            <a:avLst>
              <a:gd name="adj" fmla="val 10000"/>
            </a:avLst>
          </a:prstGeom>
          <a:solidFill>
            <a:srgbClr val="3E93A3"/>
          </a:solidFill>
          <a:ln w="1270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2" name="TextBox 41"/>
          <p:cNvSpPr txBox="1"/>
          <p:nvPr/>
        </p:nvSpPr>
        <p:spPr>
          <a:xfrm>
            <a:off x="4114800" y="5257800"/>
            <a:ext cx="777240" cy="841248"/>
          </a:xfrm>
          <a:prstGeom prst="rect">
            <a:avLst/>
          </a:prstGeom>
          <a:noFill/>
        </p:spPr>
        <p:txBody>
          <a:bodyPr wrap="square" lIns="0" rIns="0" tIns="0" bIns="0" anchor="ctr">
            <a:noAutofit/>
          </a:bodyPr>
          <a:lstStyle/>
          <a:p>
            <a:pPr algn="r">
              <a:spcAft>
                <a:spcPts val="400"/>
              </a:spcAft>
            </a:pPr>
            <a:r>
              <a:rPr sz="1400" b="0" i="0">
                <a:solidFill>
                  <a:srgbClr val="6E757E"/>
                </a:solidFill>
                <a:latin typeface="Arial"/>
              </a:rPr>
              <a:t>nữ</a:t>
            </a:r>
          </a:p>
        </p:txBody>
      </p:sp>
      <p:sp>
        <p:nvSpPr>
          <p:cNvPr id="43" name="Rounded Rectangle 42"/>
          <p:cNvSpPr/>
          <p:nvPr/>
        </p:nvSpPr>
        <p:spPr>
          <a:xfrm>
            <a:off x="4983480" y="5257800"/>
            <a:ext cx="1188720" cy="841248"/>
          </a:xfrm>
          <a:prstGeom prst="roundRect">
            <a:avLst>
              <a:gd name="adj" fmla="val 10000"/>
            </a:avLst>
          </a:prstGeom>
          <a:solidFill>
            <a:srgbClr val="3E93A3"/>
          </a:solidFill>
          <a:ln w="1270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4" name="Rounded Rectangle 43"/>
          <p:cNvSpPr/>
          <p:nvPr/>
        </p:nvSpPr>
        <p:spPr>
          <a:xfrm>
            <a:off x="6245352" y="5257800"/>
            <a:ext cx="1188720" cy="841248"/>
          </a:xfrm>
          <a:prstGeom prst="roundRect">
            <a:avLst>
              <a:gd name="adj" fmla="val 10000"/>
            </a:avLst>
          </a:prstGeom>
          <a:solidFill>
            <a:srgbClr val="3E93A3"/>
          </a:solidFill>
          <a:ln w="1270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5" name="Rounded Rectangle 44"/>
          <p:cNvSpPr/>
          <p:nvPr/>
        </p:nvSpPr>
        <p:spPr>
          <a:xfrm>
            <a:off x="7818120" y="3200400"/>
            <a:ext cx="3721608" cy="137160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6" name="TextBox 45"/>
          <p:cNvSpPr txBox="1"/>
          <p:nvPr/>
        </p:nvSpPr>
        <p:spPr>
          <a:xfrm>
            <a:off x="8046720" y="3337560"/>
            <a:ext cx="3383280" cy="274320"/>
          </a:xfrm>
          <a:prstGeom prst="rect">
            <a:avLst/>
          </a:prstGeom>
          <a:noFill/>
        </p:spPr>
        <p:txBody>
          <a:bodyPr wrap="square" lIns="0" rIns="0" tIns="0" bIns="0" anchor="t">
            <a:noAutofit/>
          </a:bodyPr>
          <a:lstStyle/>
          <a:p>
            <a:pPr algn="l">
              <a:spcAft>
                <a:spcPts val="400"/>
              </a:spcAft>
            </a:pPr>
            <a:r>
              <a:rPr sz="1400" b="1" i="0">
                <a:solidFill>
                  <a:srgbClr val="6E757E"/>
                </a:solidFill>
                <a:latin typeface="Arial"/>
              </a:rPr>
              <a:t>Pythia-70M</a:t>
            </a:r>
          </a:p>
        </p:txBody>
      </p:sp>
      <p:sp>
        <p:nvSpPr>
          <p:cNvPr id="47" name="TextBox 46"/>
          <p:cNvSpPr txBox="1"/>
          <p:nvPr/>
        </p:nvSpPr>
        <p:spPr>
          <a:xfrm>
            <a:off x="8046720" y="3657600"/>
            <a:ext cx="3383280" cy="777240"/>
          </a:xfrm>
          <a:prstGeom prst="rect">
            <a:avLst/>
          </a:prstGeom>
          <a:noFill/>
        </p:spPr>
        <p:txBody>
          <a:bodyPr wrap="square" lIns="0" rIns="0" tIns="0" bIns="0" anchor="ctr">
            <a:noAutofit/>
          </a:bodyPr>
          <a:lstStyle/>
          <a:p>
            <a:pPr algn="l">
              <a:spcAft>
                <a:spcPts val="400"/>
              </a:spcAft>
            </a:pPr>
            <a:r>
              <a:rPr sz="2600" b="1" i="0">
                <a:solidFill>
                  <a:srgbClr val="1C6E7E"/>
                </a:solidFill>
                <a:latin typeface="Arial"/>
              </a:rPr>
              <a:t>67</a:t>
            </a:r>
            <a:r>
              <a:rPr sz="2600" b="0" i="0">
                <a:solidFill>
                  <a:srgbClr val="1C6E7E"/>
                </a:solidFill>
                <a:latin typeface="Arial"/>
              </a:rPr>
              <a:t> feature → bỏ </a:t>
            </a:r>
            <a:r>
              <a:rPr sz="2600" b="1" i="0">
                <a:solidFill>
                  <a:srgbClr val="8B5A5F"/>
                </a:solidFill>
                <a:latin typeface="Arial"/>
              </a:rPr>
              <a:t>55</a:t>
            </a:r>
          </a:p>
        </p:txBody>
      </p:sp>
      <p:sp>
        <p:nvSpPr>
          <p:cNvPr id="48" name="Rounded Rectangle 47"/>
          <p:cNvSpPr/>
          <p:nvPr/>
        </p:nvSpPr>
        <p:spPr>
          <a:xfrm>
            <a:off x="7818120" y="4754880"/>
            <a:ext cx="3721608" cy="137160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9" name="TextBox 48"/>
          <p:cNvSpPr txBox="1"/>
          <p:nvPr/>
        </p:nvSpPr>
        <p:spPr>
          <a:xfrm>
            <a:off x="8046720" y="4892040"/>
            <a:ext cx="3383280" cy="274320"/>
          </a:xfrm>
          <a:prstGeom prst="rect">
            <a:avLst/>
          </a:prstGeom>
          <a:noFill/>
        </p:spPr>
        <p:txBody>
          <a:bodyPr wrap="square" lIns="0" rIns="0" tIns="0" bIns="0" anchor="t">
            <a:noAutofit/>
          </a:bodyPr>
          <a:lstStyle/>
          <a:p>
            <a:pPr algn="l">
              <a:spcAft>
                <a:spcPts val="400"/>
              </a:spcAft>
            </a:pPr>
            <a:r>
              <a:rPr sz="1400" b="1" i="0">
                <a:solidFill>
                  <a:srgbClr val="6E757E"/>
                </a:solidFill>
                <a:latin typeface="Arial"/>
              </a:rPr>
              <a:t>Gemma-2-2B</a:t>
            </a:r>
          </a:p>
        </p:txBody>
      </p:sp>
      <p:sp>
        <p:nvSpPr>
          <p:cNvPr id="50" name="TextBox 49"/>
          <p:cNvSpPr txBox="1"/>
          <p:nvPr/>
        </p:nvSpPr>
        <p:spPr>
          <a:xfrm>
            <a:off x="8046720" y="5212080"/>
            <a:ext cx="3383280" cy="777240"/>
          </a:xfrm>
          <a:prstGeom prst="rect">
            <a:avLst/>
          </a:prstGeom>
          <a:noFill/>
        </p:spPr>
        <p:txBody>
          <a:bodyPr wrap="square" lIns="0" rIns="0" tIns="0" bIns="0" anchor="ctr">
            <a:noAutofit/>
          </a:bodyPr>
          <a:lstStyle/>
          <a:p>
            <a:pPr algn="l">
              <a:spcAft>
                <a:spcPts val="400"/>
              </a:spcAft>
            </a:pPr>
            <a:r>
              <a:rPr sz="2600" b="1" i="0">
                <a:solidFill>
                  <a:srgbClr val="1C6E7E"/>
                </a:solidFill>
                <a:latin typeface="Arial"/>
              </a:rPr>
              <a:t>46</a:t>
            </a:r>
            <a:r>
              <a:rPr sz="2600" b="0" i="0">
                <a:solidFill>
                  <a:srgbClr val="1C6E7E"/>
                </a:solidFill>
                <a:latin typeface="Arial"/>
              </a:rPr>
              <a:t> feature → bỏ </a:t>
            </a:r>
            <a:r>
              <a:rPr sz="2600" b="1" i="0">
                <a:solidFill>
                  <a:srgbClr val="8B5A5F"/>
                </a:solidFill>
                <a:latin typeface="Arial"/>
              </a:rPr>
              <a:t>43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4. Ứng dụng</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SHIFT: kết quả</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15</a:t>
            </a:r>
          </a:p>
        </p:txBody>
      </p:sp>
      <p:sp>
        <p:nvSpPr>
          <p:cNvPr id="7" name="TextBox 6"/>
          <p:cNvSpPr txBox="1"/>
          <p:nvPr/>
        </p:nvSpPr>
        <p:spPr>
          <a:xfrm>
            <a:off x="609905" y="1645920"/>
            <a:ext cx="6858000" cy="320040"/>
          </a:xfrm>
          <a:prstGeom prst="rect">
            <a:avLst/>
          </a:prstGeom>
          <a:noFill/>
        </p:spPr>
        <p:txBody>
          <a:bodyPr wrap="square" lIns="0" rIns="0" tIns="0" bIns="0" anchor="t">
            <a:noAutofit/>
          </a:bodyPr>
          <a:lstStyle/>
          <a:p>
            <a:pPr algn="l">
              <a:spcAft>
                <a:spcPts val="400"/>
              </a:spcAft>
            </a:pPr>
            <a:r>
              <a:rPr sz="1400" b="1" i="0">
                <a:solidFill>
                  <a:srgbClr val="4A4A4A"/>
                </a:solidFill>
                <a:latin typeface="Arial"/>
              </a:rPr>
              <a:t>Worst-group accuracy</a:t>
            </a:r>
            <a:r>
              <a:rPr sz="1400" b="0" i="0">
                <a:solidFill>
                  <a:srgbClr val="4A4A4A"/>
                </a:solidFill>
                <a:latin typeface="Arial"/>
              </a:rPr>
              <a:t>, Pythia-70M (Table 2, balanced set)</a:t>
            </a:r>
          </a:p>
        </p:txBody>
      </p:sp>
      <p:sp>
        <p:nvSpPr>
          <p:cNvPr id="8" name="TextBox 7"/>
          <p:cNvSpPr txBox="1"/>
          <p:nvPr/>
        </p:nvSpPr>
        <p:spPr>
          <a:xfrm>
            <a:off x="609905" y="2103120"/>
            <a:ext cx="1783080" cy="420624"/>
          </a:xfrm>
          <a:prstGeom prst="rect">
            <a:avLst/>
          </a:prstGeom>
          <a:noFill/>
        </p:spPr>
        <p:txBody>
          <a:bodyPr wrap="square" lIns="0" rIns="0" tIns="0" bIns="0" anchor="ctr">
            <a:noAutofit/>
          </a:bodyPr>
          <a:lstStyle/>
          <a:p>
            <a:pPr algn="r">
              <a:spcAft>
                <a:spcPts val="400"/>
              </a:spcAft>
            </a:pPr>
            <a:r>
              <a:rPr sz="1500" b="0" i="0">
                <a:solidFill>
                  <a:srgbClr val="4A4A4A"/>
                </a:solidFill>
                <a:latin typeface="Arial"/>
              </a:rPr>
              <a:t>Original</a:t>
            </a:r>
          </a:p>
        </p:txBody>
      </p:sp>
      <p:sp>
        <p:nvSpPr>
          <p:cNvPr id="9" name="Rectangle 8"/>
          <p:cNvSpPr/>
          <p:nvPr/>
        </p:nvSpPr>
        <p:spPr>
          <a:xfrm>
            <a:off x="2514600" y="2130552"/>
            <a:ext cx="1093257" cy="365760"/>
          </a:xfrm>
          <a:prstGeom prst="rect">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0" name="TextBox 9"/>
          <p:cNvSpPr txBox="1"/>
          <p:nvPr/>
        </p:nvSpPr>
        <p:spPr>
          <a:xfrm>
            <a:off x="3681009" y="2103120"/>
            <a:ext cx="731520" cy="420624"/>
          </a:xfrm>
          <a:prstGeom prst="rect">
            <a:avLst/>
          </a:prstGeom>
          <a:noFill/>
        </p:spPr>
        <p:txBody>
          <a:bodyPr wrap="square" lIns="0" rIns="0" tIns="0" bIns="0" anchor="ctr">
            <a:noAutofit/>
          </a:bodyPr>
          <a:lstStyle/>
          <a:p>
            <a:pPr algn="l">
              <a:spcAft>
                <a:spcPts val="400"/>
              </a:spcAft>
            </a:pPr>
            <a:r>
              <a:rPr sz="1500" b="0" i="0">
                <a:solidFill>
                  <a:srgbClr val="6E757E"/>
                </a:solidFill>
                <a:latin typeface="Arial"/>
              </a:rPr>
              <a:t>24.4</a:t>
            </a:r>
          </a:p>
        </p:txBody>
      </p:sp>
      <p:sp>
        <p:nvSpPr>
          <p:cNvPr id="11" name="TextBox 10"/>
          <p:cNvSpPr txBox="1"/>
          <p:nvPr/>
        </p:nvSpPr>
        <p:spPr>
          <a:xfrm>
            <a:off x="609905" y="2688336"/>
            <a:ext cx="1783080" cy="420624"/>
          </a:xfrm>
          <a:prstGeom prst="rect">
            <a:avLst/>
          </a:prstGeom>
          <a:noFill/>
        </p:spPr>
        <p:txBody>
          <a:bodyPr wrap="square" lIns="0" rIns="0" tIns="0" bIns="0" anchor="ctr">
            <a:noAutofit/>
          </a:bodyPr>
          <a:lstStyle/>
          <a:p>
            <a:pPr algn="r">
              <a:spcAft>
                <a:spcPts val="400"/>
              </a:spcAft>
            </a:pPr>
            <a:r>
              <a:rPr sz="1500" b="0" i="0">
                <a:solidFill>
                  <a:srgbClr val="4A4A4A"/>
                </a:solidFill>
                <a:latin typeface="Arial"/>
              </a:rPr>
              <a:t>CBP</a:t>
            </a:r>
          </a:p>
        </p:txBody>
      </p:sp>
      <p:sp>
        <p:nvSpPr>
          <p:cNvPr id="12" name="Rectangle 11"/>
          <p:cNvSpPr/>
          <p:nvPr/>
        </p:nvSpPr>
        <p:spPr>
          <a:xfrm>
            <a:off x="2514600" y="2715768"/>
            <a:ext cx="3033339" cy="365760"/>
          </a:xfrm>
          <a:prstGeom prst="rect">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TextBox 12"/>
          <p:cNvSpPr txBox="1"/>
          <p:nvPr/>
        </p:nvSpPr>
        <p:spPr>
          <a:xfrm>
            <a:off x="5621091" y="2688336"/>
            <a:ext cx="731520" cy="420624"/>
          </a:xfrm>
          <a:prstGeom prst="rect">
            <a:avLst/>
          </a:prstGeom>
          <a:noFill/>
        </p:spPr>
        <p:txBody>
          <a:bodyPr wrap="square" lIns="0" rIns="0" tIns="0" bIns="0" anchor="ctr">
            <a:noAutofit/>
          </a:bodyPr>
          <a:lstStyle/>
          <a:p>
            <a:pPr algn="l">
              <a:spcAft>
                <a:spcPts val="400"/>
              </a:spcAft>
            </a:pPr>
            <a:r>
              <a:rPr sz="1500" b="0" i="0">
                <a:solidFill>
                  <a:srgbClr val="6E757E"/>
                </a:solidFill>
                <a:latin typeface="Arial"/>
              </a:rPr>
              <a:t>67.7</a:t>
            </a:r>
          </a:p>
        </p:txBody>
      </p:sp>
      <p:sp>
        <p:nvSpPr>
          <p:cNvPr id="14" name="TextBox 13"/>
          <p:cNvSpPr txBox="1"/>
          <p:nvPr/>
        </p:nvSpPr>
        <p:spPr>
          <a:xfrm>
            <a:off x="609905" y="3273552"/>
            <a:ext cx="1783080" cy="420624"/>
          </a:xfrm>
          <a:prstGeom prst="rect">
            <a:avLst/>
          </a:prstGeom>
          <a:noFill/>
        </p:spPr>
        <p:txBody>
          <a:bodyPr wrap="square" lIns="0" rIns="0" tIns="0" bIns="0" anchor="ctr">
            <a:noAutofit/>
          </a:bodyPr>
          <a:lstStyle/>
          <a:p>
            <a:pPr algn="r">
              <a:spcAft>
                <a:spcPts val="400"/>
              </a:spcAft>
            </a:pPr>
            <a:r>
              <a:rPr sz="1500" b="0" i="0">
                <a:solidFill>
                  <a:srgbClr val="4A4A4A"/>
                </a:solidFill>
                <a:latin typeface="Arial"/>
              </a:rPr>
              <a:t>Random ablation</a:t>
            </a:r>
          </a:p>
        </p:txBody>
      </p:sp>
      <p:sp>
        <p:nvSpPr>
          <p:cNvPr id="15" name="Rectangle 14"/>
          <p:cNvSpPr/>
          <p:nvPr/>
        </p:nvSpPr>
        <p:spPr>
          <a:xfrm>
            <a:off x="2514600" y="3300984"/>
            <a:ext cx="1093257" cy="365760"/>
          </a:xfrm>
          <a:prstGeom prst="rect">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6" name="TextBox 15"/>
          <p:cNvSpPr txBox="1"/>
          <p:nvPr/>
        </p:nvSpPr>
        <p:spPr>
          <a:xfrm>
            <a:off x="3681009" y="3273552"/>
            <a:ext cx="731520" cy="420624"/>
          </a:xfrm>
          <a:prstGeom prst="rect">
            <a:avLst/>
          </a:prstGeom>
          <a:noFill/>
        </p:spPr>
        <p:txBody>
          <a:bodyPr wrap="square" lIns="0" rIns="0" tIns="0" bIns="0" anchor="ctr">
            <a:noAutofit/>
          </a:bodyPr>
          <a:lstStyle/>
          <a:p>
            <a:pPr algn="l">
              <a:spcAft>
                <a:spcPts val="400"/>
              </a:spcAft>
            </a:pPr>
            <a:r>
              <a:rPr sz="1500" b="0" i="0">
                <a:solidFill>
                  <a:srgbClr val="6E757E"/>
                </a:solidFill>
                <a:latin typeface="Arial"/>
              </a:rPr>
              <a:t>24.4</a:t>
            </a:r>
          </a:p>
        </p:txBody>
      </p:sp>
      <p:sp>
        <p:nvSpPr>
          <p:cNvPr id="17" name="TextBox 16"/>
          <p:cNvSpPr txBox="1"/>
          <p:nvPr/>
        </p:nvSpPr>
        <p:spPr>
          <a:xfrm>
            <a:off x="609905" y="3858768"/>
            <a:ext cx="1783080" cy="420624"/>
          </a:xfrm>
          <a:prstGeom prst="rect">
            <a:avLst/>
          </a:prstGeom>
          <a:noFill/>
        </p:spPr>
        <p:txBody>
          <a:bodyPr wrap="square" lIns="0" rIns="0" tIns="0" bIns="0" anchor="ctr">
            <a:noAutofit/>
          </a:bodyPr>
          <a:lstStyle/>
          <a:p>
            <a:pPr algn="r">
              <a:spcAft>
                <a:spcPts val="400"/>
              </a:spcAft>
            </a:pPr>
            <a:r>
              <a:rPr sz="1500" b="1" i="0">
                <a:solidFill>
                  <a:srgbClr val="1C6E7E"/>
                </a:solidFill>
                <a:latin typeface="Arial"/>
              </a:rPr>
              <a:t>SHIFT</a:t>
            </a:r>
          </a:p>
        </p:txBody>
      </p:sp>
      <p:sp>
        <p:nvSpPr>
          <p:cNvPr id="18" name="Rectangle 17"/>
          <p:cNvSpPr/>
          <p:nvPr/>
        </p:nvSpPr>
        <p:spPr>
          <a:xfrm>
            <a:off x="2514600" y="3886200"/>
            <a:ext cx="3405226" cy="365760"/>
          </a:xfrm>
          <a:prstGeom prst="rect">
            <a:avLst/>
          </a:prstGeom>
          <a:solidFill>
            <a:srgbClr val="3E93A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9" name="TextBox 18"/>
          <p:cNvSpPr txBox="1"/>
          <p:nvPr/>
        </p:nvSpPr>
        <p:spPr>
          <a:xfrm>
            <a:off x="5992978" y="3858768"/>
            <a:ext cx="731520" cy="420624"/>
          </a:xfrm>
          <a:prstGeom prst="rect">
            <a:avLst/>
          </a:prstGeom>
          <a:noFill/>
        </p:spPr>
        <p:txBody>
          <a:bodyPr wrap="square" lIns="0" rIns="0" tIns="0" bIns="0" anchor="ctr">
            <a:noAutofit/>
          </a:bodyPr>
          <a:lstStyle/>
          <a:p>
            <a:pPr algn="l">
              <a:spcAft>
                <a:spcPts val="400"/>
              </a:spcAft>
            </a:pPr>
            <a:r>
              <a:rPr sz="1500" b="1" i="0">
                <a:solidFill>
                  <a:srgbClr val="1C6E7E"/>
                </a:solidFill>
                <a:latin typeface="Arial"/>
              </a:rPr>
              <a:t>76.0</a:t>
            </a:r>
          </a:p>
        </p:txBody>
      </p:sp>
      <p:sp>
        <p:nvSpPr>
          <p:cNvPr id="20" name="TextBox 19"/>
          <p:cNvSpPr txBox="1"/>
          <p:nvPr/>
        </p:nvSpPr>
        <p:spPr>
          <a:xfrm>
            <a:off x="609905" y="4443984"/>
            <a:ext cx="1783080" cy="420624"/>
          </a:xfrm>
          <a:prstGeom prst="rect">
            <a:avLst/>
          </a:prstGeom>
          <a:noFill/>
        </p:spPr>
        <p:txBody>
          <a:bodyPr wrap="square" lIns="0" rIns="0" tIns="0" bIns="0" anchor="ctr">
            <a:noAutofit/>
          </a:bodyPr>
          <a:lstStyle/>
          <a:p>
            <a:pPr algn="r">
              <a:spcAft>
                <a:spcPts val="400"/>
              </a:spcAft>
            </a:pPr>
            <a:r>
              <a:rPr sz="1500" b="1" i="0">
                <a:solidFill>
                  <a:srgbClr val="1C6E7E"/>
                </a:solidFill>
                <a:latin typeface="Arial"/>
              </a:rPr>
              <a:t>SHIFT + retrain</a:t>
            </a:r>
          </a:p>
        </p:txBody>
      </p:sp>
      <p:sp>
        <p:nvSpPr>
          <p:cNvPr id="21" name="Rectangle 20"/>
          <p:cNvSpPr/>
          <p:nvPr/>
        </p:nvSpPr>
        <p:spPr>
          <a:xfrm>
            <a:off x="2514600" y="4471416"/>
            <a:ext cx="3987698" cy="365760"/>
          </a:xfrm>
          <a:prstGeom prst="rect">
            <a:avLst/>
          </a:prstGeom>
          <a:solidFill>
            <a:srgbClr val="1C6E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2" name="TextBox 21"/>
          <p:cNvSpPr txBox="1"/>
          <p:nvPr/>
        </p:nvSpPr>
        <p:spPr>
          <a:xfrm>
            <a:off x="6575450" y="4443984"/>
            <a:ext cx="731520" cy="420624"/>
          </a:xfrm>
          <a:prstGeom prst="rect">
            <a:avLst/>
          </a:prstGeom>
          <a:noFill/>
        </p:spPr>
        <p:txBody>
          <a:bodyPr wrap="square" lIns="0" rIns="0" tIns="0" bIns="0" anchor="ctr">
            <a:noAutofit/>
          </a:bodyPr>
          <a:lstStyle/>
          <a:p>
            <a:pPr algn="l">
              <a:spcAft>
                <a:spcPts val="400"/>
              </a:spcAft>
            </a:pPr>
            <a:r>
              <a:rPr sz="1500" b="1" i="0">
                <a:solidFill>
                  <a:srgbClr val="1C6E7E"/>
                </a:solidFill>
                <a:latin typeface="Arial"/>
              </a:rPr>
              <a:t>89.0</a:t>
            </a:r>
          </a:p>
        </p:txBody>
      </p:sp>
      <p:sp>
        <p:nvSpPr>
          <p:cNvPr id="23" name="TextBox 22"/>
          <p:cNvSpPr txBox="1"/>
          <p:nvPr/>
        </p:nvSpPr>
        <p:spPr>
          <a:xfrm>
            <a:off x="609905" y="5029200"/>
            <a:ext cx="1783080" cy="420624"/>
          </a:xfrm>
          <a:prstGeom prst="rect">
            <a:avLst/>
          </a:prstGeom>
          <a:noFill/>
        </p:spPr>
        <p:txBody>
          <a:bodyPr wrap="square" lIns="0" rIns="0" tIns="0" bIns="0" anchor="ctr">
            <a:noAutofit/>
          </a:bodyPr>
          <a:lstStyle/>
          <a:p>
            <a:pPr algn="r">
              <a:spcAft>
                <a:spcPts val="400"/>
              </a:spcAft>
            </a:pPr>
            <a:r>
              <a:rPr sz="1500" b="0" i="0">
                <a:solidFill>
                  <a:srgbClr val="4A4A4A"/>
                </a:solidFill>
                <a:latin typeface="Arial"/>
              </a:rPr>
              <a:t>Neuron skyline</a:t>
            </a:r>
          </a:p>
        </p:txBody>
      </p:sp>
      <p:sp>
        <p:nvSpPr>
          <p:cNvPr id="24" name="Rectangle 23"/>
          <p:cNvSpPr/>
          <p:nvPr/>
        </p:nvSpPr>
        <p:spPr>
          <a:xfrm>
            <a:off x="2514600" y="5056632"/>
            <a:ext cx="1859432" cy="365760"/>
          </a:xfrm>
          <a:prstGeom prst="rect">
            <a:avLst/>
          </a:prstGeom>
          <a:solidFill>
            <a:srgbClr val="C9D6D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5" name="TextBox 24"/>
          <p:cNvSpPr txBox="1"/>
          <p:nvPr/>
        </p:nvSpPr>
        <p:spPr>
          <a:xfrm>
            <a:off x="4447184" y="5029200"/>
            <a:ext cx="731520" cy="420624"/>
          </a:xfrm>
          <a:prstGeom prst="rect">
            <a:avLst/>
          </a:prstGeom>
          <a:noFill/>
        </p:spPr>
        <p:txBody>
          <a:bodyPr wrap="square" lIns="0" rIns="0" tIns="0" bIns="0" anchor="ctr">
            <a:noAutofit/>
          </a:bodyPr>
          <a:lstStyle/>
          <a:p>
            <a:pPr algn="l">
              <a:spcAft>
                <a:spcPts val="400"/>
              </a:spcAft>
            </a:pPr>
            <a:r>
              <a:rPr sz="1500" b="0" i="0">
                <a:solidFill>
                  <a:srgbClr val="6E757E"/>
                </a:solidFill>
                <a:latin typeface="Arial"/>
              </a:rPr>
              <a:t>41.5</a:t>
            </a:r>
          </a:p>
        </p:txBody>
      </p:sp>
      <p:sp>
        <p:nvSpPr>
          <p:cNvPr id="26" name="TextBox 25"/>
          <p:cNvSpPr txBox="1"/>
          <p:nvPr/>
        </p:nvSpPr>
        <p:spPr>
          <a:xfrm>
            <a:off x="609905" y="5614416"/>
            <a:ext cx="1783080" cy="420624"/>
          </a:xfrm>
          <a:prstGeom prst="rect">
            <a:avLst/>
          </a:prstGeom>
          <a:noFill/>
        </p:spPr>
        <p:txBody>
          <a:bodyPr wrap="square" lIns="0" rIns="0" tIns="0" bIns="0" anchor="ctr">
            <a:noAutofit/>
          </a:bodyPr>
          <a:lstStyle/>
          <a:p>
            <a:pPr algn="r">
              <a:spcAft>
                <a:spcPts val="400"/>
              </a:spcAft>
            </a:pPr>
            <a:r>
              <a:rPr sz="1500" b="0" i="0">
                <a:solidFill>
                  <a:srgbClr val="4A4A4A"/>
                </a:solidFill>
                <a:latin typeface="Arial"/>
              </a:rPr>
              <a:t>Oracle</a:t>
            </a:r>
          </a:p>
        </p:txBody>
      </p:sp>
      <p:sp>
        <p:nvSpPr>
          <p:cNvPr id="27" name="Rectangle 26"/>
          <p:cNvSpPr/>
          <p:nvPr/>
        </p:nvSpPr>
        <p:spPr>
          <a:xfrm>
            <a:off x="2514600" y="5641848"/>
            <a:ext cx="4117635" cy="365760"/>
          </a:xfrm>
          <a:prstGeom prst="rect">
            <a:avLst/>
          </a:prstGeom>
          <a:solidFill>
            <a:srgbClr val="6E757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8" name="TextBox 27"/>
          <p:cNvSpPr txBox="1"/>
          <p:nvPr/>
        </p:nvSpPr>
        <p:spPr>
          <a:xfrm>
            <a:off x="6705387" y="5614416"/>
            <a:ext cx="731520" cy="420624"/>
          </a:xfrm>
          <a:prstGeom prst="rect">
            <a:avLst/>
          </a:prstGeom>
          <a:noFill/>
        </p:spPr>
        <p:txBody>
          <a:bodyPr wrap="square" lIns="0" rIns="0" tIns="0" bIns="0" anchor="ctr">
            <a:noAutofit/>
          </a:bodyPr>
          <a:lstStyle/>
          <a:p>
            <a:pPr algn="l">
              <a:spcAft>
                <a:spcPts val="400"/>
              </a:spcAft>
            </a:pPr>
            <a:r>
              <a:rPr sz="1500" b="0" i="0">
                <a:solidFill>
                  <a:srgbClr val="6E757E"/>
                </a:solidFill>
                <a:latin typeface="Arial"/>
              </a:rPr>
              <a:t>91.9</a:t>
            </a:r>
          </a:p>
        </p:txBody>
      </p:sp>
      <p:sp>
        <p:nvSpPr>
          <p:cNvPr id="29" name="Rounded Rectangle 28"/>
          <p:cNvSpPr/>
          <p:nvPr/>
        </p:nvSpPr>
        <p:spPr>
          <a:xfrm>
            <a:off x="7909560" y="1691640"/>
            <a:ext cx="3630168" cy="109728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0" name="TextBox 29"/>
          <p:cNvSpPr txBox="1"/>
          <p:nvPr/>
        </p:nvSpPr>
        <p:spPr>
          <a:xfrm>
            <a:off x="8092440" y="1783080"/>
            <a:ext cx="3291840" cy="274320"/>
          </a:xfrm>
          <a:prstGeom prst="rect">
            <a:avLst/>
          </a:prstGeom>
          <a:noFill/>
        </p:spPr>
        <p:txBody>
          <a:bodyPr wrap="square" lIns="0" rIns="0" tIns="0" bIns="0" anchor="t">
            <a:noAutofit/>
          </a:bodyPr>
          <a:lstStyle/>
          <a:p>
            <a:pPr algn="l">
              <a:spcAft>
                <a:spcPts val="400"/>
              </a:spcAft>
            </a:pPr>
            <a:r>
              <a:rPr sz="1300" b="1" i="0">
                <a:solidFill>
                  <a:srgbClr val="6E757E"/>
                </a:solidFill>
                <a:latin typeface="Arial"/>
              </a:rPr>
              <a:t>Gender ↓, Pythia </a:t>
            </a:r>
            <a:r>
              <a:rPr sz="1300" b="1" i="0">
                <a:solidFill>
                  <a:srgbClr val="6E757E"/>
                </a:solidFill>
                <a:latin typeface="Arial"/>
              </a:rPr>
              <a:t>(oracle 49.4)</a:t>
            </a:r>
          </a:p>
        </p:txBody>
      </p:sp>
      <p:sp>
        <p:nvSpPr>
          <p:cNvPr id="31" name="TextBox 30"/>
          <p:cNvSpPr txBox="1"/>
          <p:nvPr/>
        </p:nvSpPr>
        <p:spPr>
          <a:xfrm>
            <a:off x="8092440" y="2075688"/>
            <a:ext cx="3291840" cy="594360"/>
          </a:xfrm>
          <a:prstGeom prst="rect">
            <a:avLst/>
          </a:prstGeom>
          <a:noFill/>
        </p:spPr>
        <p:txBody>
          <a:bodyPr wrap="square" lIns="0" rIns="0" tIns="0" bIns="0" anchor="ctr">
            <a:noAutofit/>
          </a:bodyPr>
          <a:lstStyle/>
          <a:p>
            <a:pPr algn="l">
              <a:spcAft>
                <a:spcPts val="400"/>
              </a:spcAft>
            </a:pPr>
            <a:r>
              <a:rPr sz="2800" b="1" i="0">
                <a:solidFill>
                  <a:srgbClr val="6E757E"/>
                </a:solidFill>
                <a:latin typeface="Arial"/>
              </a:rPr>
              <a:t>87.4 → </a:t>
            </a:r>
            <a:r>
              <a:rPr sz="2800" b="1" i="0">
                <a:solidFill>
                  <a:srgbClr val="1C6E7E"/>
                </a:solidFill>
                <a:latin typeface="Arial"/>
              </a:rPr>
              <a:t>52.0</a:t>
            </a:r>
          </a:p>
        </p:txBody>
      </p:sp>
      <p:sp>
        <p:nvSpPr>
          <p:cNvPr id="32" name="Rounded Rectangle 31"/>
          <p:cNvSpPr/>
          <p:nvPr/>
        </p:nvSpPr>
        <p:spPr>
          <a:xfrm>
            <a:off x="7909560" y="2926080"/>
            <a:ext cx="3630168" cy="109728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3" name="TextBox 32"/>
          <p:cNvSpPr txBox="1"/>
          <p:nvPr/>
        </p:nvSpPr>
        <p:spPr>
          <a:xfrm>
            <a:off x="8092440" y="3017520"/>
            <a:ext cx="3291840" cy="274320"/>
          </a:xfrm>
          <a:prstGeom prst="rect">
            <a:avLst/>
          </a:prstGeom>
          <a:noFill/>
        </p:spPr>
        <p:txBody>
          <a:bodyPr wrap="square" lIns="0" rIns="0" tIns="0" bIns="0" anchor="t">
            <a:noAutofit/>
          </a:bodyPr>
          <a:lstStyle/>
          <a:p>
            <a:pPr algn="l">
              <a:spcAft>
                <a:spcPts val="400"/>
              </a:spcAft>
            </a:pPr>
            <a:r>
              <a:rPr sz="1300" b="1" i="0">
                <a:solidFill>
                  <a:srgbClr val="6E757E"/>
                </a:solidFill>
                <a:latin typeface="Arial"/>
              </a:rPr>
              <a:t>Profession ↑, Pythia </a:t>
            </a:r>
            <a:r>
              <a:rPr sz="1300" b="1" i="0">
                <a:solidFill>
                  <a:srgbClr val="6E757E"/>
                </a:solidFill>
                <a:latin typeface="Arial"/>
              </a:rPr>
              <a:t>(oracle 93.0)</a:t>
            </a:r>
          </a:p>
        </p:txBody>
      </p:sp>
      <p:sp>
        <p:nvSpPr>
          <p:cNvPr id="34" name="TextBox 33"/>
          <p:cNvSpPr txBox="1"/>
          <p:nvPr/>
        </p:nvSpPr>
        <p:spPr>
          <a:xfrm>
            <a:off x="8092440" y="3310128"/>
            <a:ext cx="3291840" cy="594360"/>
          </a:xfrm>
          <a:prstGeom prst="rect">
            <a:avLst/>
          </a:prstGeom>
          <a:noFill/>
        </p:spPr>
        <p:txBody>
          <a:bodyPr wrap="square" lIns="0" rIns="0" tIns="0" bIns="0" anchor="ctr">
            <a:noAutofit/>
          </a:bodyPr>
          <a:lstStyle/>
          <a:p>
            <a:pPr algn="l">
              <a:spcAft>
                <a:spcPts val="400"/>
              </a:spcAft>
            </a:pPr>
            <a:r>
              <a:rPr sz="2800" b="1" i="0">
                <a:solidFill>
                  <a:srgbClr val="6E757E"/>
                </a:solidFill>
                <a:latin typeface="Arial"/>
              </a:rPr>
              <a:t>61.9 → </a:t>
            </a:r>
            <a:r>
              <a:rPr sz="2800" b="1" i="0">
                <a:solidFill>
                  <a:srgbClr val="1C6E7E"/>
                </a:solidFill>
                <a:latin typeface="Arial"/>
              </a:rPr>
              <a:t>93.1</a:t>
            </a:r>
          </a:p>
        </p:txBody>
      </p:sp>
      <p:sp>
        <p:nvSpPr>
          <p:cNvPr id="35" name="TextBox 34"/>
          <p:cNvSpPr txBox="1"/>
          <p:nvPr/>
        </p:nvSpPr>
        <p:spPr>
          <a:xfrm>
            <a:off x="7909560" y="4251960"/>
            <a:ext cx="3630168" cy="274320"/>
          </a:xfrm>
          <a:prstGeom prst="rect">
            <a:avLst/>
          </a:prstGeom>
          <a:noFill/>
        </p:spPr>
        <p:txBody>
          <a:bodyPr wrap="square" lIns="0" rIns="0" tIns="0" bIns="0" anchor="t">
            <a:noAutofit/>
          </a:bodyPr>
          <a:lstStyle/>
          <a:p>
            <a:pPr algn="l">
              <a:spcAft>
                <a:spcPts val="400"/>
              </a:spcAft>
            </a:pPr>
            <a:r>
              <a:rPr sz="1300" b="1" i="0">
                <a:solidFill>
                  <a:srgbClr val="6E757E"/>
                </a:solidFill>
                <a:latin typeface="Arial"/>
              </a:rPr>
              <a:t>Gemma-2-2B</a:t>
            </a:r>
          </a:p>
        </p:txBody>
      </p:sp>
      <p:sp>
        <p:nvSpPr>
          <p:cNvPr id="36" name="TextBox 35"/>
          <p:cNvSpPr txBox="1"/>
          <p:nvPr/>
        </p:nvSpPr>
        <p:spPr>
          <a:xfrm>
            <a:off x="7909560" y="4526280"/>
            <a:ext cx="1143000" cy="411480"/>
          </a:xfrm>
          <a:prstGeom prst="rect">
            <a:avLst/>
          </a:prstGeom>
          <a:noFill/>
        </p:spPr>
        <p:txBody>
          <a:bodyPr wrap="square" lIns="0" rIns="0" tIns="0" bIns="0" anchor="b">
            <a:noAutofit/>
          </a:bodyPr>
          <a:lstStyle/>
          <a:p>
            <a:pPr algn="l">
              <a:spcAft>
                <a:spcPts val="400"/>
              </a:spcAft>
            </a:pPr>
          </a:p>
        </p:txBody>
      </p:sp>
      <p:sp>
        <p:nvSpPr>
          <p:cNvPr id="37" name="TextBox 36"/>
          <p:cNvSpPr txBox="1"/>
          <p:nvPr/>
        </p:nvSpPr>
        <p:spPr>
          <a:xfrm>
            <a:off x="9144000" y="4526280"/>
            <a:ext cx="1097280" cy="411480"/>
          </a:xfrm>
          <a:prstGeom prst="rect">
            <a:avLst/>
          </a:prstGeom>
          <a:noFill/>
        </p:spPr>
        <p:txBody>
          <a:bodyPr wrap="square" lIns="0" rIns="0" tIns="0" bIns="0" anchor="b">
            <a:noAutofit/>
          </a:bodyPr>
          <a:lstStyle/>
          <a:p>
            <a:pPr algn="r">
              <a:spcAft>
                <a:spcPts val="400"/>
              </a:spcAft>
            </a:pPr>
            <a:r>
              <a:rPr sz="1100" b="0" i="0">
                <a:solidFill>
                  <a:srgbClr val="6E757E"/>
                </a:solidFill>
                <a:latin typeface="Arial"/>
              </a:rPr>
              <a:t>SHIFT+retrain</a:t>
            </a:r>
          </a:p>
        </p:txBody>
      </p:sp>
      <p:sp>
        <p:nvSpPr>
          <p:cNvPr id="38" name="TextBox 37"/>
          <p:cNvSpPr txBox="1"/>
          <p:nvPr/>
        </p:nvSpPr>
        <p:spPr>
          <a:xfrm>
            <a:off x="10332720" y="4526280"/>
            <a:ext cx="1115568" cy="411480"/>
          </a:xfrm>
          <a:prstGeom prst="rect">
            <a:avLst/>
          </a:prstGeom>
          <a:noFill/>
        </p:spPr>
        <p:txBody>
          <a:bodyPr wrap="square" lIns="0" rIns="0" tIns="0" bIns="0" anchor="b">
            <a:noAutofit/>
          </a:bodyPr>
          <a:lstStyle/>
          <a:p>
            <a:pPr algn="r">
              <a:spcAft>
                <a:spcPts val="400"/>
              </a:spcAft>
            </a:pPr>
            <a:r>
              <a:rPr sz="1100" b="0" i="0">
                <a:solidFill>
                  <a:srgbClr val="6E757E"/>
                </a:solidFill>
                <a:latin typeface="Arial"/>
              </a:rPr>
              <a:t>Oracle</a:t>
            </a:r>
          </a:p>
        </p:txBody>
      </p:sp>
      <p:cxnSp>
        <p:nvCxnSpPr>
          <p:cNvPr id="39" name="Connector 38"/>
          <p:cNvCxnSpPr/>
          <p:nvPr/>
        </p:nvCxnSpPr>
        <p:spPr>
          <a:xfrm>
            <a:off x="7909560" y="4983480"/>
            <a:ext cx="3630168" cy="0"/>
          </a:xfrm>
          <a:prstGeom prst="line">
            <a:avLst/>
          </a:prstGeom>
          <a:ln w="19050">
            <a:solidFill>
              <a:srgbClr val="1C6E7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909560" y="5029200"/>
            <a:ext cx="1143000" cy="411480"/>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Profession</a:t>
            </a:r>
          </a:p>
        </p:txBody>
      </p:sp>
      <p:sp>
        <p:nvSpPr>
          <p:cNvPr id="41" name="TextBox 40"/>
          <p:cNvSpPr txBox="1"/>
          <p:nvPr/>
        </p:nvSpPr>
        <p:spPr>
          <a:xfrm>
            <a:off x="9144000" y="5029200"/>
            <a:ext cx="1097280" cy="411480"/>
          </a:xfrm>
          <a:prstGeom prst="rect">
            <a:avLst/>
          </a:prstGeom>
          <a:noFill/>
        </p:spPr>
        <p:txBody>
          <a:bodyPr wrap="square" lIns="0" rIns="0" tIns="0" bIns="0" anchor="ctr">
            <a:noAutofit/>
          </a:bodyPr>
          <a:lstStyle/>
          <a:p>
            <a:pPr algn="r">
              <a:spcAft>
                <a:spcPts val="400"/>
              </a:spcAft>
            </a:pPr>
            <a:r>
              <a:rPr sz="1400" b="0" i="0">
                <a:solidFill>
                  <a:srgbClr val="4A4A4A"/>
                </a:solidFill>
                <a:latin typeface="Arial"/>
              </a:rPr>
              <a:t>95.0</a:t>
            </a:r>
          </a:p>
        </p:txBody>
      </p:sp>
      <p:sp>
        <p:nvSpPr>
          <p:cNvPr id="42" name="TextBox 41"/>
          <p:cNvSpPr txBox="1"/>
          <p:nvPr/>
        </p:nvSpPr>
        <p:spPr>
          <a:xfrm>
            <a:off x="10332720" y="5029200"/>
            <a:ext cx="1115568" cy="411480"/>
          </a:xfrm>
          <a:prstGeom prst="rect">
            <a:avLst/>
          </a:prstGeom>
          <a:noFill/>
        </p:spPr>
        <p:txBody>
          <a:bodyPr wrap="square" lIns="0" rIns="0" tIns="0" bIns="0" anchor="ctr">
            <a:noAutofit/>
          </a:bodyPr>
          <a:lstStyle/>
          <a:p>
            <a:pPr algn="r">
              <a:spcAft>
                <a:spcPts val="400"/>
              </a:spcAft>
            </a:pPr>
            <a:r>
              <a:rPr sz="1400" b="0" i="0">
                <a:solidFill>
                  <a:srgbClr val="4A4A4A"/>
                </a:solidFill>
                <a:latin typeface="Arial"/>
              </a:rPr>
              <a:t>95.0</a:t>
            </a:r>
          </a:p>
        </p:txBody>
      </p:sp>
      <p:cxnSp>
        <p:nvCxnSpPr>
          <p:cNvPr id="43" name="Connector 42"/>
          <p:cNvCxnSpPr/>
          <p:nvPr/>
        </p:nvCxnSpPr>
        <p:spPr>
          <a:xfrm>
            <a:off x="7909560" y="5440680"/>
            <a:ext cx="3630168"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909560" y="5440680"/>
            <a:ext cx="1143000" cy="411480"/>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Gender</a:t>
            </a:r>
          </a:p>
        </p:txBody>
      </p:sp>
      <p:sp>
        <p:nvSpPr>
          <p:cNvPr id="45" name="TextBox 44"/>
          <p:cNvSpPr txBox="1"/>
          <p:nvPr/>
        </p:nvSpPr>
        <p:spPr>
          <a:xfrm>
            <a:off x="9144000" y="5440680"/>
            <a:ext cx="1097280" cy="411480"/>
          </a:xfrm>
          <a:prstGeom prst="rect">
            <a:avLst/>
          </a:prstGeom>
          <a:noFill/>
        </p:spPr>
        <p:txBody>
          <a:bodyPr wrap="square" lIns="0" rIns="0" tIns="0" bIns="0" anchor="ctr">
            <a:noAutofit/>
          </a:bodyPr>
          <a:lstStyle/>
          <a:p>
            <a:pPr algn="r">
              <a:spcAft>
                <a:spcPts val="400"/>
              </a:spcAft>
            </a:pPr>
            <a:r>
              <a:rPr sz="1400" b="0" i="0">
                <a:solidFill>
                  <a:srgbClr val="4A4A4A"/>
                </a:solidFill>
                <a:latin typeface="Arial"/>
              </a:rPr>
              <a:t>52.4</a:t>
            </a:r>
          </a:p>
        </p:txBody>
      </p:sp>
      <p:sp>
        <p:nvSpPr>
          <p:cNvPr id="46" name="TextBox 45"/>
          <p:cNvSpPr txBox="1"/>
          <p:nvPr/>
        </p:nvSpPr>
        <p:spPr>
          <a:xfrm>
            <a:off x="10332720" y="5440680"/>
            <a:ext cx="1115568" cy="411480"/>
          </a:xfrm>
          <a:prstGeom prst="rect">
            <a:avLst/>
          </a:prstGeom>
          <a:noFill/>
        </p:spPr>
        <p:txBody>
          <a:bodyPr wrap="square" lIns="0" rIns="0" tIns="0" bIns="0" anchor="ctr">
            <a:noAutofit/>
          </a:bodyPr>
          <a:lstStyle/>
          <a:p>
            <a:pPr algn="r">
              <a:spcAft>
                <a:spcPts val="400"/>
              </a:spcAft>
            </a:pPr>
            <a:r>
              <a:rPr sz="1400" b="0" i="0">
                <a:solidFill>
                  <a:srgbClr val="4A4A4A"/>
                </a:solidFill>
                <a:latin typeface="Arial"/>
              </a:rPr>
              <a:t>50.6</a:t>
            </a:r>
          </a:p>
        </p:txBody>
      </p:sp>
      <p:cxnSp>
        <p:nvCxnSpPr>
          <p:cNvPr id="47" name="Connector 46"/>
          <p:cNvCxnSpPr/>
          <p:nvPr/>
        </p:nvCxnSpPr>
        <p:spPr>
          <a:xfrm>
            <a:off x="7909560" y="5852160"/>
            <a:ext cx="3630168"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909560" y="5852160"/>
            <a:ext cx="1143000" cy="411480"/>
          </a:xfrm>
          <a:prstGeom prst="rect">
            <a:avLst/>
          </a:prstGeom>
          <a:noFill/>
        </p:spPr>
        <p:txBody>
          <a:bodyPr wrap="square" lIns="0" rIns="0" tIns="0" bIns="0" anchor="ctr">
            <a:noAutofit/>
          </a:bodyPr>
          <a:lstStyle/>
          <a:p>
            <a:pPr algn="l">
              <a:spcAft>
                <a:spcPts val="400"/>
              </a:spcAft>
            </a:pPr>
            <a:r>
              <a:rPr sz="1400" b="0" i="0">
                <a:solidFill>
                  <a:srgbClr val="4A4A4A"/>
                </a:solidFill>
                <a:latin typeface="Arial"/>
              </a:rPr>
              <a:t>Worst group</a:t>
            </a:r>
          </a:p>
        </p:txBody>
      </p:sp>
      <p:sp>
        <p:nvSpPr>
          <p:cNvPr id="49" name="TextBox 48"/>
          <p:cNvSpPr txBox="1"/>
          <p:nvPr/>
        </p:nvSpPr>
        <p:spPr>
          <a:xfrm>
            <a:off x="9144000" y="5852160"/>
            <a:ext cx="1097280" cy="411480"/>
          </a:xfrm>
          <a:prstGeom prst="rect">
            <a:avLst/>
          </a:prstGeom>
          <a:noFill/>
        </p:spPr>
        <p:txBody>
          <a:bodyPr wrap="square" lIns="0" rIns="0" tIns="0" bIns="0" anchor="ctr">
            <a:noAutofit/>
          </a:bodyPr>
          <a:lstStyle/>
          <a:p>
            <a:pPr algn="r">
              <a:spcAft>
                <a:spcPts val="400"/>
              </a:spcAft>
            </a:pPr>
            <a:r>
              <a:rPr sz="1400" b="0" i="0">
                <a:solidFill>
                  <a:srgbClr val="4A4A4A"/>
                </a:solidFill>
                <a:latin typeface="Arial"/>
              </a:rPr>
              <a:t>92.9</a:t>
            </a:r>
          </a:p>
        </p:txBody>
      </p:sp>
      <p:sp>
        <p:nvSpPr>
          <p:cNvPr id="50" name="TextBox 49"/>
          <p:cNvSpPr txBox="1"/>
          <p:nvPr/>
        </p:nvSpPr>
        <p:spPr>
          <a:xfrm>
            <a:off x="10332720" y="5852160"/>
            <a:ext cx="1115568" cy="411480"/>
          </a:xfrm>
          <a:prstGeom prst="rect">
            <a:avLst/>
          </a:prstGeom>
          <a:noFill/>
        </p:spPr>
        <p:txBody>
          <a:bodyPr wrap="square" lIns="0" rIns="0" tIns="0" bIns="0" anchor="ctr">
            <a:noAutofit/>
          </a:bodyPr>
          <a:lstStyle/>
          <a:p>
            <a:pPr algn="r">
              <a:spcAft>
                <a:spcPts val="400"/>
              </a:spcAft>
            </a:pPr>
            <a:r>
              <a:rPr sz="1400" b="0" i="0">
                <a:solidFill>
                  <a:srgbClr val="4A4A4A"/>
                </a:solidFill>
                <a:latin typeface="Arial"/>
              </a:rPr>
              <a:t>93.1</a:t>
            </a:r>
          </a:p>
        </p:txBody>
      </p:sp>
      <p:cxnSp>
        <p:nvCxnSpPr>
          <p:cNvPr id="51" name="Connector 50"/>
          <p:cNvCxnSpPr/>
          <p:nvPr/>
        </p:nvCxnSpPr>
        <p:spPr>
          <a:xfrm>
            <a:off x="7909560" y="6263640"/>
            <a:ext cx="3630168"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4. Ứng dụng</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Unsupervised circuit discovery</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16</a:t>
            </a:r>
          </a:p>
        </p:txBody>
      </p:sp>
      <p:sp>
        <p:nvSpPr>
          <p:cNvPr id="7" name="Rounded Rectangle 6"/>
          <p:cNvSpPr/>
          <p:nvPr/>
        </p:nvSpPr>
        <p:spPr>
          <a:xfrm>
            <a:off x="609905" y="1691640"/>
            <a:ext cx="1965960" cy="868680"/>
          </a:xfrm>
          <a:prstGeom prst="roundRect">
            <a:avLst>
              <a:gd name="adj" fmla="val 12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300" b="1" i="0">
                <a:solidFill>
                  <a:srgbClr val="4A4A4A"/>
                </a:solidFill>
                <a:latin typeface="Arial"/>
              </a:rPr>
              <a:t>The Pile</a:t>
            </a:r>
          </a:p>
        </p:txBody>
      </p:sp>
      <p:cxnSp>
        <p:nvCxnSpPr>
          <p:cNvPr id="8" name="Connector 7"/>
          <p:cNvCxnSpPr/>
          <p:nvPr/>
        </p:nvCxnSpPr>
        <p:spPr>
          <a:xfrm>
            <a:off x="2603297" y="2121408"/>
            <a:ext cx="228600"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59329" y="1691640"/>
            <a:ext cx="1965960" cy="868680"/>
          </a:xfrm>
          <a:prstGeom prst="roundRect">
            <a:avLst>
              <a:gd name="adj" fmla="val 12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300" b="0" i="0">
                <a:solidFill>
                  <a:srgbClr val="4A4A4A"/>
                </a:solidFill>
                <a:latin typeface="Arial"/>
              </a:rPr>
              <a:t>Mẫu (context, token tiếp theo)</a:t>
            </a:r>
          </a:p>
        </p:txBody>
      </p:sp>
      <p:cxnSp>
        <p:nvCxnSpPr>
          <p:cNvPr id="10" name="Connector 9"/>
          <p:cNvCxnSpPr/>
          <p:nvPr/>
        </p:nvCxnSpPr>
        <p:spPr>
          <a:xfrm>
            <a:off x="4852721" y="2121408"/>
            <a:ext cx="228600"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08753" y="1691640"/>
            <a:ext cx="1965960" cy="868680"/>
          </a:xfrm>
          <a:prstGeom prst="roundRect">
            <a:avLst>
              <a:gd name="adj" fmla="val 12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300" b="0" i="0">
                <a:solidFill>
                  <a:srgbClr val="4A4A4A"/>
                </a:solidFill>
                <a:latin typeface="Arial"/>
              </a:rPr>
              <a:t>Vector: gradient hoặc SAE activation</a:t>
            </a:r>
          </a:p>
        </p:txBody>
      </p:sp>
      <p:cxnSp>
        <p:nvCxnSpPr>
          <p:cNvPr id="12" name="Connector 11"/>
          <p:cNvCxnSpPr/>
          <p:nvPr/>
        </p:nvCxnSpPr>
        <p:spPr>
          <a:xfrm>
            <a:off x="7102145" y="2121408"/>
            <a:ext cx="228600"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58177" y="1691640"/>
            <a:ext cx="1965960" cy="868680"/>
          </a:xfrm>
          <a:prstGeom prst="roundRect">
            <a:avLst>
              <a:gd name="adj" fmla="val 12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300" b="0" i="0">
                <a:solidFill>
                  <a:srgbClr val="4A4A4A"/>
                </a:solidFill>
                <a:latin typeface="Arial"/>
              </a:rPr>
              <a:t>Clustering (Michaud 2023)</a:t>
            </a:r>
          </a:p>
        </p:txBody>
      </p:sp>
      <p:cxnSp>
        <p:nvCxnSpPr>
          <p:cNvPr id="14" name="Connector 13"/>
          <p:cNvCxnSpPr/>
          <p:nvPr/>
        </p:nvCxnSpPr>
        <p:spPr>
          <a:xfrm>
            <a:off x="9351569" y="2121408"/>
            <a:ext cx="228600" cy="0"/>
          </a:xfrm>
          <a:prstGeom prst="line">
            <a:avLst/>
          </a:prstGeom>
          <a:ln w="19050">
            <a:solidFill>
              <a:srgbClr val="1B24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607601" y="1691640"/>
            <a:ext cx="1965960" cy="868680"/>
          </a:xfrm>
          <a:prstGeom prst="roundRect">
            <a:avLst>
              <a:gd name="adj" fmla="val 12000"/>
            </a:avLst>
          </a:prstGeom>
          <a:solidFill>
            <a:srgbClr val="DC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300" b="1" i="0">
                <a:solidFill>
                  <a:srgbClr val="1C6E7E"/>
                </a:solidFill>
                <a:latin typeface="Arial"/>
              </a:rPr>
              <a:t>Circuit cho mỗi cluster</a:t>
            </a:r>
          </a:p>
        </p:txBody>
      </p:sp>
      <p:pic>
        <p:nvPicPr>
          <p:cNvPr id="16" name="Picture 15" descr="fig5.png"/>
          <p:cNvPicPr>
            <a:picLocks noChangeAspect="1"/>
          </p:cNvPicPr>
          <p:nvPr/>
        </p:nvPicPr>
        <p:blipFill>
          <a:blip r:embed="rId2"/>
          <a:stretch>
            <a:fillRect/>
          </a:stretch>
        </p:blipFill>
        <p:spPr>
          <a:xfrm>
            <a:off x="609905" y="3108960"/>
            <a:ext cx="7863840" cy="2580839"/>
          </a:xfrm>
          <a:prstGeom prst="rect">
            <a:avLst/>
          </a:prstGeom>
        </p:spPr>
      </p:pic>
      <p:sp>
        <p:nvSpPr>
          <p:cNvPr id="17" name="Rounded Rectangle 16"/>
          <p:cNvSpPr/>
          <p:nvPr/>
        </p:nvSpPr>
        <p:spPr>
          <a:xfrm>
            <a:off x="8732520" y="2880360"/>
            <a:ext cx="2807208" cy="155448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TextBox 17"/>
          <p:cNvSpPr txBox="1"/>
          <p:nvPr/>
        </p:nvSpPr>
        <p:spPr>
          <a:xfrm>
            <a:off x="8915400" y="3017520"/>
            <a:ext cx="2468880" cy="365760"/>
          </a:xfrm>
          <a:prstGeom prst="rect">
            <a:avLst/>
          </a:prstGeom>
          <a:noFill/>
        </p:spPr>
        <p:txBody>
          <a:bodyPr wrap="square" lIns="0" rIns="0" tIns="0" bIns="0" anchor="t">
            <a:noAutofit/>
          </a:bodyPr>
          <a:lstStyle/>
          <a:p>
            <a:pPr algn="l">
              <a:spcAft>
                <a:spcPts val="400"/>
              </a:spcAft>
            </a:pPr>
            <a:r>
              <a:rPr sz="1800" b="1" i="0">
                <a:solidFill>
                  <a:srgbClr val="1C6E7E"/>
                </a:solidFill>
                <a:latin typeface="Arial"/>
              </a:rPr>
              <a:t>Cluster 382</a:t>
            </a:r>
          </a:p>
        </p:txBody>
      </p:sp>
      <p:sp>
        <p:nvSpPr>
          <p:cNvPr id="19" name="TextBox 18"/>
          <p:cNvSpPr txBox="1"/>
          <p:nvPr/>
        </p:nvSpPr>
        <p:spPr>
          <a:xfrm>
            <a:off x="8915400" y="3474720"/>
            <a:ext cx="2468880" cy="868680"/>
          </a:xfrm>
          <a:prstGeom prst="rect">
            <a:avLst/>
          </a:prstGeom>
          <a:noFill/>
        </p:spPr>
        <p:txBody>
          <a:bodyPr wrap="square" lIns="0" rIns="0" tIns="0" bIns="0" anchor="t">
            <a:noAutofit/>
          </a:bodyPr>
          <a:lstStyle/>
          <a:p>
            <a:pPr algn="l">
              <a:spcAft>
                <a:spcPts val="400"/>
              </a:spcAft>
            </a:pPr>
            <a:r>
              <a:rPr sz="1500" b="0" i="0">
                <a:solidFill>
                  <a:srgbClr val="4A4A4A"/>
                </a:solidFill>
                <a:latin typeface="Arial"/>
              </a:rPr>
              <a:t>dãy tăng dần: narrow induction + succession</a:t>
            </a:r>
          </a:p>
        </p:txBody>
      </p:sp>
      <p:sp>
        <p:nvSpPr>
          <p:cNvPr id="20" name="Rounded Rectangle 19"/>
          <p:cNvSpPr/>
          <p:nvPr/>
        </p:nvSpPr>
        <p:spPr>
          <a:xfrm>
            <a:off x="8732520" y="4572000"/>
            <a:ext cx="2807208" cy="155448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1" name="TextBox 20"/>
          <p:cNvSpPr txBox="1"/>
          <p:nvPr/>
        </p:nvSpPr>
        <p:spPr>
          <a:xfrm>
            <a:off x="8915400" y="4709160"/>
            <a:ext cx="2468880" cy="365760"/>
          </a:xfrm>
          <a:prstGeom prst="rect">
            <a:avLst/>
          </a:prstGeom>
          <a:noFill/>
        </p:spPr>
        <p:txBody>
          <a:bodyPr wrap="square" lIns="0" rIns="0" tIns="0" bIns="0" anchor="t">
            <a:noAutofit/>
          </a:bodyPr>
          <a:lstStyle/>
          <a:p>
            <a:pPr algn="l">
              <a:spcAft>
                <a:spcPts val="400"/>
              </a:spcAft>
            </a:pPr>
            <a:r>
              <a:rPr sz="1800" b="1" i="0">
                <a:solidFill>
                  <a:srgbClr val="1C6E7E"/>
                </a:solidFill>
                <a:latin typeface="Arial"/>
              </a:rPr>
              <a:t>Cluster 475</a:t>
            </a:r>
          </a:p>
        </p:txBody>
      </p:sp>
      <p:sp>
        <p:nvSpPr>
          <p:cNvPr id="22" name="TextBox 21"/>
          <p:cNvSpPr txBox="1"/>
          <p:nvPr/>
        </p:nvSpPr>
        <p:spPr>
          <a:xfrm>
            <a:off x="8915400" y="5166360"/>
            <a:ext cx="2468880" cy="868680"/>
          </a:xfrm>
          <a:prstGeom prst="rect">
            <a:avLst/>
          </a:prstGeom>
          <a:noFill/>
        </p:spPr>
        <p:txBody>
          <a:bodyPr wrap="square" lIns="0" rIns="0" tIns="0" bIns="0" anchor="t">
            <a:noAutofit/>
          </a:bodyPr>
          <a:lstStyle/>
          <a:p>
            <a:pPr algn="l">
              <a:spcAft>
                <a:spcPts val="400"/>
              </a:spcAft>
            </a:pPr>
            <a:r>
              <a:rPr sz="1500" b="0" i="0">
                <a:solidFill>
                  <a:srgbClr val="4A4A4A"/>
                </a:solidFill>
                <a:latin typeface="Arial"/>
              </a:rPr>
              <a:t>“to” làm infinitive object: hai cơ chế tách biệt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4" name="TextBox 3"/>
          <p:cNvSpPr txBox="1"/>
          <p:nvPr/>
        </p:nvSpPr>
        <p:spPr>
          <a:xfrm>
            <a:off x="609905" y="640080"/>
            <a:ext cx="7315200" cy="274320"/>
          </a:xfrm>
          <a:prstGeom prst="rect">
            <a:avLst/>
          </a:prstGeom>
          <a:noFill/>
        </p:spPr>
        <p:txBody>
          <a:bodyPr wrap="square" lIns="0" rIns="0" tIns="0" bIns="0" anchor="t">
            <a:noAutofit/>
          </a:bodyPr>
          <a:lstStyle/>
          <a:p>
            <a:pPr algn="l">
              <a:spcAft>
                <a:spcPts val="400"/>
              </a:spcAft>
            </a:pPr>
            <a:r>
              <a:rPr sz="1200" b="0" i="0">
                <a:solidFill>
                  <a:srgbClr val="6E757E"/>
                </a:solidFill>
                <a:latin typeface="Arial"/>
              </a:rPr>
              <a:t>Phần 5. Limitations</a:t>
            </a:r>
          </a:p>
        </p:txBody>
      </p:sp>
      <p:sp>
        <p:nvSpPr>
          <p:cNvPr id="5" name="TextBox 4"/>
          <p:cNvSpPr txBox="1"/>
          <p:nvPr/>
        </p:nvSpPr>
        <p:spPr>
          <a:xfrm>
            <a:off x="609905" y="914400"/>
            <a:ext cx="9966960" cy="594360"/>
          </a:xfrm>
          <a:prstGeom prst="rect">
            <a:avLst/>
          </a:prstGeom>
          <a:noFill/>
        </p:spPr>
        <p:txBody>
          <a:bodyPr wrap="square" lIns="0" rIns="0" tIns="0" bIns="0" anchor="t">
            <a:noAutofit/>
          </a:bodyPr>
          <a:lstStyle/>
          <a:p>
            <a:pPr algn="l">
              <a:spcAft>
                <a:spcPts val="400"/>
              </a:spcAft>
            </a:pPr>
            <a:r>
              <a:rPr sz="3200" b="1" i="0">
                <a:solidFill>
                  <a:srgbClr val="4A4A4A"/>
                </a:solidFill>
                <a:latin typeface="Arial"/>
              </a:rPr>
              <a:t>Limitations và hướng sau paper</a:t>
            </a:r>
          </a:p>
        </p:txBody>
      </p:sp>
      <p:sp>
        <p:nvSpPr>
          <p:cNvPr id="6" name="TextBox 5"/>
          <p:cNvSpPr txBox="1"/>
          <p:nvPr/>
        </p:nvSpPr>
        <p:spPr>
          <a:xfrm>
            <a:off x="11109960" y="6419088"/>
            <a:ext cx="502920" cy="274320"/>
          </a:xfrm>
          <a:prstGeom prst="rect">
            <a:avLst/>
          </a:prstGeom>
          <a:noFill/>
        </p:spPr>
        <p:txBody>
          <a:bodyPr wrap="square" lIns="0" rIns="0" tIns="0" bIns="0" anchor="t">
            <a:noAutofit/>
          </a:bodyPr>
          <a:lstStyle/>
          <a:p>
            <a:pPr algn="r">
              <a:spcAft>
                <a:spcPts val="400"/>
              </a:spcAft>
            </a:pPr>
            <a:r>
              <a:rPr sz="1100" b="0" i="0">
                <a:solidFill>
                  <a:srgbClr val="6E757E"/>
                </a:solidFill>
                <a:latin typeface="Arial"/>
              </a:rPr>
              <a:t>17</a:t>
            </a:r>
          </a:p>
        </p:txBody>
      </p:sp>
      <p:sp>
        <p:nvSpPr>
          <p:cNvPr id="7" name="TextBox 6"/>
          <p:cNvSpPr txBox="1"/>
          <p:nvPr/>
        </p:nvSpPr>
        <p:spPr>
          <a:xfrm>
            <a:off x="609905" y="1691640"/>
            <a:ext cx="4572000" cy="320040"/>
          </a:xfrm>
          <a:prstGeom prst="rect">
            <a:avLst/>
          </a:prstGeom>
          <a:noFill/>
        </p:spPr>
        <p:txBody>
          <a:bodyPr wrap="square" lIns="0" rIns="0" tIns="0" bIns="0" anchor="t">
            <a:noAutofit/>
          </a:bodyPr>
          <a:lstStyle/>
          <a:p>
            <a:pPr algn="l">
              <a:spcAft>
                <a:spcPts val="400"/>
              </a:spcAft>
            </a:pPr>
            <a:r>
              <a:rPr sz="1500" b="1" i="0">
                <a:solidFill>
                  <a:srgbClr val="6E757E"/>
                </a:solidFill>
                <a:latin typeface="Arial"/>
              </a:rPr>
              <a:t>Paper tự nêu (Section 8)</a:t>
            </a:r>
          </a:p>
        </p:txBody>
      </p:sp>
      <p:sp>
        <p:nvSpPr>
          <p:cNvPr id="8" name="Rounded Rectangle 7"/>
          <p:cNvSpPr/>
          <p:nvPr/>
        </p:nvSpPr>
        <p:spPr>
          <a:xfrm>
            <a:off x="609905" y="2103120"/>
            <a:ext cx="4572000" cy="91440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9" name="Rounded Rectangle 8"/>
          <p:cNvSpPr/>
          <p:nvPr/>
        </p:nvSpPr>
        <p:spPr>
          <a:xfrm>
            <a:off x="828812" y="2346716"/>
            <a:ext cx="475488" cy="475488"/>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0" name="Rounded Rectangle 9"/>
          <p:cNvSpPr/>
          <p:nvPr/>
        </p:nvSpPr>
        <p:spPr>
          <a:xfrm>
            <a:off x="795528" y="2313432"/>
            <a:ext cx="475488" cy="475488"/>
          </a:xfrm>
          <a:prstGeom prst="roundRect">
            <a:avLst>
              <a:gd name="adj" fmla="val 17000"/>
            </a:avLst>
          </a:prstGeom>
          <a:solidFill>
            <a:srgbClr val="1C6E7E"/>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500" b="1" i="0">
                <a:solidFill>
                  <a:srgbClr val="FFFFFF"/>
                </a:solidFill>
                <a:latin typeface="Arial"/>
              </a:rPr>
              <a:t>01</a:t>
            </a:r>
          </a:p>
        </p:txBody>
      </p:sp>
      <p:sp>
        <p:nvSpPr>
          <p:cNvPr id="11" name="TextBox 10"/>
          <p:cNvSpPr txBox="1"/>
          <p:nvPr/>
        </p:nvSpPr>
        <p:spPr>
          <a:xfrm>
            <a:off x="1463040" y="2103120"/>
            <a:ext cx="3611880" cy="91440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Phụ thuộc SAE, train SAE tốn nhiều compute (chỉ một lần)</a:t>
            </a:r>
          </a:p>
        </p:txBody>
      </p:sp>
      <p:sp>
        <p:nvSpPr>
          <p:cNvPr id="12" name="Rounded Rectangle 11"/>
          <p:cNvSpPr/>
          <p:nvPr/>
        </p:nvSpPr>
        <p:spPr>
          <a:xfrm>
            <a:off x="609905" y="3127248"/>
            <a:ext cx="4572000" cy="91440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Rounded Rectangle 12"/>
          <p:cNvSpPr/>
          <p:nvPr/>
        </p:nvSpPr>
        <p:spPr>
          <a:xfrm>
            <a:off x="828812" y="3370844"/>
            <a:ext cx="475488" cy="475488"/>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4" name="Rounded Rectangle 13"/>
          <p:cNvSpPr/>
          <p:nvPr/>
        </p:nvSpPr>
        <p:spPr>
          <a:xfrm>
            <a:off x="795528" y="3337560"/>
            <a:ext cx="475488" cy="475488"/>
          </a:xfrm>
          <a:prstGeom prst="roundRect">
            <a:avLst>
              <a:gd name="adj" fmla="val 17000"/>
            </a:avLst>
          </a:prstGeom>
          <a:solidFill>
            <a:srgbClr val="3E93A3"/>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500" b="1" i="0">
                <a:solidFill>
                  <a:srgbClr val="FFFFFF"/>
                </a:solidFill>
                <a:latin typeface="Arial"/>
              </a:rPr>
              <a:t>02</a:t>
            </a:r>
          </a:p>
        </p:txBody>
      </p:sp>
      <p:sp>
        <p:nvSpPr>
          <p:cNvPr id="15" name="TextBox 14"/>
          <p:cNvSpPr txBox="1"/>
          <p:nvPr/>
        </p:nvSpPr>
        <p:spPr>
          <a:xfrm>
            <a:off x="1463040" y="3127248"/>
            <a:ext cx="3611880" cy="91440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Phần SAE không bắt được (ε) vẫn không interpret được</a:t>
            </a:r>
          </a:p>
        </p:txBody>
      </p:sp>
      <p:sp>
        <p:nvSpPr>
          <p:cNvPr id="16" name="Rounded Rectangle 15"/>
          <p:cNvSpPr/>
          <p:nvPr/>
        </p:nvSpPr>
        <p:spPr>
          <a:xfrm>
            <a:off x="609905" y="4151376"/>
            <a:ext cx="4572000" cy="91440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7" name="Rounded Rectangle 16"/>
          <p:cNvSpPr/>
          <p:nvPr/>
        </p:nvSpPr>
        <p:spPr>
          <a:xfrm>
            <a:off x="828812" y="4394972"/>
            <a:ext cx="475488" cy="475488"/>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Rounded Rectangle 17"/>
          <p:cNvSpPr/>
          <p:nvPr/>
        </p:nvSpPr>
        <p:spPr>
          <a:xfrm>
            <a:off x="795528" y="4361688"/>
            <a:ext cx="475488" cy="475488"/>
          </a:xfrm>
          <a:prstGeom prst="roundRect">
            <a:avLst>
              <a:gd name="adj" fmla="val 17000"/>
            </a:avLst>
          </a:prstGeom>
          <a:solidFill>
            <a:srgbClr val="8B5A5F"/>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500" b="1" i="0">
                <a:solidFill>
                  <a:srgbClr val="FFFFFF"/>
                </a:solidFill>
                <a:latin typeface="Arial"/>
              </a:rPr>
              <a:t>03</a:t>
            </a:r>
          </a:p>
        </p:txBody>
      </p:sp>
      <p:sp>
        <p:nvSpPr>
          <p:cNvPr id="19" name="TextBox 18"/>
          <p:cNvSpPr txBox="1"/>
          <p:nvPr/>
        </p:nvSpPr>
        <p:spPr>
          <a:xfrm>
            <a:off x="1463040" y="4151376"/>
            <a:ext cx="3611880" cy="91440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Phần lớn kết quả đánh giá là định tính</a:t>
            </a:r>
          </a:p>
        </p:txBody>
      </p:sp>
      <p:sp>
        <p:nvSpPr>
          <p:cNvPr id="20" name="Rounded Rectangle 19"/>
          <p:cNvSpPr/>
          <p:nvPr/>
        </p:nvSpPr>
        <p:spPr>
          <a:xfrm>
            <a:off x="609905" y="5175504"/>
            <a:ext cx="4572000" cy="914400"/>
          </a:xfrm>
          <a:prstGeom prst="roundRect">
            <a:avLst>
              <a:gd name="adj" fmla="val 10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1" name="Rounded Rectangle 20"/>
          <p:cNvSpPr/>
          <p:nvPr/>
        </p:nvSpPr>
        <p:spPr>
          <a:xfrm>
            <a:off x="828812" y="5419100"/>
            <a:ext cx="475488" cy="475488"/>
          </a:xfrm>
          <a:prstGeom prst="roundRect">
            <a:avLst>
              <a:gd name="adj" fmla="val 17000"/>
            </a:avLst>
          </a:prstGeom>
          <a:no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2" name="Rounded Rectangle 21"/>
          <p:cNvSpPr/>
          <p:nvPr/>
        </p:nvSpPr>
        <p:spPr>
          <a:xfrm>
            <a:off x="795528" y="5385816"/>
            <a:ext cx="475488" cy="475488"/>
          </a:xfrm>
          <a:prstGeom prst="roundRect">
            <a:avLst>
              <a:gd name="adj" fmla="val 17000"/>
            </a:avLst>
          </a:prstGeom>
          <a:solidFill>
            <a:srgbClr val="1C6E7E"/>
          </a:solidFill>
          <a:ln w="1397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noAutofit/>
          </a:bodyPr>
          <a:lstStyle/>
          <a:p>
            <a:pPr algn="ctr"/>
            <a:r>
              <a:rPr sz="1500" b="1" i="0">
                <a:solidFill>
                  <a:srgbClr val="FFFFFF"/>
                </a:solidFill>
                <a:latin typeface="Arial"/>
              </a:rPr>
              <a:t>04</a:t>
            </a:r>
          </a:p>
        </p:txBody>
      </p:sp>
      <p:sp>
        <p:nvSpPr>
          <p:cNvPr id="23" name="TextBox 22"/>
          <p:cNvSpPr txBox="1"/>
          <p:nvPr/>
        </p:nvSpPr>
        <p:spPr>
          <a:xfrm>
            <a:off x="1463040" y="5175504"/>
            <a:ext cx="3611880" cy="914400"/>
          </a:xfrm>
          <a:prstGeom prst="rect">
            <a:avLst/>
          </a:prstGeom>
          <a:noFill/>
        </p:spPr>
        <p:txBody>
          <a:bodyPr wrap="square" lIns="0" rIns="0" tIns="0" bIns="0" anchor="ctr">
            <a:noAutofit/>
          </a:bodyPr>
          <a:lstStyle/>
          <a:p>
            <a:pPr algn="l">
              <a:spcAft>
                <a:spcPts val="400"/>
              </a:spcAft>
            </a:pPr>
            <a:r>
              <a:rPr sz="1500" b="0" i="0">
                <a:solidFill>
                  <a:srgbClr val="4A4A4A"/>
                </a:solidFill>
                <a:latin typeface="Arial"/>
              </a:rPr>
              <a:t>Gán nhãn feature là định tính, mỗi người gán có thể khác nhau</a:t>
            </a:r>
          </a:p>
        </p:txBody>
      </p:sp>
      <p:sp>
        <p:nvSpPr>
          <p:cNvPr id="24" name="TextBox 23"/>
          <p:cNvSpPr txBox="1"/>
          <p:nvPr/>
        </p:nvSpPr>
        <p:spPr>
          <a:xfrm>
            <a:off x="5440680" y="1691640"/>
            <a:ext cx="6035040" cy="320040"/>
          </a:xfrm>
          <a:prstGeom prst="rect">
            <a:avLst/>
          </a:prstGeom>
          <a:noFill/>
        </p:spPr>
        <p:txBody>
          <a:bodyPr wrap="square" lIns="0" rIns="0" tIns="0" bIns="0" anchor="t">
            <a:noAutofit/>
          </a:bodyPr>
          <a:lstStyle/>
          <a:p>
            <a:pPr algn="l">
              <a:spcAft>
                <a:spcPts val="400"/>
              </a:spcAft>
            </a:pPr>
            <a:r>
              <a:rPr sz="1500" b="1" i="0">
                <a:solidFill>
                  <a:srgbClr val="6E757E"/>
                </a:solidFill>
                <a:latin typeface="Arial"/>
              </a:rPr>
              <a:t>Hướng sau paper</a:t>
            </a:r>
          </a:p>
        </p:txBody>
      </p:sp>
      <p:sp>
        <p:nvSpPr>
          <p:cNvPr id="25" name="Rounded Rectangle 24"/>
          <p:cNvSpPr/>
          <p:nvPr/>
        </p:nvSpPr>
        <p:spPr>
          <a:xfrm>
            <a:off x="5440680" y="2057400"/>
            <a:ext cx="6099048" cy="996696"/>
          </a:xfrm>
          <a:prstGeom prst="roundRect">
            <a:avLst>
              <a:gd name="adj" fmla="val 6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6" name="TextBox 25"/>
          <p:cNvSpPr txBox="1"/>
          <p:nvPr/>
        </p:nvSpPr>
        <p:spPr>
          <a:xfrm>
            <a:off x="5623560" y="2093976"/>
            <a:ext cx="5760720" cy="384048"/>
          </a:xfrm>
          <a:prstGeom prst="rect">
            <a:avLst/>
          </a:prstGeom>
          <a:noFill/>
        </p:spPr>
        <p:txBody>
          <a:bodyPr wrap="square" lIns="0" rIns="0" tIns="0" bIns="0" anchor="ctr">
            <a:noAutofit/>
          </a:bodyPr>
          <a:lstStyle/>
          <a:p>
            <a:pPr algn="l">
              <a:spcAft>
                <a:spcPts val="400"/>
              </a:spcAft>
            </a:pPr>
            <a:r>
              <a:rPr sz="1500" b="1" i="0">
                <a:solidFill>
                  <a:srgbClr val="1C6E7E"/>
                </a:solidFill>
                <a:latin typeface="Arial"/>
              </a:rPr>
              <a:t>Tự động hóa SHIFT bằng LLM (metric SCR/TPP)</a:t>
            </a:r>
          </a:p>
        </p:txBody>
      </p:sp>
      <p:sp>
        <p:nvSpPr>
          <p:cNvPr id="27" name="Rounded Rectangle 26"/>
          <p:cNvSpPr/>
          <p:nvPr/>
        </p:nvSpPr>
        <p:spPr>
          <a:xfrm>
            <a:off x="5623560" y="2487168"/>
            <a:ext cx="5733288" cy="457200"/>
          </a:xfrm>
          <a:prstGeom prst="roundRect">
            <a:avLst>
              <a:gd name="adj" fmla="val 20000"/>
            </a:avLst>
          </a:prstGeom>
          <a:solidFill>
            <a:srgbClr val="FFFFFF"/>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8" name="TextBox 27"/>
          <p:cNvSpPr txBox="1"/>
          <p:nvPr/>
        </p:nvSpPr>
        <p:spPr>
          <a:xfrm>
            <a:off x="5760720" y="2487168"/>
            <a:ext cx="5458968" cy="457200"/>
          </a:xfrm>
          <a:prstGeom prst="rect">
            <a:avLst/>
          </a:prstGeom>
          <a:noFill/>
        </p:spPr>
        <p:txBody>
          <a:bodyPr wrap="square" lIns="0" rIns="0" tIns="0" bIns="0" anchor="ctr">
            <a:noAutofit/>
          </a:bodyPr>
          <a:lstStyle/>
          <a:p>
            <a:pPr algn="l">
              <a:spcAft>
                <a:spcPts val="0"/>
              </a:spcAft>
            </a:pPr>
            <a:r>
              <a:rPr sz="1100" b="0" i="1">
                <a:solidFill>
                  <a:srgbClr val="4A4A4A"/>
                </a:solidFill>
                <a:latin typeface="Arial"/>
              </a:rPr>
              <a:t>Evaluating Sparse Autoencoders on Targeted Concept Erasure Tasks</a:t>
            </a:r>
          </a:p>
          <a:p>
            <a:pPr algn="l">
              <a:spcAft>
                <a:spcPts val="0"/>
              </a:spcAft>
            </a:pPr>
            <a:r>
              <a:rPr sz="1000" b="0" i="0">
                <a:solidFill>
                  <a:srgbClr val="1C6E7E"/>
                </a:solidFill>
                <a:latin typeface="Arial"/>
              </a:rPr>
              <a:t>Karvonen et al.  |  NeurIPS 2024 workshop (ATTRIB)</a:t>
            </a:r>
          </a:p>
        </p:txBody>
      </p:sp>
      <p:sp>
        <p:nvSpPr>
          <p:cNvPr id="29" name="Rounded Rectangle 28"/>
          <p:cNvSpPr/>
          <p:nvPr/>
        </p:nvSpPr>
        <p:spPr>
          <a:xfrm>
            <a:off x="5440680" y="3145536"/>
            <a:ext cx="6099048" cy="1508760"/>
          </a:xfrm>
          <a:prstGeom prst="roundRect">
            <a:avLst>
              <a:gd name="adj" fmla="val 6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0" name="TextBox 29"/>
          <p:cNvSpPr txBox="1"/>
          <p:nvPr/>
        </p:nvSpPr>
        <p:spPr>
          <a:xfrm>
            <a:off x="5623560" y="3182112"/>
            <a:ext cx="5760720" cy="384048"/>
          </a:xfrm>
          <a:prstGeom prst="rect">
            <a:avLst/>
          </a:prstGeom>
          <a:noFill/>
        </p:spPr>
        <p:txBody>
          <a:bodyPr wrap="square" lIns="0" rIns="0" tIns="0" bIns="0" anchor="ctr">
            <a:noAutofit/>
          </a:bodyPr>
          <a:lstStyle/>
          <a:p>
            <a:pPr algn="l">
              <a:spcAft>
                <a:spcPts val="400"/>
              </a:spcAft>
            </a:pPr>
            <a:r>
              <a:rPr sz="1500" b="1" i="0">
                <a:solidFill>
                  <a:srgbClr val="1C6E7E"/>
                </a:solidFill>
                <a:latin typeface="Arial"/>
              </a:rPr>
              <a:t>Thay SAE bằng transcoder</a:t>
            </a:r>
          </a:p>
        </p:txBody>
      </p:sp>
      <p:sp>
        <p:nvSpPr>
          <p:cNvPr id="31" name="Rounded Rectangle 30"/>
          <p:cNvSpPr/>
          <p:nvPr/>
        </p:nvSpPr>
        <p:spPr>
          <a:xfrm>
            <a:off x="5623560" y="3575304"/>
            <a:ext cx="5733288" cy="457200"/>
          </a:xfrm>
          <a:prstGeom prst="roundRect">
            <a:avLst>
              <a:gd name="adj" fmla="val 20000"/>
            </a:avLst>
          </a:prstGeom>
          <a:solidFill>
            <a:srgbClr val="FFFFFF"/>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2" name="TextBox 31"/>
          <p:cNvSpPr txBox="1"/>
          <p:nvPr/>
        </p:nvSpPr>
        <p:spPr>
          <a:xfrm>
            <a:off x="5760720" y="3575304"/>
            <a:ext cx="5458968" cy="457200"/>
          </a:xfrm>
          <a:prstGeom prst="rect">
            <a:avLst/>
          </a:prstGeom>
          <a:noFill/>
        </p:spPr>
        <p:txBody>
          <a:bodyPr wrap="square" lIns="0" rIns="0" tIns="0" bIns="0" anchor="ctr">
            <a:noAutofit/>
          </a:bodyPr>
          <a:lstStyle/>
          <a:p>
            <a:pPr algn="l">
              <a:spcAft>
                <a:spcPts val="0"/>
              </a:spcAft>
            </a:pPr>
            <a:r>
              <a:rPr sz="1100" b="0" i="1">
                <a:solidFill>
                  <a:srgbClr val="4A4A4A"/>
                </a:solidFill>
                <a:latin typeface="Arial"/>
              </a:rPr>
              <a:t>Transcoders Find Interpretable LLM Feature Circuits</a:t>
            </a:r>
          </a:p>
          <a:p>
            <a:pPr algn="l">
              <a:spcAft>
                <a:spcPts val="0"/>
              </a:spcAft>
            </a:pPr>
            <a:r>
              <a:rPr sz="1000" b="0" i="0">
                <a:solidFill>
                  <a:srgbClr val="1C6E7E"/>
                </a:solidFill>
                <a:latin typeface="Arial"/>
              </a:rPr>
              <a:t>Dunefsky et al.  |  NeurIPS 2024</a:t>
            </a:r>
          </a:p>
        </p:txBody>
      </p:sp>
      <p:sp>
        <p:nvSpPr>
          <p:cNvPr id="33" name="Rounded Rectangle 32"/>
          <p:cNvSpPr/>
          <p:nvPr/>
        </p:nvSpPr>
        <p:spPr>
          <a:xfrm>
            <a:off x="5623560" y="4087368"/>
            <a:ext cx="5733288" cy="457200"/>
          </a:xfrm>
          <a:prstGeom prst="roundRect">
            <a:avLst>
              <a:gd name="adj" fmla="val 20000"/>
            </a:avLst>
          </a:prstGeom>
          <a:solidFill>
            <a:srgbClr val="FFFFFF"/>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4" name="TextBox 33"/>
          <p:cNvSpPr txBox="1"/>
          <p:nvPr/>
        </p:nvSpPr>
        <p:spPr>
          <a:xfrm>
            <a:off x="5760720" y="4087368"/>
            <a:ext cx="5458968" cy="457200"/>
          </a:xfrm>
          <a:prstGeom prst="rect">
            <a:avLst/>
          </a:prstGeom>
          <a:noFill/>
        </p:spPr>
        <p:txBody>
          <a:bodyPr wrap="square" lIns="0" rIns="0" tIns="0" bIns="0" anchor="ctr">
            <a:noAutofit/>
          </a:bodyPr>
          <a:lstStyle/>
          <a:p>
            <a:pPr algn="l">
              <a:spcAft>
                <a:spcPts val="0"/>
              </a:spcAft>
            </a:pPr>
            <a:r>
              <a:rPr sz="1100" b="0" i="1">
                <a:solidFill>
                  <a:srgbClr val="4A4A4A"/>
                </a:solidFill>
                <a:latin typeface="Arial"/>
              </a:rPr>
              <a:t>Circuit Tracing: Revealing Computational Graphs in Language Models</a:t>
            </a:r>
          </a:p>
          <a:p>
            <a:pPr algn="l">
              <a:spcAft>
                <a:spcPts val="0"/>
              </a:spcAft>
            </a:pPr>
            <a:r>
              <a:rPr sz="1000" b="0" i="0">
                <a:solidFill>
                  <a:srgbClr val="1C6E7E"/>
                </a:solidFill>
                <a:latin typeface="Arial"/>
              </a:rPr>
              <a:t>Ameisen et al. (Anthropic)  |  Transformer Circuits Thread 2025</a:t>
            </a:r>
          </a:p>
        </p:txBody>
      </p:sp>
      <p:sp>
        <p:nvSpPr>
          <p:cNvPr id="35" name="Rounded Rectangle 34"/>
          <p:cNvSpPr/>
          <p:nvPr/>
        </p:nvSpPr>
        <p:spPr>
          <a:xfrm>
            <a:off x="5440680" y="4745736"/>
            <a:ext cx="6099048" cy="1508760"/>
          </a:xfrm>
          <a:prstGeom prst="roundRect">
            <a:avLst>
              <a:gd name="adj" fmla="val 6000"/>
            </a:avLst>
          </a:prstGeom>
          <a:solidFill>
            <a:srgbClr val="F1F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6" name="TextBox 35"/>
          <p:cNvSpPr txBox="1"/>
          <p:nvPr/>
        </p:nvSpPr>
        <p:spPr>
          <a:xfrm>
            <a:off x="5623560" y="4782312"/>
            <a:ext cx="5760720" cy="384048"/>
          </a:xfrm>
          <a:prstGeom prst="rect">
            <a:avLst/>
          </a:prstGeom>
          <a:noFill/>
        </p:spPr>
        <p:txBody>
          <a:bodyPr wrap="square" lIns="0" rIns="0" tIns="0" bIns="0" anchor="ctr">
            <a:noAutofit/>
          </a:bodyPr>
          <a:lstStyle/>
          <a:p>
            <a:pPr algn="l">
              <a:spcAft>
                <a:spcPts val="400"/>
              </a:spcAft>
            </a:pPr>
            <a:r>
              <a:rPr sz="1500" b="1" i="0">
                <a:solidFill>
                  <a:srgbClr val="1C6E7E"/>
                </a:solidFill>
                <a:latin typeface="Arial"/>
              </a:rPr>
              <a:t>Phê bình SAE</a:t>
            </a:r>
          </a:p>
        </p:txBody>
      </p:sp>
      <p:sp>
        <p:nvSpPr>
          <p:cNvPr id="37" name="Rounded Rectangle 36"/>
          <p:cNvSpPr/>
          <p:nvPr/>
        </p:nvSpPr>
        <p:spPr>
          <a:xfrm>
            <a:off x="5623560" y="5175504"/>
            <a:ext cx="5733288" cy="457200"/>
          </a:xfrm>
          <a:prstGeom prst="roundRect">
            <a:avLst>
              <a:gd name="adj" fmla="val 20000"/>
            </a:avLst>
          </a:prstGeom>
          <a:solidFill>
            <a:srgbClr val="FFFFFF"/>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38" name="TextBox 37"/>
          <p:cNvSpPr txBox="1"/>
          <p:nvPr/>
        </p:nvSpPr>
        <p:spPr>
          <a:xfrm>
            <a:off x="5760720" y="5175504"/>
            <a:ext cx="5458968" cy="457200"/>
          </a:xfrm>
          <a:prstGeom prst="rect">
            <a:avLst/>
          </a:prstGeom>
          <a:noFill/>
        </p:spPr>
        <p:txBody>
          <a:bodyPr wrap="square" lIns="0" rIns="0" tIns="0" bIns="0" anchor="ctr">
            <a:noAutofit/>
          </a:bodyPr>
          <a:lstStyle/>
          <a:p>
            <a:pPr algn="l">
              <a:spcAft>
                <a:spcPts val="0"/>
              </a:spcAft>
            </a:pPr>
            <a:r>
              <a:rPr sz="1100" b="0" i="1">
                <a:solidFill>
                  <a:srgbClr val="4A4A4A"/>
                </a:solidFill>
                <a:latin typeface="Arial"/>
              </a:rPr>
              <a:t>A is for Absorption: Studying Feature Splitting and Absorption in SAEs</a:t>
            </a:r>
          </a:p>
          <a:p>
            <a:pPr algn="l">
              <a:spcAft>
                <a:spcPts val="0"/>
              </a:spcAft>
            </a:pPr>
            <a:r>
              <a:rPr sz="1000" b="0" i="0">
                <a:solidFill>
                  <a:srgbClr val="1C6E7E"/>
                </a:solidFill>
                <a:latin typeface="Arial"/>
              </a:rPr>
              <a:t>Chanin et al.  |  NeurIPS 2025 (oral)</a:t>
            </a:r>
          </a:p>
        </p:txBody>
      </p:sp>
      <p:sp>
        <p:nvSpPr>
          <p:cNvPr id="39" name="Rounded Rectangle 38"/>
          <p:cNvSpPr/>
          <p:nvPr/>
        </p:nvSpPr>
        <p:spPr>
          <a:xfrm>
            <a:off x="5623560" y="5687568"/>
            <a:ext cx="5733288" cy="457200"/>
          </a:xfrm>
          <a:prstGeom prst="roundRect">
            <a:avLst>
              <a:gd name="adj" fmla="val 20000"/>
            </a:avLst>
          </a:prstGeom>
          <a:solidFill>
            <a:srgbClr val="FFFFFF"/>
          </a:solidFill>
          <a:ln w="6350">
            <a:solidFill>
              <a:srgbClr val="C9D6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0" name="TextBox 39"/>
          <p:cNvSpPr txBox="1"/>
          <p:nvPr/>
        </p:nvSpPr>
        <p:spPr>
          <a:xfrm>
            <a:off x="5760720" y="5687568"/>
            <a:ext cx="5458968" cy="457200"/>
          </a:xfrm>
          <a:prstGeom prst="rect">
            <a:avLst/>
          </a:prstGeom>
          <a:noFill/>
        </p:spPr>
        <p:txBody>
          <a:bodyPr wrap="square" lIns="0" rIns="0" tIns="0" bIns="0" anchor="ctr">
            <a:noAutofit/>
          </a:bodyPr>
          <a:lstStyle/>
          <a:p>
            <a:pPr algn="l">
              <a:spcAft>
                <a:spcPts val="0"/>
              </a:spcAft>
            </a:pPr>
            <a:r>
              <a:rPr sz="1100" b="0" i="1">
                <a:solidFill>
                  <a:srgbClr val="4A4A4A"/>
                </a:solidFill>
                <a:latin typeface="Arial"/>
              </a:rPr>
              <a:t>Are Sparse Autoencoders Useful? A Case Study in Sparse Probing</a:t>
            </a:r>
          </a:p>
          <a:p>
            <a:pPr algn="l">
              <a:spcAft>
                <a:spcPts val="0"/>
              </a:spcAft>
            </a:pPr>
            <a:r>
              <a:rPr sz="1000" b="0" i="0">
                <a:solidFill>
                  <a:srgbClr val="1C6E7E"/>
                </a:solidFill>
                <a:latin typeface="Arial"/>
              </a:rPr>
              <a:t>Kantamneni et al.  |  ICML 2025</a:t>
            </a:r>
          </a:p>
        </p:txBody>
      </p:sp>
    </p:spTree>
  </p:cSld>
  <p:clrMapOvr>
    <a:masterClrMapping/>
  </p:clrMapOvr>
</p:sld>
</file>

<file path=ppt/theme/theme1.xml><?xml version="1.0" encoding="utf-8"?>
<a:theme xmlns:a="http://schemas.openxmlformats.org/drawingml/2006/main" name="sparse_feature_circuits">
  <a:themeElements>
    <a:clrScheme name="sparse_feature_circuits">
      <a:dk1>
        <a:srgbClr val="4A4A4A"/>
      </a:dk1>
      <a:lt1>
        <a:srgbClr val="FFFFFF"/>
      </a:lt1>
      <a:dk2>
        <a:srgbClr val="1F497D"/>
      </a:dk2>
      <a:lt2>
        <a:srgbClr val="F1F6F7"/>
      </a:lt2>
      <a:accent1>
        <a:srgbClr val="1C6E7E"/>
      </a:accent1>
      <a:accent2>
        <a:srgbClr val="FCD34D"/>
      </a:accent2>
      <a:accent3>
        <a:srgbClr val="3E93A3"/>
      </a:accent3>
      <a:accent4>
        <a:srgbClr val="1C6E7E"/>
      </a:accent4>
      <a:accent5>
        <a:srgbClr val="6E757E"/>
      </a:accent5>
      <a:accent6>
        <a:srgbClr val="E2E6EA"/>
      </a:accent6>
      <a:hlink>
        <a:srgbClr val="FCD34D"/>
      </a:hlink>
      <a:folHlink>
        <a:srgbClr val="3E93A3"/>
      </a:folHlink>
    </a:clrScheme>
    <a:fontScheme name="sparse_feature_circuit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arse_feature_circui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parse_feature_circuits">
  <a:themeElements>
    <a:clrScheme name="sparse_feature_circuits">
      <a:dk1>
        <a:srgbClr val="4A4A4A"/>
      </a:dk1>
      <a:lt1>
        <a:srgbClr val="FFFFFF"/>
      </a:lt1>
      <a:dk2>
        <a:srgbClr val="1F497D"/>
      </a:dk2>
      <a:lt2>
        <a:srgbClr val="F1F6F7"/>
      </a:lt2>
      <a:accent1>
        <a:srgbClr val="1C6E7E"/>
      </a:accent1>
      <a:accent2>
        <a:srgbClr val="FCD34D"/>
      </a:accent2>
      <a:accent3>
        <a:srgbClr val="3E93A3"/>
      </a:accent3>
      <a:accent4>
        <a:srgbClr val="1C6E7E"/>
      </a:accent4>
      <a:accent5>
        <a:srgbClr val="6E757E"/>
      </a:accent5>
      <a:accent6>
        <a:srgbClr val="E2E6EA"/>
      </a:accent6>
      <a:hlink>
        <a:srgbClr val="FCD34D"/>
      </a:hlink>
      <a:folHlink>
        <a:srgbClr val="3E93A3"/>
      </a:folHlink>
    </a:clrScheme>
    <a:fontScheme name="sparse_feature_circuits">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arse_feature_circui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dc:language>
  <cp:lastModifiedBy/>
  <cp:revision>1</cp:revision>
  <dcterms:created xsi:type="dcterms:W3CDTF">2026-09-19T05:06:48Z</dcterms:created>
  <dcterms:modified xsi:type="dcterms:W3CDTF">2026-09-19T05:06:48Z</dcterms:modified>
  <cp:category/>
  <cp:contentStatus/>
</cp:coreProperties>
</file>